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2" r:id="rId1"/>
  </p:sldMasterIdLst>
  <p:notesMasterIdLst>
    <p:notesMasterId r:id="rId26"/>
  </p:notesMasterIdLst>
  <p:handoutMasterIdLst>
    <p:handoutMasterId r:id="rId27"/>
  </p:handoutMasterIdLst>
  <p:sldIdLst>
    <p:sldId id="338" r:id="rId2"/>
    <p:sldId id="337" r:id="rId3"/>
    <p:sldId id="339" r:id="rId4"/>
    <p:sldId id="343" r:id="rId5"/>
    <p:sldId id="340" r:id="rId6"/>
    <p:sldId id="341" r:id="rId7"/>
    <p:sldId id="342"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21"/>
    <p:restoredTop sz="94610"/>
  </p:normalViewPr>
  <p:slideViewPr>
    <p:cSldViewPr snapToGrid="0" snapToObjects="1">
      <p:cViewPr>
        <p:scale>
          <a:sx n="100" d="100"/>
          <a:sy n="100" d="100"/>
        </p:scale>
        <p:origin x="144" y="280"/>
      </p:cViewPr>
      <p:guideLst/>
    </p:cSldViewPr>
  </p:slideViewPr>
  <p:notesTextViewPr>
    <p:cViewPr>
      <p:scale>
        <a:sx n="1" d="1"/>
        <a:sy n="1" d="1"/>
      </p:scale>
      <p:origin x="0" y="0"/>
    </p:cViewPr>
  </p:notesTextViewPr>
  <p:notesViewPr>
    <p:cSldViewPr snapToGrid="0" snapToObjects="1">
      <p:cViewPr varScale="1">
        <p:scale>
          <a:sx n="47" d="100"/>
          <a:sy n="47" d="100"/>
        </p:scale>
        <p:origin x="4568" y="2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07B23C-E3C7-118C-6D95-80AC15504596}"/>
              </a:ext>
            </a:extLst>
          </p:cNvPr>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0DAC83E-72EC-56E4-8ADC-61BFCDA95C55}"/>
              </a:ext>
            </a:extLst>
          </p:cNvPr>
          <p:cNvSpPr>
            <a:spLocks noGrp="1"/>
          </p:cNvSpPr>
          <p:nvPr>
            <p:ph type="dt" sz="quarter" idx="1"/>
          </p:nvPr>
        </p:nvSpPr>
        <p:spPr>
          <a:xfrm>
            <a:off x="5827713" y="0"/>
            <a:ext cx="4457700" cy="917575"/>
          </a:xfrm>
          <a:prstGeom prst="rect">
            <a:avLst/>
          </a:prstGeom>
        </p:spPr>
        <p:txBody>
          <a:bodyPr vert="horz" lIns="91440" tIns="45720" rIns="91440" bIns="45720" rtlCol="0"/>
          <a:lstStyle>
            <a:lvl1pPr algn="r">
              <a:defRPr sz="1200"/>
            </a:lvl1pPr>
          </a:lstStyle>
          <a:p>
            <a:fld id="{C74CC268-DD45-4142-ACA3-F29634F1A1AD}" type="datetimeFigureOut">
              <a:rPr lang="en-US" smtClean="0"/>
              <a:t>4/27/26</a:t>
            </a:fld>
            <a:endParaRPr lang="en-US"/>
          </a:p>
        </p:txBody>
      </p:sp>
      <p:sp>
        <p:nvSpPr>
          <p:cNvPr id="4" name="Footer Placeholder 3">
            <a:extLst>
              <a:ext uri="{FF2B5EF4-FFF2-40B4-BE49-F238E27FC236}">
                <a16:creationId xmlns:a16="http://schemas.microsoft.com/office/drawing/2014/main" id="{105C7392-0B57-B817-6203-7DA113D54498}"/>
              </a:ext>
            </a:extLst>
          </p:cNvPr>
          <p:cNvSpPr>
            <a:spLocks noGrp="1"/>
          </p:cNvSpPr>
          <p:nvPr>
            <p:ph type="ftr" sz="quarter" idx="2"/>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E317836-E9FC-104F-52E4-5C8C87D8B11F}"/>
              </a:ext>
            </a:extLst>
          </p:cNvPr>
          <p:cNvSpPr>
            <a:spLocks noGrp="1"/>
          </p:cNvSpPr>
          <p:nvPr>
            <p:ph type="sldNum" sz="quarter" idx="3"/>
          </p:nvPr>
        </p:nvSpPr>
        <p:spPr>
          <a:xfrm>
            <a:off x="5827713" y="17372013"/>
            <a:ext cx="4457700" cy="915987"/>
          </a:xfrm>
          <a:prstGeom prst="rect">
            <a:avLst/>
          </a:prstGeom>
        </p:spPr>
        <p:txBody>
          <a:bodyPr vert="horz" lIns="91440" tIns="45720" rIns="91440" bIns="45720" rtlCol="0" anchor="b"/>
          <a:lstStyle>
            <a:lvl1pPr algn="r">
              <a:defRPr sz="1200"/>
            </a:lvl1pPr>
          </a:lstStyle>
          <a:p>
            <a:fld id="{56660A1F-2F94-2B4F-A66E-B3E8A465DCCD}" type="slidenum">
              <a:rPr lang="en-US" smtClean="0"/>
              <a:t>‹#›</a:t>
            </a:fld>
            <a:endParaRPr lang="en-US"/>
          </a:p>
        </p:txBody>
      </p:sp>
    </p:spTree>
    <p:extLst>
      <p:ext uri="{BB962C8B-B14F-4D97-AF65-F5344CB8AC3E}">
        <p14:creationId xmlns:p14="http://schemas.microsoft.com/office/powerpoint/2010/main" val="2574667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35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9FCEE-DC01-0F45-8959-DA29C3A6C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70467-8627-C4A4-3C45-A164F37E6C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2F761-6A05-D471-FFB8-FD88D2720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447E03-2069-495F-7AF4-61574EEC5E2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89800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65067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89459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35156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9358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54471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46846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DEFAULT">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D001A16-10D1-F38F-E8C5-A774BB809D5A}"/>
              </a:ext>
            </a:extLst>
          </p:cNvPr>
          <p:cNvSpPr>
            <a:spLocks noGrp="1"/>
          </p:cNvSpPr>
          <p:nvPr>
            <p:ph type="sldNum" sz="quarter" idx="4"/>
          </p:nvPr>
        </p:nvSpPr>
        <p:spPr>
          <a:xfrm>
            <a:off x="16370300" y="9702800"/>
            <a:ext cx="1270000" cy="241300"/>
          </a:xfrm>
          <a:prstGeom prst="rect">
            <a:avLst/>
          </a:prstGeom>
          <a:noFill/>
        </p:spPr>
        <p:txBody>
          <a:bodyPr vert="horz" lIns="0" tIns="0" rIns="0" bIns="0" anchor="ctr" anchorCtr="0"/>
          <a:lstStyle>
            <a:lvl1pPr>
              <a:defRPr sz="1800">
                <a:solidFill>
                  <a:schemeClr val="tx1"/>
                </a:solidFill>
              </a:defRPr>
            </a:lvl1pPr>
          </a:lstStyle>
          <a:p>
            <a:pPr algn="r"/>
            <a:fld id="{B6F15528-F159-4107-B297-60A642A6ABFF}" type="slidenum">
              <a:rPr lang="en-US" kern="0" spc="150" smtClean="0">
                <a:latin typeface="IBM Plex Mono" pitchFamily="34" charset="0"/>
                <a:ea typeface="IBM Plex Mono" pitchFamily="34" charset="-122"/>
                <a:cs typeface="IBM Plex Mono" pitchFamily="34" charset="-120"/>
              </a:rPr>
              <a:pPr algn="r"/>
              <a:t>‹#›</a:t>
            </a:fld>
            <a:endParaRPr lang="en-US" sz="1800" kern="0" spc="150" dirty="0">
              <a:latin typeface="IBM Plex Mono" pitchFamily="34" charset="0"/>
              <a:ea typeface="IBM Plex Mono" pitchFamily="34" charset="-122"/>
              <a:cs typeface="IBM Plex Mono" pitchFamily="34" charset="-120"/>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youtube.com/watch?v=vRWeKtVHJg0&amp;t=45s" TargetMode="External"/><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vRWeKtVHJg0&amp;t=4s" TargetMode="External"/><Relationship Id="rId5" Type="http://schemas.openxmlformats.org/officeDocument/2006/relationships/hyperlink" Target="https://www.youtube.com/watch?v=ZeWfksNXlbU" TargetMode="External"/><Relationship Id="rId4" Type="http://schemas.openxmlformats.org/officeDocument/2006/relationships/hyperlink" Target="https://www.youtube.com/watch?v=1dSNfnFL40c&amp;t=9s" TargetMode="External"/><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3" name="Text 0"/>
          <p:cNvSpPr/>
          <p:nvPr/>
        </p:nvSpPr>
        <p:spPr>
          <a:xfrm>
            <a:off x="1143000" y="2435364"/>
            <a:ext cx="16482060" cy="2933700"/>
          </a:xfrm>
          <a:prstGeom prst="rect">
            <a:avLst/>
          </a:prstGeom>
          <a:noFill/>
          <a:ln/>
        </p:spPr>
        <p:txBody>
          <a:bodyPr wrap="square" lIns="25400" tIns="25400" rIns="25400" bIns="25400" rtlCol="0" anchor="t">
            <a:normAutofit fontScale="92500" lnSpcReduction="10000"/>
          </a:bodyPr>
          <a:lstStyle/>
          <a:p>
            <a:pPr marL="0" indent="0" algn="l">
              <a:lnSpc>
                <a:spcPct val="95000"/>
              </a:lnSpc>
              <a:buNone/>
            </a:pPr>
            <a:r>
              <a:rPr lang="en-US" sz="12000" b="1" kern="0" spc="-300" dirty="0">
                <a:solidFill>
                  <a:srgbClr val="000000"/>
                </a:solidFill>
                <a:latin typeface="Playfair Display" pitchFamily="34" charset="0"/>
                <a:ea typeface="Playfair Display" pitchFamily="34" charset="-122"/>
                <a:cs typeface="Playfair Display" pitchFamily="34" charset="-120"/>
              </a:rPr>
              <a:t>How we work with </a:t>
            </a:r>
            <a:r>
              <a:rPr lang="en-US" sz="12000" b="1" i="1" kern="0" spc="-300" dirty="0">
                <a:solidFill>
                  <a:srgbClr val="04CCBA"/>
                </a:solidFill>
                <a:latin typeface="Playfair Display" pitchFamily="34" charset="0"/>
                <a:ea typeface="Playfair Display" pitchFamily="34" charset="-122"/>
                <a:cs typeface="Playfair Display" pitchFamily="34" charset="-120"/>
              </a:rPr>
              <a:t>Claude.</a:t>
            </a:r>
            <a:endParaRPr lang="en-US" sz="12000" dirty="0"/>
          </a:p>
        </p:txBody>
      </p:sp>
      <p:sp>
        <p:nvSpPr>
          <p:cNvPr id="4" name="Text 1"/>
          <p:cNvSpPr/>
          <p:nvPr/>
        </p:nvSpPr>
        <p:spPr>
          <a:xfrm>
            <a:off x="1143000" y="5635764"/>
            <a:ext cx="11772900" cy="10781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150" i="1" dirty="0">
                <a:solidFill>
                  <a:srgbClr val="000000"/>
                </a:solidFill>
                <a:latin typeface="Libre Baskerville" pitchFamily="34" charset="0"/>
                <a:ea typeface="Libre Baskerville" pitchFamily="34" charset="-122"/>
                <a:cs typeface="Libre Baskerville" pitchFamily="34" charset="-120"/>
              </a:rPr>
              <a:t>A field guide for the Millennium Tours team. </a:t>
            </a:r>
          </a:p>
          <a:p>
            <a:pPr marL="0" indent="0" algn="l">
              <a:lnSpc>
                <a:spcPct val="130000"/>
              </a:lnSpc>
              <a:buNone/>
            </a:pPr>
            <a:r>
              <a:rPr lang="en-US" sz="3150" i="1" dirty="0">
                <a:solidFill>
                  <a:srgbClr val="000000"/>
                </a:solidFill>
                <a:latin typeface="Libre Baskerville" pitchFamily="34" charset="0"/>
                <a:ea typeface="Libre Baskerville" pitchFamily="34" charset="-122"/>
                <a:cs typeface="Libre Baskerville" pitchFamily="34" charset="-120"/>
              </a:rPr>
              <a:t>What Claude is, how to use it every day, and where to aim it first.</a:t>
            </a:r>
            <a:endParaRPr lang="en-US" sz="3150" dirty="0"/>
          </a:p>
        </p:txBody>
      </p:sp>
      <p:sp>
        <p:nvSpPr>
          <p:cNvPr id="5" name="Shape 2"/>
          <p:cNvSpPr/>
          <p:nvPr/>
        </p:nvSpPr>
        <p:spPr>
          <a:xfrm>
            <a:off x="1143000" y="8882063"/>
            <a:ext cx="16002000" cy="9525"/>
          </a:xfrm>
          <a:prstGeom prst="rect">
            <a:avLst/>
          </a:prstGeom>
          <a:solidFill>
            <a:srgbClr val="111111"/>
          </a:solidFill>
          <a:ln/>
        </p:spPr>
        <p:txBody>
          <a:bodyPr/>
          <a:lstStyle/>
          <a:p>
            <a:endParaRPr lang="en-US"/>
          </a:p>
        </p:txBody>
      </p:sp>
      <p:sp>
        <p:nvSpPr>
          <p:cNvPr id="6" name="Text 3"/>
          <p:cNvSpPr/>
          <p:nvPr/>
        </p:nvSpPr>
        <p:spPr>
          <a:xfrm>
            <a:off x="1143000" y="9158288"/>
            <a:ext cx="4921088" cy="309563"/>
          </a:xfrm>
          <a:prstGeom prst="rect">
            <a:avLst/>
          </a:prstGeom>
          <a:noFill/>
          <a:ln/>
        </p:spPr>
        <p:txBody>
          <a:bodyPr wrap="square" lIns="25400" tIns="25400" rIns="25400" bIns="25400" rtlCol="0" anchor="t">
            <a:normAutofit/>
          </a:bodyPr>
          <a:lstStyle/>
          <a:p>
            <a:pPr marL="0" indent="0" algn="l">
              <a:buNone/>
            </a:pPr>
            <a:r>
              <a:rPr lang="en-US" sz="1650" kern="0" spc="150" dirty="0">
                <a:solidFill>
                  <a:srgbClr val="000000"/>
                </a:solidFill>
                <a:latin typeface="IBM Plex Mono" pitchFamily="34" charset="0"/>
                <a:ea typeface="IBM Plex Mono" pitchFamily="34" charset="-122"/>
                <a:cs typeface="IBM Plex Mono" pitchFamily="34" charset="-120"/>
              </a:rPr>
              <a:t>PREPARED BY ALI MAMUJEE</a:t>
            </a:r>
            <a:endParaRPr lang="en-US" sz="1650" dirty="0"/>
          </a:p>
        </p:txBody>
      </p:sp>
      <p:pic>
        <p:nvPicPr>
          <p:cNvPr id="7" name="Picture 6">
            <a:extLst>
              <a:ext uri="{FF2B5EF4-FFF2-40B4-BE49-F238E27FC236}">
                <a16:creationId xmlns:a16="http://schemas.microsoft.com/office/drawing/2014/main" id="{75391502-EFF5-4A45-6E50-BB4003C6E4E3}"/>
              </a:ext>
            </a:extLst>
          </p:cNvPr>
          <p:cNvPicPr>
            <a:picLocks noChangeAspect="1"/>
          </p:cNvPicPr>
          <p:nvPr/>
        </p:nvPicPr>
        <p:blipFill>
          <a:blip r:embed="rId3"/>
          <a:stretch>
            <a:fillRect/>
          </a:stretch>
        </p:blipFill>
        <p:spPr>
          <a:xfrm>
            <a:off x="15250160" y="201752"/>
            <a:ext cx="2374900" cy="1422400"/>
          </a:xfrm>
          <a:prstGeom prst="rect">
            <a:avLst/>
          </a:prstGeom>
        </p:spPr>
      </p:pic>
      <p:sp>
        <p:nvSpPr>
          <p:cNvPr id="2" name="TextBox 1">
            <a:extLst>
              <a:ext uri="{FF2B5EF4-FFF2-40B4-BE49-F238E27FC236}">
                <a16:creationId xmlns:a16="http://schemas.microsoft.com/office/drawing/2014/main" id="{CB69D418-E3A6-EC43-9F7A-B17A0F07AEDF}"/>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01 / 23</a:t>
            </a:r>
          </a:p>
        </p:txBody>
      </p:sp>
    </p:spTree>
    <p:extLst>
      <p:ext uri="{BB962C8B-B14F-4D97-AF65-F5344CB8AC3E}">
        <p14:creationId xmlns:p14="http://schemas.microsoft.com/office/powerpoint/2010/main" val="624411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C8E8-2C94-F86D-8E29-F01DBD0EE2B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B0361B5-332B-185E-A217-7B49365E638B}"/>
              </a:ext>
            </a:extLst>
          </p:cNvPr>
          <p:cNvSpPr/>
          <p:nvPr/>
        </p:nvSpPr>
        <p:spPr>
          <a:xfrm>
            <a:off x="739140" y="850235"/>
            <a:ext cx="16482060" cy="1318171"/>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Agenda.</a:t>
            </a:r>
            <a:endParaRPr lang="en-US" sz="4800" dirty="0"/>
          </a:p>
        </p:txBody>
      </p:sp>
      <p:sp>
        <p:nvSpPr>
          <p:cNvPr id="5" name="Text 2">
            <a:extLst>
              <a:ext uri="{FF2B5EF4-FFF2-40B4-BE49-F238E27FC236}">
                <a16:creationId xmlns:a16="http://schemas.microsoft.com/office/drawing/2014/main" id="{8FEAFD1F-C86D-AFE6-4793-0582F939E632}"/>
              </a:ext>
            </a:extLst>
          </p:cNvPr>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B21ADDA4-D12A-B10F-6579-95D0534AD2F9}"/>
              </a:ext>
            </a:extLst>
          </p:cNvPr>
          <p:cNvSpPr txBox="1"/>
          <p:nvPr/>
        </p:nvSpPr>
        <p:spPr>
          <a:xfrm>
            <a:off x="739140" y="2735425"/>
            <a:ext cx="5943600" cy="3749744"/>
          </a:xfrm>
          <a:prstGeom prst="rect">
            <a:avLst/>
          </a:prstGeom>
          <a:noFill/>
        </p:spPr>
        <p:txBody>
          <a:bodyPr vertOverflow="overflow" vert="horz" wrap="square" rtlCol="0" anchor="t">
            <a:spAutoFit/>
          </a:bodyPr>
          <a:lstStyle/>
          <a:p>
            <a:pPr marL="342900" indent="-342900" algn="l">
              <a:spcBef>
                <a:spcPts val="800"/>
              </a:spcBef>
              <a:buFontTx/>
              <a:buChar char="-"/>
            </a:pPr>
            <a:r>
              <a:rPr lang="en-US" sz="2400" kern="0" spc="50" dirty="0">
                <a:latin typeface="Libre Baskerville" panose="02000000000000000000" pitchFamily="2" charset="0"/>
                <a:ea typeface="IBM Plex Mono" pitchFamily="34" charset="-122"/>
              </a:rPr>
              <a:t>Quick Intros</a:t>
            </a:r>
          </a:p>
          <a:p>
            <a:pPr algn="l">
              <a:spcBef>
                <a:spcPts val="800"/>
              </a:spcBef>
            </a:pPr>
            <a:endParaRPr lang="en-US" sz="2400" kern="0" spc="50" dirty="0">
              <a:latin typeface="Libre Baskerville" panose="02000000000000000000" pitchFamily="2" charset="0"/>
              <a:ea typeface="IBM Plex Mono" pitchFamily="34" charset="-122"/>
            </a:endParaRPr>
          </a:p>
          <a:p>
            <a:pPr marL="0" indent="0" algn="l">
              <a:spcBef>
                <a:spcPts val="800"/>
              </a:spcBef>
              <a:buNone/>
            </a:pPr>
            <a:r>
              <a:rPr lang="en-US" sz="2400" kern="0" spc="50" dirty="0">
                <a:latin typeface="Libre Baskerville" panose="02000000000000000000" pitchFamily="2" charset="0"/>
                <a:ea typeface="IBM Plex Mono" pitchFamily="34" charset="-122"/>
              </a:rPr>
              <a:t>- Why Claude</a:t>
            </a:r>
            <a:br>
              <a:rPr lang="en-US" sz="2400" kern="0" spc="50" dirty="0">
                <a:latin typeface="Libre Baskerville" panose="02000000000000000000" pitchFamily="2" charset="0"/>
                <a:ea typeface="IBM Plex Mono" pitchFamily="34" charset="-122"/>
              </a:rPr>
            </a:br>
            <a:endParaRPr lang="en-US" sz="2400" kern="0" spc="50" dirty="0">
              <a:latin typeface="Libre Baskerville" panose="02000000000000000000" pitchFamily="2" charset="0"/>
              <a:ea typeface="IBM Plex Mono" pitchFamily="34" charset="-122"/>
            </a:endParaRPr>
          </a:p>
          <a:p>
            <a:pPr marL="0" indent="0" algn="l">
              <a:spcBef>
                <a:spcPts val="500"/>
              </a:spcBef>
              <a:buNone/>
            </a:pPr>
            <a:r>
              <a:rPr lang="en-US" sz="2400" kern="0" spc="50" dirty="0">
                <a:latin typeface="Libre Baskerville" panose="02000000000000000000" pitchFamily="2" charset="0"/>
                <a:ea typeface="IBM Plex Mono" pitchFamily="34" charset="-122"/>
              </a:rPr>
              <a:t>- Basic Training &amp; Awareness</a:t>
            </a:r>
            <a:br>
              <a:rPr lang="en-US" sz="2400" kern="0" spc="50" dirty="0">
                <a:latin typeface="Libre Baskerville" panose="02000000000000000000" pitchFamily="2" charset="0"/>
                <a:ea typeface="IBM Plex Mono" pitchFamily="34" charset="-122"/>
              </a:rPr>
            </a:br>
            <a:endParaRPr lang="en-US" sz="2400" kern="0" spc="50" dirty="0">
              <a:latin typeface="Libre Baskerville" panose="02000000000000000000" pitchFamily="2" charset="0"/>
              <a:ea typeface="IBM Plex Mono" pitchFamily="34" charset="-122"/>
            </a:endParaRPr>
          </a:p>
          <a:p>
            <a:pPr>
              <a:spcBef>
                <a:spcPts val="500"/>
              </a:spcBef>
            </a:pPr>
            <a:r>
              <a:rPr lang="en-US" sz="2400" kern="0" spc="50" dirty="0">
                <a:latin typeface="Libre Baskerville" panose="02000000000000000000" pitchFamily="2" charset="0"/>
                <a:ea typeface="IBM Plex Mono" pitchFamily="34" charset="-122"/>
              </a:rPr>
              <a:t>- What has been built out</a:t>
            </a:r>
            <a:br>
              <a:rPr lang="en-US" sz="2400" kern="0" spc="50" dirty="0">
                <a:latin typeface="Libre Baskerville" panose="02000000000000000000" pitchFamily="2" charset="0"/>
                <a:ea typeface="IBM Plex Mono" pitchFamily="34" charset="-122"/>
              </a:rPr>
            </a:br>
            <a:br>
              <a:rPr lang="en-US" sz="2400" kern="0" spc="50" dirty="0">
                <a:latin typeface="Libre Baskerville" panose="02000000000000000000" pitchFamily="2" charset="0"/>
                <a:ea typeface="IBM Plex Mono" pitchFamily="34" charset="-122"/>
              </a:rPr>
            </a:br>
            <a:r>
              <a:rPr lang="en-US" sz="2400" kern="0" spc="50" dirty="0">
                <a:latin typeface="Libre Baskerville" panose="02000000000000000000" pitchFamily="2" charset="0"/>
                <a:ea typeface="IBM Plex Mono" pitchFamily="34" charset="-122"/>
              </a:rPr>
              <a:t>- Explore what is next</a:t>
            </a:r>
          </a:p>
        </p:txBody>
      </p:sp>
      <p:sp>
        <p:nvSpPr>
          <p:cNvPr id="6" name="Text 1">
            <a:extLst>
              <a:ext uri="{FF2B5EF4-FFF2-40B4-BE49-F238E27FC236}">
                <a16:creationId xmlns:a16="http://schemas.microsoft.com/office/drawing/2014/main" id="{64FFE267-0C4F-59C6-E6AF-7C294B7DC4EE}"/>
              </a:ext>
            </a:extLst>
          </p:cNvPr>
          <p:cNvSpPr/>
          <p:nvPr/>
        </p:nvSpPr>
        <p:spPr>
          <a:xfrm>
            <a:off x="970376" y="7264839"/>
            <a:ext cx="15488823" cy="1078111"/>
          </a:xfrm>
          <a:prstGeom prst="rect">
            <a:avLst/>
          </a:prstGeom>
          <a:noFill/>
          <a:ln/>
        </p:spPr>
        <p:txBody>
          <a:bodyPr wrap="square" lIns="25400" tIns="25400" rIns="25400" bIns="25400" rtlCol="0" anchor="t">
            <a:normAutofit/>
          </a:bodyPr>
          <a:lstStyle/>
          <a:p>
            <a:pPr marL="0" indent="0" algn="l">
              <a:lnSpc>
                <a:spcPct val="130000"/>
              </a:lnSpc>
              <a:buNone/>
            </a:pPr>
            <a:r>
              <a:rPr lang="en-US" sz="3150" b="1" i="1" dirty="0">
                <a:solidFill>
                  <a:srgbClr val="000000"/>
                </a:solidFill>
                <a:latin typeface="Libre Baskerville" pitchFamily="34" charset="0"/>
                <a:ea typeface="Libre Baskerville" pitchFamily="34" charset="-122"/>
                <a:cs typeface="Libre Baskerville" pitchFamily="34" charset="-120"/>
              </a:rPr>
              <a:t>Goal: Use Claude everyday, see the power in it, and improve the business.</a:t>
            </a:r>
            <a:endParaRPr lang="en-US" sz="3150" b="1" dirty="0"/>
          </a:p>
        </p:txBody>
      </p:sp>
    </p:spTree>
    <p:extLst>
      <p:ext uri="{BB962C8B-B14F-4D97-AF65-F5344CB8AC3E}">
        <p14:creationId xmlns:p14="http://schemas.microsoft.com/office/powerpoint/2010/main" val="3085530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3" name="Text 1"/>
          <p:cNvSpPr/>
          <p:nvPr/>
        </p:nvSpPr>
        <p:spPr>
          <a:xfrm>
            <a:off x="739140" y="850235"/>
            <a:ext cx="16482060" cy="1318171"/>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Anthropic is the </a:t>
            </a:r>
            <a:r>
              <a:rPr lang="en-US" sz="4800" b="1" i="1" kern="0" spc="-112" dirty="0">
                <a:solidFill>
                  <a:srgbClr val="04CCBA"/>
                </a:solidFill>
                <a:latin typeface="Playfair Display" pitchFamily="34" charset="0"/>
                <a:ea typeface="Playfair Display" pitchFamily="34" charset="-122"/>
                <a:cs typeface="Playfair Display" pitchFamily="34" charset="-120"/>
              </a:rPr>
              <a:t>fastest-growing </a:t>
            </a:r>
            <a:r>
              <a:rPr lang="en-US" sz="4800" b="1" kern="0" spc="-112" dirty="0">
                <a:solidFill>
                  <a:srgbClr val="000000"/>
                </a:solidFill>
                <a:latin typeface="Playfair Display" pitchFamily="34" charset="0"/>
                <a:ea typeface="Playfair Display" pitchFamily="34" charset="-122"/>
                <a:cs typeface="Playfair Display" pitchFamily="34" charset="-120"/>
              </a:rPr>
              <a:t>company in history.</a:t>
            </a:r>
            <a:endParaRPr lang="en-US" sz="4800" dirty="0"/>
          </a:p>
        </p:txBody>
      </p:sp>
      <p:sp>
        <p:nvSpPr>
          <p:cNvPr id="5" name="Text 2"/>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pic>
        <p:nvPicPr>
          <p:cNvPr id="7" name="Picture 6">
            <a:extLst>
              <a:ext uri="{FF2B5EF4-FFF2-40B4-BE49-F238E27FC236}">
                <a16:creationId xmlns:a16="http://schemas.microsoft.com/office/drawing/2014/main" id="{39246F54-7C3D-152A-C315-15B03C36D816}"/>
              </a:ext>
            </a:extLst>
          </p:cNvPr>
          <p:cNvPicPr>
            <a:picLocks noChangeAspect="1"/>
          </p:cNvPicPr>
          <p:nvPr/>
        </p:nvPicPr>
        <p:blipFill>
          <a:blip r:embed="rId3"/>
          <a:stretch>
            <a:fillRect/>
          </a:stretch>
        </p:blipFill>
        <p:spPr>
          <a:xfrm>
            <a:off x="739140" y="1827008"/>
            <a:ext cx="10802470" cy="7453704"/>
          </a:xfrm>
          <a:prstGeom prst="rect">
            <a:avLst/>
          </a:prstGeom>
        </p:spPr>
      </p:pic>
      <p:sp>
        <p:nvSpPr>
          <p:cNvPr id="2" name="TextBox 1">
            <a:extLst>
              <a:ext uri="{FF2B5EF4-FFF2-40B4-BE49-F238E27FC236}">
                <a16:creationId xmlns:a16="http://schemas.microsoft.com/office/drawing/2014/main" id="{2C6A9042-25D9-4E46-9C96-5A6A7EEEC25F}"/>
              </a:ext>
            </a:extLst>
          </p:cNvPr>
          <p:cNvSpPr txBox="1"/>
          <p:nvPr/>
        </p:nvSpPr>
        <p:spPr>
          <a:xfrm>
            <a:off x="11841480" y="3729725"/>
            <a:ext cx="5943600" cy="3154710"/>
          </a:xfrm>
          <a:prstGeom prst="rect">
            <a:avLst/>
          </a:prstGeom>
          <a:noFill/>
        </p:spPr>
        <p:txBody>
          <a:bodyPr vertOverflow="overflow" vert="horz" wrap="square" rtlCol="0" anchor="t">
            <a:spAutoFit/>
          </a:bodyPr>
          <a:lstStyle/>
          <a:p>
            <a:pPr marL="0" indent="0" algn="l">
              <a:buNone/>
            </a:pPr>
            <a:r>
              <a:rPr lang="en-US" sz="3200" b="1" kern="0" spc="-50" dirty="0">
                <a:solidFill>
                  <a:srgbClr val="000000"/>
                </a:solidFill>
                <a:latin typeface="Libre Baskerville" panose="02000000000000000000" pitchFamily="2" charset="0"/>
                <a:ea typeface="Playfair Display" pitchFamily="34" charset="-122"/>
              </a:rPr>
              <a:t>What’s driving it:</a:t>
            </a:r>
            <a:br>
              <a:rPr lang="en-US" sz="3200" b="1" kern="0" spc="-50" dirty="0">
                <a:solidFill>
                  <a:srgbClr val="000000"/>
                </a:solidFill>
                <a:latin typeface="Libre Baskerville" panose="02000000000000000000" pitchFamily="2" charset="0"/>
                <a:ea typeface="Playfair Display" pitchFamily="34" charset="-122"/>
              </a:rPr>
            </a:br>
            <a:endParaRPr lang="en-US" sz="3200" b="1" kern="0" spc="-50" dirty="0">
              <a:solidFill>
                <a:srgbClr val="000000"/>
              </a:solidFill>
              <a:latin typeface="Libre Baskerville" panose="02000000000000000000" pitchFamily="2" charset="0"/>
              <a:ea typeface="Playfair Display" pitchFamily="34" charset="-122"/>
            </a:endParaRPr>
          </a:p>
          <a:p>
            <a:pPr marL="0" indent="0" algn="l">
              <a:spcBef>
                <a:spcPts val="800"/>
              </a:spcBef>
              <a:buNone/>
            </a:pPr>
            <a:r>
              <a:rPr lang="en-US" sz="2400" kern="0" spc="50" dirty="0">
                <a:latin typeface="Libre Baskerville" panose="02000000000000000000" pitchFamily="2" charset="0"/>
                <a:ea typeface="IBM Plex Mono" pitchFamily="34" charset="-122"/>
              </a:rPr>
              <a:t>- An AI that writes code for you</a:t>
            </a:r>
            <a:br>
              <a:rPr lang="en-US" sz="2400" kern="0" spc="50" dirty="0">
                <a:latin typeface="Libre Baskerville" panose="02000000000000000000" pitchFamily="2" charset="0"/>
                <a:ea typeface="IBM Plex Mono" pitchFamily="34" charset="-122"/>
              </a:rPr>
            </a:br>
            <a:endParaRPr lang="en-US" sz="2400" kern="0" spc="50" dirty="0">
              <a:latin typeface="Libre Baskerville" panose="02000000000000000000" pitchFamily="2" charset="0"/>
              <a:ea typeface="IBM Plex Mono" pitchFamily="34" charset="-122"/>
            </a:endParaRPr>
          </a:p>
          <a:p>
            <a:pPr marL="0" indent="0" algn="l">
              <a:spcBef>
                <a:spcPts val="500"/>
              </a:spcBef>
              <a:buNone/>
            </a:pPr>
            <a:r>
              <a:rPr lang="en-US" sz="2400" kern="0" spc="50" dirty="0">
                <a:latin typeface="Libre Baskerville" panose="02000000000000000000" pitchFamily="2" charset="0"/>
                <a:ea typeface="IBM Plex Mono" pitchFamily="34" charset="-122"/>
              </a:rPr>
              <a:t>- A digital coworker for any job</a:t>
            </a:r>
            <a:br>
              <a:rPr lang="en-US" sz="2400" kern="0" spc="50" dirty="0">
                <a:latin typeface="Libre Baskerville" panose="02000000000000000000" pitchFamily="2" charset="0"/>
                <a:ea typeface="IBM Plex Mono" pitchFamily="34" charset="-122"/>
              </a:rPr>
            </a:br>
            <a:endParaRPr lang="en-US" sz="2400" kern="0" spc="50" dirty="0">
              <a:latin typeface="Libre Baskerville" panose="02000000000000000000" pitchFamily="2" charset="0"/>
              <a:ea typeface="IBM Plex Mono" pitchFamily="34" charset="-122"/>
            </a:endParaRPr>
          </a:p>
          <a:p>
            <a:pPr marL="0" indent="0" algn="l">
              <a:spcBef>
                <a:spcPts val="500"/>
              </a:spcBef>
              <a:buNone/>
            </a:pPr>
            <a:r>
              <a:rPr lang="en-US" sz="2400" kern="0" spc="50" dirty="0">
                <a:latin typeface="Libre Baskerville" panose="02000000000000000000" pitchFamily="2" charset="0"/>
                <a:ea typeface="IBM Plex Mono" pitchFamily="34" charset="-122"/>
              </a:rPr>
              <a:t>- Plugs into tools you already use</a:t>
            </a:r>
          </a:p>
        </p:txBody>
      </p:sp>
      <p:sp>
        <p:nvSpPr>
          <p:cNvPr id="4" name="TextBox 3">
            <a:extLst>
              <a:ext uri="{FF2B5EF4-FFF2-40B4-BE49-F238E27FC236}">
                <a16:creationId xmlns:a16="http://schemas.microsoft.com/office/drawing/2014/main" id="{689A44F1-C9ED-4B42-A804-5F420E83D9C2}"/>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02 / 23</a:t>
            </a:r>
          </a:p>
        </p:txBody>
      </p:sp>
    </p:spTree>
    <p:extLst>
      <p:ext uri="{BB962C8B-B14F-4D97-AF65-F5344CB8AC3E}">
        <p14:creationId xmlns:p14="http://schemas.microsoft.com/office/powerpoint/2010/main" val="870880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Millennium Tours summarized feedback from the team.</a:t>
            </a:r>
            <a:endParaRPr lang="en-US" sz="4800" dirty="0"/>
          </a:p>
        </p:txBody>
      </p:sp>
      <p:sp>
        <p:nvSpPr>
          <p:cNvPr id="4" name="Shape 2"/>
          <p:cNvSpPr/>
          <p:nvPr/>
        </p:nvSpPr>
        <p:spPr>
          <a:xfrm>
            <a:off x="1143000" y="2640732"/>
            <a:ext cx="1028700" cy="19050"/>
          </a:xfrm>
          <a:prstGeom prst="rect">
            <a:avLst/>
          </a:prstGeom>
          <a:solidFill>
            <a:srgbClr val="111111"/>
          </a:solidFill>
          <a:ln/>
        </p:spPr>
        <p:txBody>
          <a:bodyPr/>
          <a:lstStyle/>
          <a:p>
            <a:endParaRPr lang="en-US"/>
          </a:p>
        </p:txBody>
      </p:sp>
      <p:sp>
        <p:nvSpPr>
          <p:cNvPr id="5" name="Shape 3"/>
          <p:cNvSpPr/>
          <p:nvPr/>
        </p:nvSpPr>
        <p:spPr>
          <a:xfrm>
            <a:off x="2171700" y="2640732"/>
            <a:ext cx="4480545" cy="19050"/>
          </a:xfrm>
          <a:prstGeom prst="rect">
            <a:avLst/>
          </a:prstGeom>
          <a:solidFill>
            <a:srgbClr val="111111"/>
          </a:solidFill>
          <a:ln/>
        </p:spPr>
        <p:txBody>
          <a:bodyPr/>
          <a:lstStyle/>
          <a:p>
            <a:endParaRPr lang="en-US"/>
          </a:p>
        </p:txBody>
      </p:sp>
      <p:sp>
        <p:nvSpPr>
          <p:cNvPr id="6" name="Text 4"/>
          <p:cNvSpPr/>
          <p:nvPr/>
        </p:nvSpPr>
        <p:spPr>
          <a:xfrm>
            <a:off x="2400300" y="2183085"/>
            <a:ext cx="4157761" cy="32429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AREA</a:t>
            </a:r>
            <a:endParaRPr lang="en-US" sz="1725" dirty="0"/>
          </a:p>
        </p:txBody>
      </p:sp>
      <p:sp>
        <p:nvSpPr>
          <p:cNvPr id="7" name="Shape 5"/>
          <p:cNvSpPr/>
          <p:nvPr/>
        </p:nvSpPr>
        <p:spPr>
          <a:xfrm>
            <a:off x="6652245" y="2640732"/>
            <a:ext cx="10492755" cy="19050"/>
          </a:xfrm>
          <a:prstGeom prst="rect">
            <a:avLst/>
          </a:prstGeom>
          <a:solidFill>
            <a:srgbClr val="111111"/>
          </a:solidFill>
          <a:ln/>
        </p:spPr>
        <p:txBody>
          <a:bodyPr/>
          <a:lstStyle/>
          <a:p>
            <a:endParaRPr lang="en-US"/>
          </a:p>
        </p:txBody>
      </p:sp>
      <p:sp>
        <p:nvSpPr>
          <p:cNvPr id="8" name="Text 6"/>
          <p:cNvSpPr/>
          <p:nvPr/>
        </p:nvSpPr>
        <p:spPr>
          <a:xfrm>
            <a:off x="6880845" y="2183085"/>
            <a:ext cx="10350338" cy="32429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WHAT IT MEANS FOR MILLENNIUM TOURS</a:t>
            </a:r>
            <a:endParaRPr lang="en-US" sz="1725" dirty="0"/>
          </a:p>
        </p:txBody>
      </p:sp>
      <p:sp>
        <p:nvSpPr>
          <p:cNvPr id="9" name="Shape 7"/>
          <p:cNvSpPr/>
          <p:nvPr/>
        </p:nvSpPr>
        <p:spPr>
          <a:xfrm>
            <a:off x="1143000" y="3650382"/>
            <a:ext cx="1028700" cy="9525"/>
          </a:xfrm>
          <a:prstGeom prst="rect">
            <a:avLst/>
          </a:prstGeom>
          <a:solidFill>
            <a:srgbClr val="111111"/>
          </a:solidFill>
          <a:ln/>
        </p:spPr>
        <p:txBody>
          <a:bodyPr/>
          <a:lstStyle/>
          <a:p>
            <a:endParaRPr lang="en-US"/>
          </a:p>
        </p:txBody>
      </p:sp>
      <p:sp>
        <p:nvSpPr>
          <p:cNvPr id="10" name="Text 8"/>
          <p:cNvSpPr/>
          <p:nvPr/>
        </p:nvSpPr>
        <p:spPr>
          <a:xfrm>
            <a:off x="1371600" y="2964582"/>
            <a:ext cx="647700" cy="552450"/>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01</a:t>
            </a:r>
            <a:endParaRPr lang="en-US" sz="2250" dirty="0"/>
          </a:p>
        </p:txBody>
      </p:sp>
      <p:sp>
        <p:nvSpPr>
          <p:cNvPr id="11" name="Shape 9"/>
          <p:cNvSpPr/>
          <p:nvPr/>
        </p:nvSpPr>
        <p:spPr>
          <a:xfrm>
            <a:off x="2171700" y="3650382"/>
            <a:ext cx="4480545" cy="9525"/>
          </a:xfrm>
          <a:prstGeom prst="rect">
            <a:avLst/>
          </a:prstGeom>
          <a:solidFill>
            <a:srgbClr val="111111"/>
          </a:solidFill>
          <a:ln/>
        </p:spPr>
        <p:txBody>
          <a:bodyPr/>
          <a:lstStyle/>
          <a:p>
            <a:endParaRPr lang="en-US"/>
          </a:p>
        </p:txBody>
      </p:sp>
      <p:sp>
        <p:nvSpPr>
          <p:cNvPr id="12" name="Text 10"/>
          <p:cNvSpPr/>
          <p:nvPr/>
        </p:nvSpPr>
        <p:spPr>
          <a:xfrm>
            <a:off x="2400300" y="2984193"/>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Document consistency</a:t>
            </a:r>
            <a:endParaRPr lang="en-US" sz="2550" dirty="0"/>
          </a:p>
        </p:txBody>
      </p:sp>
      <p:sp>
        <p:nvSpPr>
          <p:cNvPr id="13" name="Shape 11"/>
          <p:cNvSpPr/>
          <p:nvPr/>
        </p:nvSpPr>
        <p:spPr>
          <a:xfrm>
            <a:off x="6652245" y="3650382"/>
            <a:ext cx="10492755" cy="9525"/>
          </a:xfrm>
          <a:prstGeom prst="rect">
            <a:avLst/>
          </a:prstGeom>
          <a:solidFill>
            <a:srgbClr val="111111"/>
          </a:solidFill>
          <a:ln/>
        </p:spPr>
        <p:txBody>
          <a:bodyPr/>
          <a:lstStyle/>
          <a:p>
            <a:endParaRPr lang="en-US"/>
          </a:p>
        </p:txBody>
      </p:sp>
      <p:sp>
        <p:nvSpPr>
          <p:cNvPr id="14" name="Text 12"/>
          <p:cNvSpPr/>
          <p:nvPr/>
        </p:nvSpPr>
        <p:spPr>
          <a:xfrm>
            <a:off x="6880845" y="2831232"/>
            <a:ext cx="10350338" cy="6858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Master templates so proposals, invoices, T&amp;Cs, and itineraries look identical regardless of who built them.</a:t>
            </a:r>
            <a:endParaRPr lang="en-US" sz="1875" dirty="0"/>
          </a:p>
        </p:txBody>
      </p:sp>
      <p:sp>
        <p:nvSpPr>
          <p:cNvPr id="15" name="Shape 13"/>
          <p:cNvSpPr/>
          <p:nvPr/>
        </p:nvSpPr>
        <p:spPr>
          <a:xfrm>
            <a:off x="1143000" y="4645744"/>
            <a:ext cx="1028700" cy="9525"/>
          </a:xfrm>
          <a:prstGeom prst="rect">
            <a:avLst/>
          </a:prstGeom>
          <a:solidFill>
            <a:srgbClr val="111111"/>
          </a:solidFill>
          <a:ln/>
        </p:spPr>
        <p:txBody>
          <a:bodyPr/>
          <a:lstStyle/>
          <a:p>
            <a:endParaRPr lang="en-US"/>
          </a:p>
        </p:txBody>
      </p:sp>
      <p:sp>
        <p:nvSpPr>
          <p:cNvPr id="16" name="Text 14"/>
          <p:cNvSpPr/>
          <p:nvPr/>
        </p:nvSpPr>
        <p:spPr>
          <a:xfrm>
            <a:off x="1371600" y="3964707"/>
            <a:ext cx="647700" cy="547688"/>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02</a:t>
            </a:r>
            <a:endParaRPr lang="en-US" sz="2250" dirty="0"/>
          </a:p>
        </p:txBody>
      </p:sp>
      <p:sp>
        <p:nvSpPr>
          <p:cNvPr id="17" name="Shape 15"/>
          <p:cNvSpPr/>
          <p:nvPr/>
        </p:nvSpPr>
        <p:spPr>
          <a:xfrm>
            <a:off x="2171700" y="4645744"/>
            <a:ext cx="4480545" cy="9525"/>
          </a:xfrm>
          <a:prstGeom prst="rect">
            <a:avLst/>
          </a:prstGeom>
          <a:solidFill>
            <a:srgbClr val="111111"/>
          </a:solidFill>
          <a:ln/>
        </p:spPr>
        <p:txBody>
          <a:bodyPr/>
          <a:lstStyle/>
          <a:p>
            <a:endParaRPr lang="en-US"/>
          </a:p>
        </p:txBody>
      </p:sp>
      <p:sp>
        <p:nvSpPr>
          <p:cNvPr id="18" name="Text 16"/>
          <p:cNvSpPr/>
          <p:nvPr/>
        </p:nvSpPr>
        <p:spPr>
          <a:xfrm>
            <a:off x="2400300" y="3979555"/>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Faster client emails</a:t>
            </a:r>
            <a:endParaRPr lang="en-US" sz="2550" dirty="0"/>
          </a:p>
        </p:txBody>
      </p:sp>
      <p:sp>
        <p:nvSpPr>
          <p:cNvPr id="19" name="Shape 17"/>
          <p:cNvSpPr/>
          <p:nvPr/>
        </p:nvSpPr>
        <p:spPr>
          <a:xfrm>
            <a:off x="6652245" y="4645744"/>
            <a:ext cx="10492755" cy="9525"/>
          </a:xfrm>
          <a:prstGeom prst="rect">
            <a:avLst/>
          </a:prstGeom>
          <a:solidFill>
            <a:srgbClr val="111111"/>
          </a:solidFill>
          <a:ln/>
        </p:spPr>
        <p:txBody>
          <a:bodyPr/>
          <a:lstStyle/>
          <a:p>
            <a:endParaRPr lang="en-US"/>
          </a:p>
        </p:txBody>
      </p:sp>
      <p:sp>
        <p:nvSpPr>
          <p:cNvPr id="20" name="Text 18"/>
          <p:cNvSpPr/>
          <p:nvPr/>
        </p:nvSpPr>
        <p:spPr>
          <a:xfrm>
            <a:off x="6880845" y="3831357"/>
            <a:ext cx="10350338"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Draft-ready group quotes, follow-ups, and replies in seconds instead of written from scratch each time.</a:t>
            </a:r>
            <a:endParaRPr lang="en-US" sz="1875" dirty="0"/>
          </a:p>
        </p:txBody>
      </p:sp>
      <p:sp>
        <p:nvSpPr>
          <p:cNvPr id="21" name="Shape 19"/>
          <p:cNvSpPr/>
          <p:nvPr/>
        </p:nvSpPr>
        <p:spPr>
          <a:xfrm>
            <a:off x="1143000" y="5641107"/>
            <a:ext cx="1028700" cy="9525"/>
          </a:xfrm>
          <a:prstGeom prst="rect">
            <a:avLst/>
          </a:prstGeom>
          <a:solidFill>
            <a:srgbClr val="111111"/>
          </a:solidFill>
          <a:ln/>
        </p:spPr>
        <p:txBody>
          <a:bodyPr/>
          <a:lstStyle/>
          <a:p>
            <a:endParaRPr lang="en-US"/>
          </a:p>
        </p:txBody>
      </p:sp>
      <p:sp>
        <p:nvSpPr>
          <p:cNvPr id="22" name="Text 20"/>
          <p:cNvSpPr/>
          <p:nvPr/>
        </p:nvSpPr>
        <p:spPr>
          <a:xfrm>
            <a:off x="1371600" y="4960069"/>
            <a:ext cx="647700" cy="547688"/>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03</a:t>
            </a:r>
            <a:endParaRPr lang="en-US" sz="2250" dirty="0"/>
          </a:p>
        </p:txBody>
      </p:sp>
      <p:sp>
        <p:nvSpPr>
          <p:cNvPr id="23" name="Shape 21"/>
          <p:cNvSpPr/>
          <p:nvPr/>
        </p:nvSpPr>
        <p:spPr>
          <a:xfrm>
            <a:off x="2171700" y="5641107"/>
            <a:ext cx="4480545" cy="9525"/>
          </a:xfrm>
          <a:prstGeom prst="rect">
            <a:avLst/>
          </a:prstGeom>
          <a:solidFill>
            <a:srgbClr val="111111"/>
          </a:solidFill>
          <a:ln/>
        </p:spPr>
        <p:txBody>
          <a:bodyPr/>
          <a:lstStyle/>
          <a:p>
            <a:endParaRPr lang="en-US"/>
          </a:p>
        </p:txBody>
      </p:sp>
      <p:sp>
        <p:nvSpPr>
          <p:cNvPr id="24" name="Text 22"/>
          <p:cNvSpPr/>
          <p:nvPr/>
        </p:nvSpPr>
        <p:spPr>
          <a:xfrm>
            <a:off x="2400300" y="4974918"/>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Passenger data accuracy</a:t>
            </a:r>
            <a:endParaRPr lang="en-US" sz="2550" dirty="0"/>
          </a:p>
        </p:txBody>
      </p:sp>
      <p:sp>
        <p:nvSpPr>
          <p:cNvPr id="25" name="Shape 23"/>
          <p:cNvSpPr/>
          <p:nvPr/>
        </p:nvSpPr>
        <p:spPr>
          <a:xfrm>
            <a:off x="6652245" y="5641107"/>
            <a:ext cx="10492755" cy="9525"/>
          </a:xfrm>
          <a:prstGeom prst="rect">
            <a:avLst/>
          </a:prstGeom>
          <a:solidFill>
            <a:srgbClr val="111111"/>
          </a:solidFill>
          <a:ln/>
        </p:spPr>
        <p:txBody>
          <a:bodyPr/>
          <a:lstStyle/>
          <a:p>
            <a:endParaRPr lang="en-US"/>
          </a:p>
        </p:txBody>
      </p:sp>
      <p:sp>
        <p:nvSpPr>
          <p:cNvPr id="26" name="Text 24"/>
          <p:cNvSpPr/>
          <p:nvPr/>
        </p:nvSpPr>
        <p:spPr>
          <a:xfrm>
            <a:off x="6880845" y="4826719"/>
            <a:ext cx="10350338"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Automated verification of names, passports, and dietary info before tickets are issued to cut manual errors.</a:t>
            </a:r>
            <a:endParaRPr lang="en-US" sz="1875" dirty="0"/>
          </a:p>
        </p:txBody>
      </p:sp>
      <p:sp>
        <p:nvSpPr>
          <p:cNvPr id="27" name="Shape 25"/>
          <p:cNvSpPr/>
          <p:nvPr/>
        </p:nvSpPr>
        <p:spPr>
          <a:xfrm>
            <a:off x="1143000" y="6636469"/>
            <a:ext cx="1028700" cy="9525"/>
          </a:xfrm>
          <a:prstGeom prst="rect">
            <a:avLst/>
          </a:prstGeom>
          <a:solidFill>
            <a:srgbClr val="111111"/>
          </a:solidFill>
          <a:ln/>
        </p:spPr>
        <p:txBody>
          <a:bodyPr/>
          <a:lstStyle/>
          <a:p>
            <a:endParaRPr lang="en-US"/>
          </a:p>
        </p:txBody>
      </p:sp>
      <p:sp>
        <p:nvSpPr>
          <p:cNvPr id="28" name="Text 26"/>
          <p:cNvSpPr/>
          <p:nvPr/>
        </p:nvSpPr>
        <p:spPr>
          <a:xfrm>
            <a:off x="1371600" y="5955432"/>
            <a:ext cx="647700" cy="547688"/>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04</a:t>
            </a:r>
            <a:endParaRPr lang="en-US" sz="2250" dirty="0"/>
          </a:p>
        </p:txBody>
      </p:sp>
      <p:sp>
        <p:nvSpPr>
          <p:cNvPr id="29" name="Shape 27"/>
          <p:cNvSpPr/>
          <p:nvPr/>
        </p:nvSpPr>
        <p:spPr>
          <a:xfrm>
            <a:off x="2171700" y="6636469"/>
            <a:ext cx="4480545" cy="9525"/>
          </a:xfrm>
          <a:prstGeom prst="rect">
            <a:avLst/>
          </a:prstGeom>
          <a:solidFill>
            <a:srgbClr val="111111"/>
          </a:solidFill>
          <a:ln/>
        </p:spPr>
        <p:txBody>
          <a:bodyPr/>
          <a:lstStyle/>
          <a:p>
            <a:endParaRPr lang="en-US"/>
          </a:p>
        </p:txBody>
      </p:sp>
      <p:sp>
        <p:nvSpPr>
          <p:cNvPr id="30" name="Text 28"/>
          <p:cNvSpPr/>
          <p:nvPr/>
        </p:nvSpPr>
        <p:spPr>
          <a:xfrm>
            <a:off x="2400300" y="5970280"/>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Cleaner invoicing</a:t>
            </a:r>
            <a:endParaRPr lang="en-US" sz="2550" dirty="0"/>
          </a:p>
        </p:txBody>
      </p:sp>
      <p:sp>
        <p:nvSpPr>
          <p:cNvPr id="31" name="Shape 29"/>
          <p:cNvSpPr/>
          <p:nvPr/>
        </p:nvSpPr>
        <p:spPr>
          <a:xfrm>
            <a:off x="6652245" y="6636469"/>
            <a:ext cx="10492755" cy="9525"/>
          </a:xfrm>
          <a:prstGeom prst="rect">
            <a:avLst/>
          </a:prstGeom>
          <a:solidFill>
            <a:srgbClr val="111111"/>
          </a:solidFill>
          <a:ln/>
        </p:spPr>
        <p:txBody>
          <a:bodyPr/>
          <a:lstStyle/>
          <a:p>
            <a:endParaRPr lang="en-US"/>
          </a:p>
        </p:txBody>
      </p:sp>
      <p:sp>
        <p:nvSpPr>
          <p:cNvPr id="32" name="Text 30"/>
          <p:cNvSpPr/>
          <p:nvPr/>
        </p:nvSpPr>
        <p:spPr>
          <a:xfrm>
            <a:off x="6880845" y="5822082"/>
            <a:ext cx="10350338"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Standard land and air invoice formats with inclusions, exclusions, and payment schedules spelled out every time.</a:t>
            </a:r>
            <a:endParaRPr lang="en-US" sz="1875" dirty="0"/>
          </a:p>
        </p:txBody>
      </p:sp>
      <p:sp>
        <p:nvSpPr>
          <p:cNvPr id="33" name="Shape 31"/>
          <p:cNvSpPr/>
          <p:nvPr/>
        </p:nvSpPr>
        <p:spPr>
          <a:xfrm>
            <a:off x="1143000" y="7631832"/>
            <a:ext cx="1028700" cy="9525"/>
          </a:xfrm>
          <a:prstGeom prst="rect">
            <a:avLst/>
          </a:prstGeom>
          <a:solidFill>
            <a:srgbClr val="111111"/>
          </a:solidFill>
          <a:ln/>
        </p:spPr>
        <p:txBody>
          <a:bodyPr/>
          <a:lstStyle/>
          <a:p>
            <a:endParaRPr lang="en-US"/>
          </a:p>
        </p:txBody>
      </p:sp>
      <p:sp>
        <p:nvSpPr>
          <p:cNvPr id="34" name="Text 32"/>
          <p:cNvSpPr/>
          <p:nvPr/>
        </p:nvSpPr>
        <p:spPr>
          <a:xfrm>
            <a:off x="1371600" y="6950794"/>
            <a:ext cx="647700" cy="547688"/>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05</a:t>
            </a:r>
            <a:endParaRPr lang="en-US" sz="2250" dirty="0"/>
          </a:p>
        </p:txBody>
      </p:sp>
      <p:sp>
        <p:nvSpPr>
          <p:cNvPr id="35" name="Shape 33"/>
          <p:cNvSpPr/>
          <p:nvPr/>
        </p:nvSpPr>
        <p:spPr>
          <a:xfrm>
            <a:off x="2171700" y="7631832"/>
            <a:ext cx="4480545" cy="9525"/>
          </a:xfrm>
          <a:prstGeom prst="rect">
            <a:avLst/>
          </a:prstGeom>
          <a:solidFill>
            <a:srgbClr val="111111"/>
          </a:solidFill>
          <a:ln/>
        </p:spPr>
        <p:txBody>
          <a:bodyPr/>
          <a:lstStyle/>
          <a:p>
            <a:endParaRPr lang="en-US"/>
          </a:p>
        </p:txBody>
      </p:sp>
      <p:sp>
        <p:nvSpPr>
          <p:cNvPr id="36" name="Text 34"/>
          <p:cNvSpPr/>
          <p:nvPr/>
        </p:nvSpPr>
        <p:spPr>
          <a:xfrm>
            <a:off x="2400300" y="6965643"/>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Contract discipline</a:t>
            </a:r>
            <a:endParaRPr lang="en-US" sz="2550" dirty="0"/>
          </a:p>
        </p:txBody>
      </p:sp>
      <p:sp>
        <p:nvSpPr>
          <p:cNvPr id="37" name="Shape 35"/>
          <p:cNvSpPr/>
          <p:nvPr/>
        </p:nvSpPr>
        <p:spPr>
          <a:xfrm>
            <a:off x="6652245" y="7631832"/>
            <a:ext cx="10492755" cy="9525"/>
          </a:xfrm>
          <a:prstGeom prst="rect">
            <a:avLst/>
          </a:prstGeom>
          <a:solidFill>
            <a:srgbClr val="111111"/>
          </a:solidFill>
          <a:ln/>
        </p:spPr>
        <p:txBody>
          <a:bodyPr/>
          <a:lstStyle/>
          <a:p>
            <a:endParaRPr lang="en-US"/>
          </a:p>
        </p:txBody>
      </p:sp>
      <p:sp>
        <p:nvSpPr>
          <p:cNvPr id="38" name="Text 36"/>
          <p:cNvSpPr/>
          <p:nvPr/>
        </p:nvSpPr>
        <p:spPr>
          <a:xfrm>
            <a:off x="6880845" y="6817444"/>
            <a:ext cx="10350338"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Consistent client T&amp;Cs plus active tracking of airline contract deadlines so nothing expensive slips through.</a:t>
            </a:r>
            <a:endParaRPr lang="en-US" sz="1875" dirty="0"/>
          </a:p>
        </p:txBody>
      </p:sp>
      <p:sp>
        <p:nvSpPr>
          <p:cNvPr id="39" name="Shape 37"/>
          <p:cNvSpPr/>
          <p:nvPr/>
        </p:nvSpPr>
        <p:spPr>
          <a:xfrm>
            <a:off x="1143000" y="8627194"/>
            <a:ext cx="1028700" cy="9525"/>
          </a:xfrm>
          <a:prstGeom prst="rect">
            <a:avLst/>
          </a:prstGeom>
          <a:solidFill>
            <a:srgbClr val="111111"/>
          </a:solidFill>
          <a:ln/>
        </p:spPr>
        <p:txBody>
          <a:bodyPr/>
          <a:lstStyle/>
          <a:p>
            <a:endParaRPr lang="en-US"/>
          </a:p>
        </p:txBody>
      </p:sp>
      <p:sp>
        <p:nvSpPr>
          <p:cNvPr id="40" name="Text 38"/>
          <p:cNvSpPr/>
          <p:nvPr/>
        </p:nvSpPr>
        <p:spPr>
          <a:xfrm>
            <a:off x="1371600" y="7946157"/>
            <a:ext cx="647700" cy="547688"/>
          </a:xfrm>
          <a:prstGeom prst="rect">
            <a:avLst/>
          </a:prstGeom>
          <a:noFill/>
          <a:ln/>
        </p:spPr>
        <p:txBody>
          <a:bodyPr wrap="square" lIns="25400" tIns="25400" rIns="25400" bIns="25400" rtlCol="0" anchor="t">
            <a:normAutofit/>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06</a:t>
            </a:r>
            <a:endParaRPr lang="en-US" sz="2250" dirty="0"/>
          </a:p>
        </p:txBody>
      </p:sp>
      <p:sp>
        <p:nvSpPr>
          <p:cNvPr id="41" name="Shape 39"/>
          <p:cNvSpPr/>
          <p:nvPr/>
        </p:nvSpPr>
        <p:spPr>
          <a:xfrm>
            <a:off x="2171700" y="8627194"/>
            <a:ext cx="4480545" cy="9525"/>
          </a:xfrm>
          <a:prstGeom prst="rect">
            <a:avLst/>
          </a:prstGeom>
          <a:solidFill>
            <a:srgbClr val="111111"/>
          </a:solidFill>
          <a:ln/>
        </p:spPr>
        <p:txBody>
          <a:bodyPr/>
          <a:lstStyle/>
          <a:p>
            <a:endParaRPr lang="en-US"/>
          </a:p>
        </p:txBody>
      </p:sp>
      <p:sp>
        <p:nvSpPr>
          <p:cNvPr id="42" name="Text 40"/>
          <p:cNvSpPr/>
          <p:nvPr/>
        </p:nvSpPr>
        <p:spPr>
          <a:xfrm>
            <a:off x="2400300" y="7961005"/>
            <a:ext cx="4144045" cy="3943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b="1" kern="0" spc="-37" dirty="0">
                <a:solidFill>
                  <a:srgbClr val="000000"/>
                </a:solidFill>
                <a:latin typeface="Playfair Display" pitchFamily="34" charset="0"/>
                <a:ea typeface="Playfair Display" pitchFamily="34" charset="-122"/>
                <a:cs typeface="Playfair Display" pitchFamily="34" charset="-120"/>
              </a:rPr>
              <a:t>Workflow automation</a:t>
            </a:r>
            <a:endParaRPr lang="en-US" sz="2550" dirty="0"/>
          </a:p>
        </p:txBody>
      </p:sp>
      <p:sp>
        <p:nvSpPr>
          <p:cNvPr id="43" name="Shape 41"/>
          <p:cNvSpPr/>
          <p:nvPr/>
        </p:nvSpPr>
        <p:spPr>
          <a:xfrm>
            <a:off x="6652245" y="8627194"/>
            <a:ext cx="10492755" cy="9525"/>
          </a:xfrm>
          <a:prstGeom prst="rect">
            <a:avLst/>
          </a:prstGeom>
          <a:solidFill>
            <a:srgbClr val="111111"/>
          </a:solidFill>
          <a:ln/>
        </p:spPr>
        <p:txBody>
          <a:bodyPr/>
          <a:lstStyle/>
          <a:p>
            <a:endParaRPr lang="en-US"/>
          </a:p>
        </p:txBody>
      </p:sp>
      <p:sp>
        <p:nvSpPr>
          <p:cNvPr id="44" name="Text 42"/>
          <p:cNvSpPr/>
          <p:nvPr/>
        </p:nvSpPr>
        <p:spPr>
          <a:xfrm>
            <a:off x="6880845" y="7812807"/>
            <a:ext cx="10350338"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Standardized intake for new university requests and automated payment notifications tied to the accounting database.</a:t>
            </a:r>
            <a:endParaRPr lang="en-US" sz="1875" dirty="0"/>
          </a:p>
        </p:txBody>
      </p:sp>
      <p:sp>
        <p:nvSpPr>
          <p:cNvPr id="45" name="Text 43"/>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F7983C65-E848-8A48-B9C3-50C6B6A8D83D}"/>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06 / 23</a:t>
            </a:r>
          </a:p>
        </p:txBody>
      </p:sp>
    </p:spTree>
    <p:extLst>
      <p:ext uri="{BB962C8B-B14F-4D97-AF65-F5344CB8AC3E}">
        <p14:creationId xmlns:p14="http://schemas.microsoft.com/office/powerpoint/2010/main" val="1101198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You get </a:t>
            </a:r>
            <a:r>
              <a:rPr lang="en-US" sz="4800" b="1" i="1" kern="0" spc="-112" dirty="0">
                <a:solidFill>
                  <a:srgbClr val="04CCBA"/>
                </a:solidFill>
                <a:latin typeface="Playfair Display" pitchFamily="34" charset="0"/>
                <a:ea typeface="Playfair Display" pitchFamily="34" charset="-122"/>
                <a:cs typeface="Playfair Display" pitchFamily="34" charset="-120"/>
              </a:rPr>
              <a:t>one </a:t>
            </a:r>
            <a:r>
              <a:rPr lang="en-US" sz="4800" b="1" kern="0" spc="-112" dirty="0">
                <a:solidFill>
                  <a:srgbClr val="000000"/>
                </a:solidFill>
                <a:latin typeface="Playfair Display" pitchFamily="34" charset="0"/>
                <a:ea typeface="Playfair Display" pitchFamily="34" charset="-122"/>
                <a:cs typeface="Playfair Display" pitchFamily="34" charset="-120"/>
              </a:rPr>
              <a:t>AI tool. We chose Claude on purpose.</a:t>
            </a:r>
            <a:endParaRPr lang="en-US" sz="4800" dirty="0"/>
          </a:p>
        </p:txBody>
      </p:sp>
      <p:sp>
        <p:nvSpPr>
          <p:cNvPr id="4" name="Text 2"/>
          <p:cNvSpPr/>
          <p:nvPr/>
        </p:nvSpPr>
        <p:spPr>
          <a:xfrm>
            <a:off x="1143000" y="2087835"/>
            <a:ext cx="13735050" cy="1085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000000"/>
                </a:solidFill>
                <a:latin typeface="Libre Baskerville" pitchFamily="34" charset="0"/>
                <a:ea typeface="Libre Baskerville" pitchFamily="34" charset="-122"/>
                <a:cs typeface="Libre Baskerville" pitchFamily="34" charset="-120"/>
              </a:rPr>
              <a:t>Claude is built for work that has to be right the first time. </a:t>
            </a:r>
          </a:p>
          <a:p>
            <a:pPr marL="0" indent="0" algn="l">
              <a:lnSpc>
                <a:spcPct val="125000"/>
              </a:lnSpc>
              <a:buNone/>
            </a:pPr>
            <a:r>
              <a:rPr lang="en-US" sz="3300" i="1" dirty="0">
                <a:solidFill>
                  <a:srgbClr val="000000"/>
                </a:solidFill>
                <a:latin typeface="Libre Baskerville" pitchFamily="34" charset="0"/>
                <a:ea typeface="Libre Baskerville" pitchFamily="34" charset="-122"/>
                <a:cs typeface="Libre Baskerville" pitchFamily="34" charset="-120"/>
              </a:rPr>
              <a:t>Client emails. Contracts. Passenger data. Invoices.</a:t>
            </a:r>
            <a:endParaRPr lang="en-US" sz="3300" dirty="0"/>
          </a:p>
        </p:txBody>
      </p:sp>
      <p:sp>
        <p:nvSpPr>
          <p:cNvPr id="5" name="Shape 3"/>
          <p:cNvSpPr/>
          <p:nvPr/>
        </p:nvSpPr>
        <p:spPr>
          <a:xfrm>
            <a:off x="1143000" y="3610720"/>
            <a:ext cx="16002000" cy="5436915"/>
          </a:xfrm>
          <a:prstGeom prst="rect">
            <a:avLst/>
          </a:prstGeom>
          <a:solidFill>
            <a:srgbClr val="111111"/>
          </a:solidFill>
          <a:ln w="9525">
            <a:solidFill>
              <a:srgbClr val="111111"/>
            </a:solidFill>
            <a:prstDash val="solid"/>
          </a:ln>
        </p:spPr>
        <p:txBody>
          <a:bodyPr/>
          <a:lstStyle/>
          <a:p>
            <a:endParaRPr lang="en-US"/>
          </a:p>
        </p:txBody>
      </p:sp>
      <p:sp>
        <p:nvSpPr>
          <p:cNvPr id="6" name="Shape 4"/>
          <p:cNvSpPr/>
          <p:nvPr/>
        </p:nvSpPr>
        <p:spPr>
          <a:xfrm>
            <a:off x="1152525" y="3620245"/>
            <a:ext cx="5321275" cy="5417865"/>
          </a:xfrm>
          <a:prstGeom prst="rect">
            <a:avLst/>
          </a:prstGeom>
          <a:solidFill>
            <a:srgbClr val="FFFFFF"/>
          </a:solidFill>
          <a:ln/>
        </p:spPr>
        <p:txBody>
          <a:bodyPr/>
          <a:lstStyle/>
          <a:p>
            <a:endParaRPr lang="en-US"/>
          </a:p>
        </p:txBody>
      </p:sp>
      <p:sp>
        <p:nvSpPr>
          <p:cNvPr id="7" name="Text 5"/>
          <p:cNvSpPr/>
          <p:nvPr/>
        </p:nvSpPr>
        <p:spPr>
          <a:xfrm>
            <a:off x="1533525" y="400124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ACCURACY</a:t>
            </a:r>
            <a:endParaRPr lang="en-US" sz="1875" dirty="0"/>
          </a:p>
        </p:txBody>
      </p:sp>
      <p:sp>
        <p:nvSpPr>
          <p:cNvPr id="8" name="Text 6"/>
          <p:cNvSpPr/>
          <p:nvPr/>
        </p:nvSpPr>
        <p:spPr>
          <a:xfrm>
            <a:off x="1533525" y="4539408"/>
            <a:ext cx="4696053" cy="1358131"/>
          </a:xfrm>
          <a:prstGeom prst="rect">
            <a:avLst/>
          </a:prstGeom>
          <a:noFill/>
          <a:ln/>
        </p:spPr>
        <p:txBody>
          <a:bodyPr wrap="square" lIns="25400" tIns="25400" rIns="25400" bIns="25400" rtlCol="0" anchor="t">
            <a:normAutofit/>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Lowest hallucination rate of any major model.</a:t>
            </a:r>
            <a:endParaRPr lang="en-US" sz="3300" dirty="0"/>
          </a:p>
        </p:txBody>
      </p:sp>
      <p:sp>
        <p:nvSpPr>
          <p:cNvPr id="9" name="Text 7"/>
          <p:cNvSpPr/>
          <p:nvPr/>
        </p:nvSpPr>
        <p:spPr>
          <a:xfrm>
            <a:off x="1533525" y="6278539"/>
            <a:ext cx="4696053" cy="1809527"/>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800" dirty="0">
                <a:solidFill>
                  <a:srgbClr val="000000"/>
                </a:solidFill>
                <a:latin typeface="Libre Baskerville" pitchFamily="34" charset="0"/>
                <a:ea typeface="Libre Baskerville" pitchFamily="34" charset="-122"/>
                <a:cs typeface="Libre Baskerville" pitchFamily="34" charset="-120"/>
              </a:rPr>
              <a:t>Claude is engineered to say "I don't know" instead of guessing. For a business built on itineraries and contracts, that matters more than speed.</a:t>
            </a:r>
            <a:endParaRPr lang="en-US" sz="1800" dirty="0"/>
          </a:p>
        </p:txBody>
      </p:sp>
      <p:sp>
        <p:nvSpPr>
          <p:cNvPr id="10" name="Shape 8"/>
          <p:cNvSpPr/>
          <p:nvPr/>
        </p:nvSpPr>
        <p:spPr>
          <a:xfrm>
            <a:off x="6483325" y="3620245"/>
            <a:ext cx="5321275" cy="5417865"/>
          </a:xfrm>
          <a:prstGeom prst="rect">
            <a:avLst/>
          </a:prstGeom>
          <a:solidFill>
            <a:srgbClr val="FFFFFF"/>
          </a:solidFill>
          <a:ln/>
        </p:spPr>
        <p:txBody>
          <a:bodyPr/>
          <a:lstStyle/>
          <a:p>
            <a:endParaRPr lang="en-US"/>
          </a:p>
        </p:txBody>
      </p:sp>
      <p:sp>
        <p:nvSpPr>
          <p:cNvPr id="11" name="Text 9"/>
          <p:cNvSpPr/>
          <p:nvPr/>
        </p:nvSpPr>
        <p:spPr>
          <a:xfrm>
            <a:off x="6864325" y="400124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TONE</a:t>
            </a:r>
            <a:endParaRPr lang="en-US" sz="1875" dirty="0"/>
          </a:p>
        </p:txBody>
      </p:sp>
      <p:sp>
        <p:nvSpPr>
          <p:cNvPr id="12" name="Text 10"/>
          <p:cNvSpPr/>
          <p:nvPr/>
        </p:nvSpPr>
        <p:spPr>
          <a:xfrm>
            <a:off x="6864325" y="4539408"/>
            <a:ext cx="4696053" cy="135813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Writes like a professional. Not a chatbot.</a:t>
            </a:r>
            <a:endParaRPr lang="en-US" sz="3300" dirty="0"/>
          </a:p>
        </p:txBody>
      </p:sp>
      <p:sp>
        <p:nvSpPr>
          <p:cNvPr id="13" name="Text 11"/>
          <p:cNvSpPr/>
          <p:nvPr/>
        </p:nvSpPr>
        <p:spPr>
          <a:xfrm>
            <a:off x="6864325" y="6278539"/>
            <a:ext cx="4696053" cy="1455241"/>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00000"/>
                </a:solidFill>
                <a:latin typeface="Libre Baskerville" pitchFamily="34" charset="0"/>
                <a:ea typeface="Libre Baskerville" pitchFamily="34" charset="-122"/>
                <a:cs typeface="Libre Baskerville" pitchFamily="34" charset="-120"/>
              </a:rPr>
              <a:t>Independent evaluations consistently rank Claude first on written English. No emoji spam. No "Certainly! Here is." Client-ready on the first pass.</a:t>
            </a:r>
            <a:endParaRPr lang="en-US" sz="1800" dirty="0"/>
          </a:p>
        </p:txBody>
      </p:sp>
      <p:sp>
        <p:nvSpPr>
          <p:cNvPr id="14" name="Shape 12"/>
          <p:cNvSpPr/>
          <p:nvPr/>
        </p:nvSpPr>
        <p:spPr>
          <a:xfrm>
            <a:off x="11814125" y="3620245"/>
            <a:ext cx="5321350" cy="5417865"/>
          </a:xfrm>
          <a:prstGeom prst="rect">
            <a:avLst/>
          </a:prstGeom>
          <a:solidFill>
            <a:srgbClr val="FFFFFF"/>
          </a:solidFill>
          <a:ln/>
        </p:spPr>
        <p:txBody>
          <a:bodyPr/>
          <a:lstStyle/>
          <a:p>
            <a:endParaRPr lang="en-US"/>
          </a:p>
        </p:txBody>
      </p:sp>
      <p:sp>
        <p:nvSpPr>
          <p:cNvPr id="15" name="Text 13"/>
          <p:cNvSpPr/>
          <p:nvPr/>
        </p:nvSpPr>
        <p:spPr>
          <a:xfrm>
            <a:off x="12195125" y="4001245"/>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SECURITY</a:t>
            </a:r>
            <a:endParaRPr lang="en-US" sz="1875" dirty="0"/>
          </a:p>
        </p:txBody>
      </p:sp>
      <p:sp>
        <p:nvSpPr>
          <p:cNvPr id="16" name="Text 14"/>
          <p:cNvSpPr/>
          <p:nvPr/>
        </p:nvSpPr>
        <p:spPr>
          <a:xfrm>
            <a:off x="12195125" y="4539408"/>
            <a:ext cx="4696130" cy="91812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Your data is not used to train the model.</a:t>
            </a:r>
            <a:endParaRPr lang="en-US" sz="3300" dirty="0"/>
          </a:p>
        </p:txBody>
      </p:sp>
      <p:sp>
        <p:nvSpPr>
          <p:cNvPr id="17" name="Text 15"/>
          <p:cNvSpPr/>
          <p:nvPr/>
        </p:nvSpPr>
        <p:spPr>
          <a:xfrm>
            <a:off x="12195125" y="5838529"/>
            <a:ext cx="4696130" cy="1455241"/>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00000"/>
                </a:solidFill>
                <a:latin typeface="Libre Baskerville" pitchFamily="34" charset="0"/>
                <a:ea typeface="Libre Baskerville" pitchFamily="34" charset="-122"/>
                <a:cs typeface="Libre Baskerville" pitchFamily="34" charset="-120"/>
              </a:rPr>
              <a:t>Enterprise plans include SSO, audit logs, and zero-retention. Passenger PII, payment details, and airline contracts stay in your tenant.</a:t>
            </a:r>
            <a:endParaRPr lang="en-US" sz="1800" dirty="0"/>
          </a:p>
        </p:txBody>
      </p:sp>
      <p:sp>
        <p:nvSpPr>
          <p:cNvPr id="18" name="Text 16"/>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A9EE92AE-C63A-B94B-88D0-2769FC7DB7D9}"/>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03 / 23</a:t>
            </a:r>
          </a:p>
        </p:txBody>
      </p:sp>
    </p:spTree>
    <p:extLst>
      <p:ext uri="{BB962C8B-B14F-4D97-AF65-F5344CB8AC3E}">
        <p14:creationId xmlns:p14="http://schemas.microsoft.com/office/powerpoint/2010/main" val="10802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Three surfaces. Know which one you are in.</a:t>
            </a:r>
            <a:endParaRPr lang="en-US" sz="4800" dirty="0"/>
          </a:p>
        </p:txBody>
      </p:sp>
      <p:sp>
        <p:nvSpPr>
          <p:cNvPr id="4" name="Shape 2"/>
          <p:cNvSpPr/>
          <p:nvPr/>
        </p:nvSpPr>
        <p:spPr>
          <a:xfrm>
            <a:off x="1143000" y="2316435"/>
            <a:ext cx="16002000" cy="7018065"/>
          </a:xfrm>
          <a:prstGeom prst="rect">
            <a:avLst/>
          </a:prstGeom>
          <a:solidFill>
            <a:srgbClr val="111111"/>
          </a:solidFill>
          <a:ln w="9525">
            <a:solidFill>
              <a:srgbClr val="111111"/>
            </a:solidFill>
            <a:prstDash val="solid"/>
          </a:ln>
        </p:spPr>
        <p:txBody>
          <a:bodyPr/>
          <a:lstStyle/>
          <a:p>
            <a:endParaRPr lang="en-US"/>
          </a:p>
        </p:txBody>
      </p:sp>
      <p:sp>
        <p:nvSpPr>
          <p:cNvPr id="5" name="Shape 3"/>
          <p:cNvSpPr/>
          <p:nvPr/>
        </p:nvSpPr>
        <p:spPr>
          <a:xfrm>
            <a:off x="1152525" y="2325960"/>
            <a:ext cx="5321275" cy="6999015"/>
          </a:xfrm>
          <a:prstGeom prst="rect">
            <a:avLst/>
          </a:prstGeom>
          <a:solidFill>
            <a:srgbClr val="FFFFFF"/>
          </a:solidFill>
          <a:ln/>
        </p:spPr>
        <p:txBody>
          <a:bodyPr/>
          <a:lstStyle/>
          <a:p>
            <a:endParaRPr lang="en-US"/>
          </a:p>
        </p:txBody>
      </p:sp>
      <p:sp>
        <p:nvSpPr>
          <p:cNvPr id="6" name="Text 4"/>
          <p:cNvSpPr/>
          <p:nvPr/>
        </p:nvSpPr>
        <p:spPr>
          <a:xfrm>
            <a:off x="1533525" y="2706960"/>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Ping Pong</a:t>
            </a:r>
            <a:endParaRPr lang="en-US" sz="1875" dirty="0"/>
          </a:p>
        </p:txBody>
      </p:sp>
      <p:sp>
        <p:nvSpPr>
          <p:cNvPr id="7" name="Text 5"/>
          <p:cNvSpPr/>
          <p:nvPr/>
        </p:nvSpPr>
        <p:spPr>
          <a:xfrm>
            <a:off x="1533525" y="3245123"/>
            <a:ext cx="4696053"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Chat</a:t>
            </a:r>
            <a:endParaRPr lang="en-US" sz="3300" dirty="0"/>
          </a:p>
        </p:txBody>
      </p:sp>
      <p:sp>
        <p:nvSpPr>
          <p:cNvPr id="8" name="Text 6"/>
          <p:cNvSpPr/>
          <p:nvPr/>
        </p:nvSpPr>
        <p:spPr>
          <a:xfrm>
            <a:off x="1533525" y="3875633"/>
            <a:ext cx="4696053" cy="1152525"/>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You ask. Claude answers. Everything stays in the chat window.</a:t>
            </a:r>
            <a:endParaRPr lang="en-US" sz="1950" dirty="0"/>
          </a:p>
        </p:txBody>
      </p:sp>
      <p:sp>
        <p:nvSpPr>
          <p:cNvPr id="9" name="Text 7"/>
          <p:cNvSpPr/>
          <p:nvPr/>
        </p:nvSpPr>
        <p:spPr>
          <a:xfrm>
            <a:off x="1533525" y="5494883"/>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FOR MILLENNIUM</a:t>
            </a:r>
            <a:endParaRPr lang="en-US" sz="1875" dirty="0"/>
          </a:p>
        </p:txBody>
      </p:sp>
      <p:sp>
        <p:nvSpPr>
          <p:cNvPr id="10" name="Text 8"/>
          <p:cNvSpPr/>
          <p:nvPr/>
        </p:nvSpPr>
        <p:spPr>
          <a:xfrm>
            <a:off x="1346835" y="6156871"/>
            <a:ext cx="4822165" cy="2286000"/>
          </a:xfrm>
          <a:prstGeom prst="rect">
            <a:avLst/>
          </a:prstGeom>
          <a:noFill/>
          <a:ln/>
        </p:spPr>
        <p:txBody>
          <a:bodyPr wrap="square" lIns="25400" tIns="25400" rIns="25400" bIns="25400" rtlCol="0" anchor="t">
            <a:normAutofit/>
          </a:bodyPr>
          <a:lstStyle/>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Client emails in Outlook</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Itineraries from scratch</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Airline hold requests</a:t>
            </a:r>
            <a:endParaRPr lang="en-US" sz="2100" dirty="0"/>
          </a:p>
        </p:txBody>
      </p:sp>
      <p:sp>
        <p:nvSpPr>
          <p:cNvPr id="11" name="Shape 9"/>
          <p:cNvSpPr/>
          <p:nvPr/>
        </p:nvSpPr>
        <p:spPr>
          <a:xfrm>
            <a:off x="6483325" y="2325960"/>
            <a:ext cx="5321275" cy="6999015"/>
          </a:xfrm>
          <a:prstGeom prst="rect">
            <a:avLst/>
          </a:prstGeom>
          <a:solidFill>
            <a:srgbClr val="FFFFFF"/>
          </a:solidFill>
          <a:ln/>
        </p:spPr>
        <p:txBody>
          <a:bodyPr/>
          <a:lstStyle/>
          <a:p>
            <a:endParaRPr lang="en-US"/>
          </a:p>
        </p:txBody>
      </p:sp>
      <p:sp>
        <p:nvSpPr>
          <p:cNvPr id="12" name="Text 10"/>
          <p:cNvSpPr/>
          <p:nvPr/>
        </p:nvSpPr>
        <p:spPr>
          <a:xfrm>
            <a:off x="6864325" y="2706960"/>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Action</a:t>
            </a:r>
            <a:endParaRPr lang="en-US" sz="1875" dirty="0"/>
          </a:p>
        </p:txBody>
      </p:sp>
      <p:sp>
        <p:nvSpPr>
          <p:cNvPr id="13" name="Text 11"/>
          <p:cNvSpPr/>
          <p:nvPr/>
        </p:nvSpPr>
        <p:spPr>
          <a:xfrm>
            <a:off x="6864325" y="3245123"/>
            <a:ext cx="4696053"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Cowork</a:t>
            </a:r>
            <a:endParaRPr lang="en-US" sz="3300" dirty="0"/>
          </a:p>
        </p:txBody>
      </p:sp>
      <p:sp>
        <p:nvSpPr>
          <p:cNvPr id="14" name="Text 12"/>
          <p:cNvSpPr/>
          <p:nvPr/>
        </p:nvSpPr>
        <p:spPr>
          <a:xfrm>
            <a:off x="6864325" y="3875633"/>
            <a:ext cx="4696053"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Claude works inside your real OneDrive folders. It creates files, not just text.</a:t>
            </a:r>
            <a:endParaRPr lang="en-US" sz="1950" dirty="0"/>
          </a:p>
        </p:txBody>
      </p:sp>
      <p:sp>
        <p:nvSpPr>
          <p:cNvPr id="15" name="Text 13"/>
          <p:cNvSpPr/>
          <p:nvPr/>
        </p:nvSpPr>
        <p:spPr>
          <a:xfrm>
            <a:off x="6864325" y="5494883"/>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FOR MILLENNIUM</a:t>
            </a:r>
            <a:endParaRPr lang="en-US" sz="1875" dirty="0"/>
          </a:p>
        </p:txBody>
      </p:sp>
      <p:sp>
        <p:nvSpPr>
          <p:cNvPr id="16" name="Text 14"/>
          <p:cNvSpPr/>
          <p:nvPr/>
        </p:nvSpPr>
        <p:spPr>
          <a:xfrm>
            <a:off x="6677635" y="6156871"/>
            <a:ext cx="4822165" cy="2286000"/>
          </a:xfrm>
          <a:prstGeom prst="rect">
            <a:avLst/>
          </a:prstGeom>
          <a:noFill/>
          <a:ln/>
        </p:spPr>
        <p:txBody>
          <a:bodyPr wrap="square" lIns="25400" tIns="25400" rIns="25400" bIns="25400" rtlCol="0" anchor="t">
            <a:normAutofit/>
          </a:bodyPr>
          <a:lstStyle/>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Processing invoice folders</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Building Word reports</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Organising trip documents</a:t>
            </a:r>
            <a:endParaRPr lang="en-US" sz="2100" dirty="0"/>
          </a:p>
        </p:txBody>
      </p:sp>
      <p:sp>
        <p:nvSpPr>
          <p:cNvPr id="17" name="Shape 15"/>
          <p:cNvSpPr/>
          <p:nvPr/>
        </p:nvSpPr>
        <p:spPr>
          <a:xfrm>
            <a:off x="11814125" y="2325960"/>
            <a:ext cx="5321350" cy="6999015"/>
          </a:xfrm>
          <a:prstGeom prst="rect">
            <a:avLst/>
          </a:prstGeom>
          <a:solidFill>
            <a:srgbClr val="FAFAF9"/>
          </a:solidFill>
          <a:ln/>
        </p:spPr>
        <p:txBody>
          <a:bodyPr/>
          <a:lstStyle/>
          <a:p>
            <a:endParaRPr lang="en-US"/>
          </a:p>
        </p:txBody>
      </p:sp>
      <p:sp>
        <p:nvSpPr>
          <p:cNvPr id="18" name="Text 16"/>
          <p:cNvSpPr/>
          <p:nvPr/>
        </p:nvSpPr>
        <p:spPr>
          <a:xfrm>
            <a:off x="12195125" y="2706960"/>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Build</a:t>
            </a:r>
            <a:endParaRPr lang="en-US" sz="1875" dirty="0"/>
          </a:p>
        </p:txBody>
      </p:sp>
      <p:sp>
        <p:nvSpPr>
          <p:cNvPr id="19" name="Text 17"/>
          <p:cNvSpPr/>
          <p:nvPr/>
        </p:nvSpPr>
        <p:spPr>
          <a:xfrm>
            <a:off x="12195125" y="3245123"/>
            <a:ext cx="4696130"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Code</a:t>
            </a:r>
            <a:endParaRPr lang="en-US" sz="3300" dirty="0"/>
          </a:p>
        </p:txBody>
      </p:sp>
      <p:sp>
        <p:nvSpPr>
          <p:cNvPr id="20" name="Text 18"/>
          <p:cNvSpPr/>
          <p:nvPr/>
        </p:nvSpPr>
        <p:spPr>
          <a:xfrm>
            <a:off x="12195125" y="3875633"/>
            <a:ext cx="4696130"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After you've mastered Cowork, Code is where you build custom tools for the agency.</a:t>
            </a:r>
            <a:endParaRPr lang="en-US" sz="1950" dirty="0"/>
          </a:p>
        </p:txBody>
      </p:sp>
      <p:sp>
        <p:nvSpPr>
          <p:cNvPr id="21" name="Text 19"/>
          <p:cNvSpPr/>
          <p:nvPr/>
        </p:nvSpPr>
        <p:spPr>
          <a:xfrm>
            <a:off x="12195125" y="5494883"/>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FOR MILLENNIUM · LATER</a:t>
            </a:r>
            <a:endParaRPr lang="en-US" sz="1875" dirty="0"/>
          </a:p>
        </p:txBody>
      </p:sp>
      <p:sp>
        <p:nvSpPr>
          <p:cNvPr id="22" name="Text 20"/>
          <p:cNvSpPr/>
          <p:nvPr/>
        </p:nvSpPr>
        <p:spPr>
          <a:xfrm>
            <a:off x="12008435" y="6156871"/>
            <a:ext cx="4822240" cy="3086100"/>
          </a:xfrm>
          <a:prstGeom prst="rect">
            <a:avLst/>
          </a:prstGeom>
          <a:noFill/>
          <a:ln/>
        </p:spPr>
        <p:txBody>
          <a:bodyPr wrap="square" lIns="25400" tIns="25400" rIns="25400" bIns="25400" rtlCol="0" anchor="t">
            <a:normAutofit/>
          </a:bodyPr>
          <a:lstStyle/>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A custom Trip Tracker app</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One-click client report builders</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Automations only Millennium needs</a:t>
            </a:r>
            <a:endParaRPr lang="en-US" sz="2100" dirty="0"/>
          </a:p>
        </p:txBody>
      </p:sp>
      <p:sp>
        <p:nvSpPr>
          <p:cNvPr id="23" name="Text 21"/>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F0D922F0-EA97-EF45-B982-542EF9CEA346}"/>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04 / 23</a:t>
            </a:r>
          </a:p>
        </p:txBody>
      </p:sp>
    </p:spTree>
    <p:extLst>
      <p:ext uri="{BB962C8B-B14F-4D97-AF65-F5344CB8AC3E}">
        <p14:creationId xmlns:p14="http://schemas.microsoft.com/office/powerpoint/2010/main" val="420813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11">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Four features worth knowing. Ignore the rest for now.</a:t>
            </a:r>
            <a:endParaRPr lang="en-US" sz="4800" dirty="0"/>
          </a:p>
        </p:txBody>
      </p:sp>
      <p:sp>
        <p:nvSpPr>
          <p:cNvPr id="4" name="Shape 2"/>
          <p:cNvSpPr/>
          <p:nvPr/>
        </p:nvSpPr>
        <p:spPr>
          <a:xfrm>
            <a:off x="1143000" y="1897335"/>
            <a:ext cx="16002000" cy="7437165"/>
          </a:xfrm>
          <a:prstGeom prst="rect">
            <a:avLst/>
          </a:prstGeom>
          <a:solidFill>
            <a:srgbClr val="111111"/>
          </a:solidFill>
          <a:ln w="9525">
            <a:solidFill>
              <a:srgbClr val="111111"/>
            </a:solidFill>
            <a:prstDash val="solid"/>
          </a:ln>
        </p:spPr>
        <p:txBody>
          <a:bodyPr/>
          <a:lstStyle/>
          <a:p>
            <a:endParaRPr lang="en-US"/>
          </a:p>
        </p:txBody>
      </p:sp>
      <p:sp>
        <p:nvSpPr>
          <p:cNvPr id="5" name="Shape 3"/>
          <p:cNvSpPr/>
          <p:nvPr/>
        </p:nvSpPr>
        <p:spPr>
          <a:xfrm>
            <a:off x="1152525" y="1906860"/>
            <a:ext cx="7986713" cy="3704258"/>
          </a:xfrm>
          <a:prstGeom prst="rect">
            <a:avLst/>
          </a:prstGeom>
          <a:solidFill>
            <a:srgbClr val="FFFFFF"/>
          </a:solidFill>
          <a:ln/>
        </p:spPr>
        <p:txBody>
          <a:bodyPr/>
          <a:lstStyle/>
          <a:p>
            <a:endParaRPr lang="en-US"/>
          </a:p>
        </p:txBody>
      </p:sp>
      <p:sp>
        <p:nvSpPr>
          <p:cNvPr id="6" name="Text 4"/>
          <p:cNvSpPr/>
          <p:nvPr/>
        </p:nvSpPr>
        <p:spPr>
          <a:xfrm>
            <a:off x="1533525" y="2249760"/>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PROJECTS</a:t>
            </a:r>
            <a:endParaRPr lang="en-US" sz="1875" dirty="0"/>
          </a:p>
        </p:txBody>
      </p:sp>
      <p:sp>
        <p:nvSpPr>
          <p:cNvPr id="7" name="Text 5"/>
          <p:cNvSpPr/>
          <p:nvPr/>
        </p:nvSpPr>
        <p:spPr>
          <a:xfrm>
            <a:off x="1533525" y="2787923"/>
            <a:ext cx="7441454" cy="39811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700" b="1" kern="0" spc="-37" dirty="0">
                <a:solidFill>
                  <a:srgbClr val="000000"/>
                </a:solidFill>
                <a:latin typeface="Playfair Display" pitchFamily="34" charset="0"/>
                <a:ea typeface="Playfair Display" pitchFamily="34" charset="-122"/>
                <a:cs typeface="Playfair Display" pitchFamily="34" charset="-120"/>
              </a:rPr>
              <a:t>A workspace that remembers you.</a:t>
            </a:r>
            <a:endParaRPr lang="en-US" sz="2700" dirty="0"/>
          </a:p>
        </p:txBody>
      </p:sp>
      <p:sp>
        <p:nvSpPr>
          <p:cNvPr id="8" name="Text 6"/>
          <p:cNvSpPr/>
          <p:nvPr/>
        </p:nvSpPr>
        <p:spPr>
          <a:xfrm>
            <a:off x="1533525" y="3547988"/>
            <a:ext cx="7441454" cy="687586"/>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dirty="0">
                <a:solidFill>
                  <a:srgbClr val="000000"/>
                </a:solidFill>
                <a:latin typeface="Libre Baskerville" pitchFamily="34" charset="0"/>
                <a:ea typeface="Libre Baskerville" pitchFamily="34" charset="-122"/>
                <a:cs typeface="Libre Baskerville" pitchFamily="34" charset="-120"/>
              </a:rPr>
              <a:t>Upload your templates, voice guide, and airline contracts once. Every chat starts already knowing Millennium.</a:t>
            </a:r>
            <a:endParaRPr lang="en-US" sz="1650" dirty="0"/>
          </a:p>
        </p:txBody>
      </p:sp>
      <p:sp>
        <p:nvSpPr>
          <p:cNvPr id="9" name="Text 7"/>
          <p:cNvSpPr/>
          <p:nvPr/>
        </p:nvSpPr>
        <p:spPr>
          <a:xfrm>
            <a:off x="1533525" y="4720530"/>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USE FOR: ALL WORK TASKS</a:t>
            </a:r>
            <a:endParaRPr lang="en-US" sz="1875" dirty="0"/>
          </a:p>
        </p:txBody>
      </p:sp>
      <p:sp>
        <p:nvSpPr>
          <p:cNvPr id="10" name="Shape 8"/>
          <p:cNvSpPr/>
          <p:nvPr/>
        </p:nvSpPr>
        <p:spPr>
          <a:xfrm>
            <a:off x="9148763" y="1906860"/>
            <a:ext cx="7986713" cy="3704258"/>
          </a:xfrm>
          <a:prstGeom prst="rect">
            <a:avLst/>
          </a:prstGeom>
          <a:solidFill>
            <a:srgbClr val="FFFFFF"/>
          </a:solidFill>
          <a:ln/>
        </p:spPr>
        <p:txBody>
          <a:bodyPr/>
          <a:lstStyle/>
          <a:p>
            <a:endParaRPr lang="en-US"/>
          </a:p>
        </p:txBody>
      </p:sp>
      <p:sp>
        <p:nvSpPr>
          <p:cNvPr id="11" name="Text 9"/>
          <p:cNvSpPr/>
          <p:nvPr/>
        </p:nvSpPr>
        <p:spPr>
          <a:xfrm>
            <a:off x="9529763" y="2249760"/>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SKILLS</a:t>
            </a:r>
            <a:endParaRPr lang="en-US" sz="1875" dirty="0"/>
          </a:p>
        </p:txBody>
      </p:sp>
      <p:sp>
        <p:nvSpPr>
          <p:cNvPr id="12" name="Text 10"/>
          <p:cNvSpPr/>
          <p:nvPr/>
        </p:nvSpPr>
        <p:spPr>
          <a:xfrm>
            <a:off x="9529763" y="2787923"/>
            <a:ext cx="7441454" cy="39811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700" b="1" kern="0" spc="-37" dirty="0">
                <a:solidFill>
                  <a:srgbClr val="000000"/>
                </a:solidFill>
                <a:latin typeface="Playfair Display" pitchFamily="34" charset="0"/>
                <a:ea typeface="Playfair Display" pitchFamily="34" charset="-122"/>
                <a:cs typeface="Playfair Display" pitchFamily="34" charset="-120"/>
              </a:rPr>
              <a:t>Instructions Claude remembers forever.</a:t>
            </a:r>
            <a:endParaRPr lang="en-US" sz="2700" dirty="0"/>
          </a:p>
        </p:txBody>
      </p:sp>
      <p:sp>
        <p:nvSpPr>
          <p:cNvPr id="13" name="Text 11"/>
          <p:cNvSpPr/>
          <p:nvPr/>
        </p:nvSpPr>
        <p:spPr>
          <a:xfrm>
            <a:off x="9529763" y="3547988"/>
            <a:ext cx="7441454" cy="687586"/>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dirty="0">
                <a:solidFill>
                  <a:srgbClr val="000000"/>
                </a:solidFill>
                <a:latin typeface="Libre Baskerville" pitchFamily="34" charset="0"/>
                <a:ea typeface="Libre Baskerville" pitchFamily="34" charset="-122"/>
                <a:cs typeface="Libre Baskerville" pitchFamily="34" charset="-120"/>
              </a:rPr>
              <a:t>Write the rule once. "Always use Millennium invoice format." Claude follows it every time.</a:t>
            </a:r>
            <a:endParaRPr lang="en-US" sz="1650" dirty="0"/>
          </a:p>
        </p:txBody>
      </p:sp>
      <p:sp>
        <p:nvSpPr>
          <p:cNvPr id="14" name="Text 12"/>
          <p:cNvSpPr/>
          <p:nvPr/>
        </p:nvSpPr>
        <p:spPr>
          <a:xfrm>
            <a:off x="9529763" y="4720530"/>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LIKE TRAINING A NEW HIRE</a:t>
            </a:r>
            <a:endParaRPr lang="en-US" sz="1875" dirty="0"/>
          </a:p>
        </p:txBody>
      </p:sp>
      <p:sp>
        <p:nvSpPr>
          <p:cNvPr id="15" name="Shape 13"/>
          <p:cNvSpPr/>
          <p:nvPr/>
        </p:nvSpPr>
        <p:spPr>
          <a:xfrm>
            <a:off x="1152525" y="5620643"/>
            <a:ext cx="7986713" cy="3704332"/>
          </a:xfrm>
          <a:prstGeom prst="rect">
            <a:avLst/>
          </a:prstGeom>
          <a:solidFill>
            <a:srgbClr val="FFFFFF"/>
          </a:solidFill>
          <a:ln/>
        </p:spPr>
        <p:txBody>
          <a:bodyPr/>
          <a:lstStyle/>
          <a:p>
            <a:endParaRPr lang="en-US"/>
          </a:p>
        </p:txBody>
      </p:sp>
      <p:sp>
        <p:nvSpPr>
          <p:cNvPr id="16" name="Text 14"/>
          <p:cNvSpPr/>
          <p:nvPr/>
        </p:nvSpPr>
        <p:spPr>
          <a:xfrm>
            <a:off x="1533525" y="5963543"/>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CONNECTORS</a:t>
            </a:r>
            <a:endParaRPr lang="en-US" sz="1875" dirty="0"/>
          </a:p>
        </p:txBody>
      </p:sp>
      <p:sp>
        <p:nvSpPr>
          <p:cNvPr id="17" name="Text 15"/>
          <p:cNvSpPr/>
          <p:nvPr/>
        </p:nvSpPr>
        <p:spPr>
          <a:xfrm>
            <a:off x="1533525" y="6501705"/>
            <a:ext cx="7441454" cy="39811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700" b="1" kern="0" spc="-37" dirty="0">
                <a:solidFill>
                  <a:srgbClr val="000000"/>
                </a:solidFill>
                <a:latin typeface="Playfair Display" pitchFamily="34" charset="0"/>
                <a:ea typeface="Playfair Display" pitchFamily="34" charset="-122"/>
                <a:cs typeface="Playfair Display" pitchFamily="34" charset="-120"/>
              </a:rPr>
              <a:t>The pipe to Microsoft 365.</a:t>
            </a:r>
            <a:endParaRPr lang="en-US" sz="2700" dirty="0"/>
          </a:p>
        </p:txBody>
      </p:sp>
      <p:sp>
        <p:nvSpPr>
          <p:cNvPr id="18" name="Text 16"/>
          <p:cNvSpPr/>
          <p:nvPr/>
        </p:nvSpPr>
        <p:spPr>
          <a:xfrm>
            <a:off x="1533525" y="7261771"/>
            <a:ext cx="7441454" cy="687586"/>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dirty="0">
                <a:solidFill>
                  <a:srgbClr val="000000"/>
                </a:solidFill>
                <a:latin typeface="Libre Baskerville" pitchFamily="34" charset="0"/>
                <a:ea typeface="Libre Baskerville" pitchFamily="34" charset="-122"/>
                <a:cs typeface="Libre Baskerville" pitchFamily="34" charset="-120"/>
              </a:rPr>
              <a:t>Connect Outlook, OneDrive, SharePoint, and Teams. No more copy-pasting.</a:t>
            </a:r>
            <a:endParaRPr lang="en-US" sz="1650" dirty="0"/>
          </a:p>
        </p:txBody>
      </p:sp>
      <p:sp>
        <p:nvSpPr>
          <p:cNvPr id="19" name="Text 17"/>
          <p:cNvSpPr/>
          <p:nvPr/>
        </p:nvSpPr>
        <p:spPr>
          <a:xfrm>
            <a:off x="1533525" y="8434387"/>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MONTH 1 PRIORITY</a:t>
            </a:r>
            <a:endParaRPr lang="en-US" sz="1875" dirty="0"/>
          </a:p>
        </p:txBody>
      </p:sp>
      <p:sp>
        <p:nvSpPr>
          <p:cNvPr id="20" name="Shape 18"/>
          <p:cNvSpPr/>
          <p:nvPr/>
        </p:nvSpPr>
        <p:spPr>
          <a:xfrm>
            <a:off x="9148763" y="5620643"/>
            <a:ext cx="7986713" cy="3704332"/>
          </a:xfrm>
          <a:prstGeom prst="rect">
            <a:avLst/>
          </a:prstGeom>
          <a:solidFill>
            <a:srgbClr val="FFFFFF"/>
          </a:solidFill>
          <a:ln/>
        </p:spPr>
        <p:txBody>
          <a:bodyPr/>
          <a:lstStyle/>
          <a:p>
            <a:endParaRPr lang="en-US"/>
          </a:p>
        </p:txBody>
      </p:sp>
      <p:sp>
        <p:nvSpPr>
          <p:cNvPr id="21" name="Text 19"/>
          <p:cNvSpPr/>
          <p:nvPr/>
        </p:nvSpPr>
        <p:spPr>
          <a:xfrm>
            <a:off x="9529763" y="5963543"/>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PLUGINS</a:t>
            </a:r>
            <a:endParaRPr lang="en-US" sz="1875" dirty="0"/>
          </a:p>
        </p:txBody>
      </p:sp>
      <p:sp>
        <p:nvSpPr>
          <p:cNvPr id="22" name="Text 20"/>
          <p:cNvSpPr/>
          <p:nvPr/>
        </p:nvSpPr>
        <p:spPr>
          <a:xfrm>
            <a:off x="9529763" y="6501705"/>
            <a:ext cx="7441454" cy="39811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700" b="1" kern="0" spc="-37" dirty="0">
                <a:solidFill>
                  <a:srgbClr val="000000"/>
                </a:solidFill>
                <a:latin typeface="Playfair Display" pitchFamily="34" charset="0"/>
                <a:ea typeface="Playfair Display" pitchFamily="34" charset="-122"/>
                <a:cs typeface="Playfair Display" pitchFamily="34" charset="-120"/>
              </a:rPr>
              <a:t>Bundles of skills and connectors.</a:t>
            </a:r>
            <a:endParaRPr lang="en-US" sz="2700" dirty="0"/>
          </a:p>
        </p:txBody>
      </p:sp>
      <p:sp>
        <p:nvSpPr>
          <p:cNvPr id="23" name="Text 21"/>
          <p:cNvSpPr/>
          <p:nvPr/>
        </p:nvSpPr>
        <p:spPr>
          <a:xfrm>
            <a:off x="9529763" y="7261771"/>
            <a:ext cx="7441454" cy="687586"/>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000000"/>
                </a:solidFill>
                <a:latin typeface="Libre Baskerville" pitchFamily="34" charset="0"/>
                <a:ea typeface="Libre Baskerville" pitchFamily="34" charset="-122"/>
                <a:cs typeface="Libre Baskerville" pitchFamily="34" charset="-120"/>
              </a:rPr>
              <a:t>Pre-built kits for a job. Travel ops. Client email. Finance and invoicing.</a:t>
            </a:r>
            <a:endParaRPr lang="en-US" sz="1650" dirty="0"/>
          </a:p>
        </p:txBody>
      </p:sp>
      <p:sp>
        <p:nvSpPr>
          <p:cNvPr id="24" name="Text 22"/>
          <p:cNvSpPr/>
          <p:nvPr/>
        </p:nvSpPr>
        <p:spPr>
          <a:xfrm>
            <a:off x="9529763" y="8434387"/>
            <a:ext cx="7441454"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MONTH 2 AND BEYOND</a:t>
            </a:r>
            <a:endParaRPr lang="en-US" sz="1875" dirty="0"/>
          </a:p>
        </p:txBody>
      </p:sp>
      <p:sp>
        <p:nvSpPr>
          <p:cNvPr id="25" name="Text 23"/>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6D71B03D-3249-BC40-B693-D3700A908AA6}"/>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05 / 23</a:t>
            </a:r>
          </a:p>
        </p:txBody>
      </p:sp>
    </p:spTree>
    <p:extLst>
      <p:ext uri="{BB962C8B-B14F-4D97-AF65-F5344CB8AC3E}">
        <p14:creationId xmlns:p14="http://schemas.microsoft.com/office/powerpoint/2010/main" val="2967951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 structure for every prompt that matters.</a:t>
            </a:r>
            <a:endParaRPr lang="en-US" sz="4800" dirty="0"/>
          </a:p>
        </p:txBody>
      </p:sp>
      <p:sp>
        <p:nvSpPr>
          <p:cNvPr id="4" name="Shape 2"/>
          <p:cNvSpPr/>
          <p:nvPr/>
        </p:nvSpPr>
        <p:spPr>
          <a:xfrm>
            <a:off x="1143000" y="3364185"/>
            <a:ext cx="16002000" cy="9525"/>
          </a:xfrm>
          <a:prstGeom prst="rect">
            <a:avLst/>
          </a:prstGeom>
          <a:solidFill>
            <a:srgbClr val="111111"/>
          </a:solidFill>
          <a:ln/>
        </p:spPr>
        <p:txBody>
          <a:bodyPr/>
          <a:lstStyle/>
          <a:p>
            <a:endParaRPr lang="en-US"/>
          </a:p>
        </p:txBody>
      </p:sp>
      <p:sp>
        <p:nvSpPr>
          <p:cNvPr id="5" name="Text 3"/>
          <p:cNvSpPr/>
          <p:nvPr/>
        </p:nvSpPr>
        <p:spPr>
          <a:xfrm>
            <a:off x="1143000" y="2663812"/>
            <a:ext cx="10287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kern="0" spc="-150" dirty="0">
                <a:solidFill>
                  <a:srgbClr val="04CCBA"/>
                </a:solidFill>
                <a:latin typeface="Playfair Display" pitchFamily="34" charset="0"/>
                <a:ea typeface="Playfair Display" pitchFamily="34" charset="-122"/>
                <a:cs typeface="Playfair Display" pitchFamily="34" charset="-120"/>
              </a:rPr>
              <a:t>A</a:t>
            </a:r>
            <a:endParaRPr lang="en-US" sz="6000" dirty="0"/>
          </a:p>
        </p:txBody>
      </p:sp>
      <p:sp>
        <p:nvSpPr>
          <p:cNvPr id="6" name="Text 4"/>
          <p:cNvSpPr/>
          <p:nvPr/>
        </p:nvSpPr>
        <p:spPr>
          <a:xfrm>
            <a:off x="2438400" y="2759348"/>
            <a:ext cx="2362200"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000000"/>
                </a:solidFill>
                <a:latin typeface="Playfair Display" pitchFamily="34" charset="0"/>
                <a:ea typeface="Playfair Display" pitchFamily="34" charset="-122"/>
                <a:cs typeface="Playfair Display" pitchFamily="34" charset="-120"/>
              </a:rPr>
              <a:t>Authority</a:t>
            </a:r>
            <a:endParaRPr lang="en-US" sz="2850" dirty="0"/>
          </a:p>
        </p:txBody>
      </p:sp>
      <p:sp>
        <p:nvSpPr>
          <p:cNvPr id="8" name="Shape 6"/>
          <p:cNvSpPr/>
          <p:nvPr/>
        </p:nvSpPr>
        <p:spPr>
          <a:xfrm>
            <a:off x="1143000" y="4497660"/>
            <a:ext cx="16002000" cy="9525"/>
          </a:xfrm>
          <a:prstGeom prst="rect">
            <a:avLst/>
          </a:prstGeom>
          <a:solidFill>
            <a:srgbClr val="111111"/>
          </a:solidFill>
          <a:ln/>
        </p:spPr>
        <p:txBody>
          <a:bodyPr/>
          <a:lstStyle/>
          <a:p>
            <a:endParaRPr lang="en-US"/>
          </a:p>
        </p:txBody>
      </p:sp>
      <p:sp>
        <p:nvSpPr>
          <p:cNvPr id="9" name="Text 7"/>
          <p:cNvSpPr/>
          <p:nvPr/>
        </p:nvSpPr>
        <p:spPr>
          <a:xfrm>
            <a:off x="1143000" y="3797287"/>
            <a:ext cx="10287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kern="0" spc="-150" dirty="0">
                <a:solidFill>
                  <a:srgbClr val="04CCBA"/>
                </a:solidFill>
                <a:latin typeface="Playfair Display" pitchFamily="34" charset="0"/>
                <a:ea typeface="Playfair Display" pitchFamily="34" charset="-122"/>
                <a:cs typeface="Playfair Display" pitchFamily="34" charset="-120"/>
              </a:rPr>
              <a:t>G</a:t>
            </a:r>
            <a:endParaRPr lang="en-US" sz="6000" dirty="0"/>
          </a:p>
        </p:txBody>
      </p:sp>
      <p:sp>
        <p:nvSpPr>
          <p:cNvPr id="10" name="Text 8"/>
          <p:cNvSpPr/>
          <p:nvPr/>
        </p:nvSpPr>
        <p:spPr>
          <a:xfrm>
            <a:off x="2438400" y="3892823"/>
            <a:ext cx="2362200"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000000"/>
                </a:solidFill>
                <a:latin typeface="Playfair Display" pitchFamily="34" charset="0"/>
                <a:ea typeface="Playfair Display" pitchFamily="34" charset="-122"/>
                <a:cs typeface="Playfair Display" pitchFamily="34" charset="-120"/>
              </a:rPr>
              <a:t>Goal</a:t>
            </a:r>
            <a:endParaRPr lang="en-US" sz="2850" dirty="0"/>
          </a:p>
        </p:txBody>
      </p:sp>
      <p:sp>
        <p:nvSpPr>
          <p:cNvPr id="11" name="Text 9"/>
          <p:cNvSpPr/>
          <p:nvPr/>
        </p:nvSpPr>
        <p:spPr>
          <a:xfrm>
            <a:off x="5067300" y="3737063"/>
            <a:ext cx="12440031" cy="3571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000000"/>
                </a:solidFill>
                <a:latin typeface="Libre Baskerville" pitchFamily="34" charset="0"/>
                <a:ea typeface="Libre Baskerville" pitchFamily="34" charset="-122"/>
                <a:cs typeface="Libre Baskerville" pitchFamily="34" charset="-120"/>
              </a:rPr>
              <a:t>State the outcome in one sentence. </a:t>
            </a:r>
            <a:r>
              <a:rPr lang="en-US" dirty="0">
                <a:solidFill>
                  <a:srgbClr val="029E90"/>
                </a:solidFill>
                <a:latin typeface="IBM Plex Mono" pitchFamily="34" charset="0"/>
                <a:ea typeface="IBM Plex Mono" pitchFamily="34" charset="-122"/>
                <a:cs typeface="IBM Plex Mono" pitchFamily="34" charset="-120"/>
              </a:rPr>
              <a:t>Your task is to [OUTCOME].</a:t>
            </a:r>
            <a:endParaRPr lang="en-US" dirty="0"/>
          </a:p>
        </p:txBody>
      </p:sp>
      <p:sp>
        <p:nvSpPr>
          <p:cNvPr id="12" name="Shape 10"/>
          <p:cNvSpPr/>
          <p:nvPr/>
        </p:nvSpPr>
        <p:spPr>
          <a:xfrm>
            <a:off x="1143000" y="5631135"/>
            <a:ext cx="16002000" cy="9525"/>
          </a:xfrm>
          <a:prstGeom prst="rect">
            <a:avLst/>
          </a:prstGeom>
          <a:solidFill>
            <a:srgbClr val="111111"/>
          </a:solidFill>
          <a:ln/>
        </p:spPr>
        <p:txBody>
          <a:bodyPr/>
          <a:lstStyle/>
          <a:p>
            <a:endParaRPr lang="en-US"/>
          </a:p>
        </p:txBody>
      </p:sp>
      <p:sp>
        <p:nvSpPr>
          <p:cNvPr id="13" name="Text 11"/>
          <p:cNvSpPr/>
          <p:nvPr/>
        </p:nvSpPr>
        <p:spPr>
          <a:xfrm>
            <a:off x="1143000" y="4930762"/>
            <a:ext cx="10287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kern="0" spc="-150" dirty="0">
                <a:solidFill>
                  <a:srgbClr val="04CCBA"/>
                </a:solidFill>
                <a:latin typeface="Playfair Display" pitchFamily="34" charset="0"/>
                <a:ea typeface="Playfair Display" pitchFamily="34" charset="-122"/>
                <a:cs typeface="Playfair Display" pitchFamily="34" charset="-120"/>
              </a:rPr>
              <a:t>E</a:t>
            </a:r>
            <a:endParaRPr lang="en-US" sz="6000" dirty="0"/>
          </a:p>
        </p:txBody>
      </p:sp>
      <p:sp>
        <p:nvSpPr>
          <p:cNvPr id="14" name="Text 12"/>
          <p:cNvSpPr/>
          <p:nvPr/>
        </p:nvSpPr>
        <p:spPr>
          <a:xfrm>
            <a:off x="2438400" y="5026298"/>
            <a:ext cx="2362200"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000000"/>
                </a:solidFill>
                <a:latin typeface="Playfair Display" pitchFamily="34" charset="0"/>
                <a:ea typeface="Playfair Display" pitchFamily="34" charset="-122"/>
                <a:cs typeface="Playfair Display" pitchFamily="34" charset="-120"/>
              </a:rPr>
              <a:t>Evidence</a:t>
            </a:r>
            <a:endParaRPr lang="en-US" sz="2850" dirty="0"/>
          </a:p>
        </p:txBody>
      </p:sp>
      <p:sp>
        <p:nvSpPr>
          <p:cNvPr id="15" name="Text 13"/>
          <p:cNvSpPr/>
          <p:nvPr/>
        </p:nvSpPr>
        <p:spPr>
          <a:xfrm>
            <a:off x="5067300" y="4893229"/>
            <a:ext cx="12440031" cy="352425"/>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000000"/>
                </a:solidFill>
                <a:latin typeface="Libre Baskerville" pitchFamily="34" charset="0"/>
                <a:ea typeface="Libre Baskerville" pitchFamily="34" charset="-122"/>
                <a:cs typeface="Libre Baskerville" pitchFamily="34" charset="-120"/>
              </a:rPr>
              <a:t>Who it is for. Relevant background. Tone and voice.</a:t>
            </a:r>
            <a:endParaRPr lang="en-US" dirty="0"/>
          </a:p>
        </p:txBody>
      </p:sp>
      <p:sp>
        <p:nvSpPr>
          <p:cNvPr id="16" name="Shape 14"/>
          <p:cNvSpPr/>
          <p:nvPr/>
        </p:nvSpPr>
        <p:spPr>
          <a:xfrm>
            <a:off x="1143000" y="6764610"/>
            <a:ext cx="16002000" cy="9525"/>
          </a:xfrm>
          <a:prstGeom prst="rect">
            <a:avLst/>
          </a:prstGeom>
          <a:solidFill>
            <a:srgbClr val="111111"/>
          </a:solidFill>
          <a:ln/>
        </p:spPr>
        <p:txBody>
          <a:bodyPr/>
          <a:lstStyle/>
          <a:p>
            <a:endParaRPr lang="en-US"/>
          </a:p>
        </p:txBody>
      </p:sp>
      <p:sp>
        <p:nvSpPr>
          <p:cNvPr id="17" name="Text 15"/>
          <p:cNvSpPr/>
          <p:nvPr/>
        </p:nvSpPr>
        <p:spPr>
          <a:xfrm>
            <a:off x="1143000" y="6064237"/>
            <a:ext cx="10287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kern="0" spc="-150" dirty="0">
                <a:solidFill>
                  <a:srgbClr val="04CCBA"/>
                </a:solidFill>
                <a:latin typeface="Playfair Display" pitchFamily="34" charset="0"/>
                <a:ea typeface="Playfair Display" pitchFamily="34" charset="-122"/>
                <a:cs typeface="Playfair Display" pitchFamily="34" charset="-120"/>
              </a:rPr>
              <a:t>N</a:t>
            </a:r>
            <a:endParaRPr lang="en-US" sz="6000" dirty="0"/>
          </a:p>
        </p:txBody>
      </p:sp>
      <p:sp>
        <p:nvSpPr>
          <p:cNvPr id="18" name="Text 16"/>
          <p:cNvSpPr/>
          <p:nvPr/>
        </p:nvSpPr>
        <p:spPr>
          <a:xfrm>
            <a:off x="2438400" y="6159773"/>
            <a:ext cx="2362200"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000000"/>
                </a:solidFill>
                <a:latin typeface="Playfair Display" pitchFamily="34" charset="0"/>
                <a:ea typeface="Playfair Display" pitchFamily="34" charset="-122"/>
                <a:cs typeface="Playfair Display" pitchFamily="34" charset="-120"/>
              </a:rPr>
              <a:t>Needs</a:t>
            </a:r>
            <a:endParaRPr lang="en-US" sz="2850" dirty="0"/>
          </a:p>
        </p:txBody>
      </p:sp>
      <p:sp>
        <p:nvSpPr>
          <p:cNvPr id="19" name="Text 17"/>
          <p:cNvSpPr/>
          <p:nvPr/>
        </p:nvSpPr>
        <p:spPr>
          <a:xfrm>
            <a:off x="5067300" y="6026704"/>
            <a:ext cx="12440031" cy="352425"/>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000000"/>
                </a:solidFill>
                <a:latin typeface="Libre Baskerville" pitchFamily="34" charset="0"/>
                <a:ea typeface="Libre Baskerville" pitchFamily="34" charset="-122"/>
                <a:cs typeface="Libre Baskerville" pitchFamily="34" charset="-120"/>
              </a:rPr>
              <a:t>Length. Structure (bullets, paragraphs, table). Any specific sections required.</a:t>
            </a:r>
            <a:endParaRPr lang="en-US" dirty="0"/>
          </a:p>
        </p:txBody>
      </p:sp>
      <p:sp>
        <p:nvSpPr>
          <p:cNvPr id="20" name="Text 18"/>
          <p:cNvSpPr/>
          <p:nvPr/>
        </p:nvSpPr>
        <p:spPr>
          <a:xfrm>
            <a:off x="1143000" y="7197712"/>
            <a:ext cx="10287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kern="0" spc="-150" dirty="0">
                <a:solidFill>
                  <a:srgbClr val="04CCBA"/>
                </a:solidFill>
                <a:latin typeface="Playfair Display" pitchFamily="34" charset="0"/>
                <a:ea typeface="Playfair Display" pitchFamily="34" charset="-122"/>
                <a:cs typeface="Playfair Display" pitchFamily="34" charset="-120"/>
              </a:rPr>
              <a:t>T</a:t>
            </a:r>
            <a:endParaRPr lang="en-US" sz="6000" dirty="0"/>
          </a:p>
        </p:txBody>
      </p:sp>
      <p:sp>
        <p:nvSpPr>
          <p:cNvPr id="21" name="Text 19"/>
          <p:cNvSpPr/>
          <p:nvPr/>
        </p:nvSpPr>
        <p:spPr>
          <a:xfrm>
            <a:off x="2438400" y="7293248"/>
            <a:ext cx="2362200"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000000"/>
                </a:solidFill>
                <a:latin typeface="Playfair Display" pitchFamily="34" charset="0"/>
                <a:ea typeface="Playfair Display" pitchFamily="34" charset="-122"/>
                <a:cs typeface="Playfair Display" pitchFamily="34" charset="-120"/>
              </a:rPr>
              <a:t>Terms</a:t>
            </a:r>
            <a:endParaRPr lang="en-US" sz="2850" dirty="0"/>
          </a:p>
        </p:txBody>
      </p:sp>
      <p:sp>
        <p:nvSpPr>
          <p:cNvPr id="22" name="Text 20"/>
          <p:cNvSpPr/>
          <p:nvPr/>
        </p:nvSpPr>
        <p:spPr>
          <a:xfrm>
            <a:off x="5067300" y="7155417"/>
            <a:ext cx="12440031" cy="671513"/>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000000"/>
                </a:solidFill>
                <a:latin typeface="Libre Baskerville" pitchFamily="34" charset="0"/>
                <a:ea typeface="Libre Baskerville" pitchFamily="34" charset="-122"/>
                <a:cs typeface="Libre Baskerville" pitchFamily="34" charset="-120"/>
              </a:rPr>
              <a:t>Do’s and </a:t>
            </a:r>
            <a:r>
              <a:rPr lang="en-US" dirty="0" err="1">
                <a:solidFill>
                  <a:srgbClr val="000000"/>
                </a:solidFill>
                <a:latin typeface="Libre Baskerville" pitchFamily="34" charset="0"/>
                <a:ea typeface="Libre Baskerville" pitchFamily="34" charset="-122"/>
                <a:cs typeface="Libre Baskerville" pitchFamily="34" charset="-120"/>
              </a:rPr>
              <a:t>Dont’s</a:t>
            </a:r>
            <a:r>
              <a:rPr lang="en-US" dirty="0">
                <a:solidFill>
                  <a:srgbClr val="000000"/>
                </a:solidFill>
                <a:latin typeface="Libre Baskerville" pitchFamily="34" charset="0"/>
                <a:ea typeface="Libre Baskerville" pitchFamily="34" charset="-122"/>
                <a:cs typeface="Libre Baskerville" pitchFamily="34" charset="-120"/>
              </a:rPr>
              <a:t>.  Do not proceed unless you are 95% confident. Ask one clarifying question if anything is unclear."</a:t>
            </a:r>
            <a:endParaRPr lang="en-US" dirty="0"/>
          </a:p>
        </p:txBody>
      </p:sp>
      <p:sp>
        <p:nvSpPr>
          <p:cNvPr id="23" name="Text 21"/>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5" name="Text 9">
            <a:extLst>
              <a:ext uri="{FF2B5EF4-FFF2-40B4-BE49-F238E27FC236}">
                <a16:creationId xmlns:a16="http://schemas.microsoft.com/office/drawing/2014/main" id="{AC000C30-C07D-C739-8B99-19086FE77CA3}"/>
              </a:ext>
            </a:extLst>
          </p:cNvPr>
          <p:cNvSpPr/>
          <p:nvPr/>
        </p:nvSpPr>
        <p:spPr>
          <a:xfrm>
            <a:off x="5067299" y="2668574"/>
            <a:ext cx="12440031" cy="3571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000000"/>
                </a:solidFill>
                <a:latin typeface="Libre Baskerville" pitchFamily="34" charset="0"/>
                <a:ea typeface="Libre Baskerville" pitchFamily="34" charset="-122"/>
                <a:cs typeface="Libre Baskerville" pitchFamily="34" charset="-120"/>
              </a:rPr>
              <a:t>Tell Claude who you need it to be. </a:t>
            </a:r>
            <a:r>
              <a:rPr lang="en-US" dirty="0">
                <a:solidFill>
                  <a:srgbClr val="029E90"/>
                </a:solidFill>
                <a:latin typeface="IBM Plex Mono" pitchFamily="34" charset="0"/>
                <a:ea typeface="IBM Plex Mono" pitchFamily="34" charset="-122"/>
                <a:cs typeface="IBM Plex Mono" pitchFamily="34" charset="-120"/>
              </a:rPr>
              <a:t>Be world class [Role].</a:t>
            </a:r>
            <a:endParaRPr lang="en-US" dirty="0"/>
          </a:p>
        </p:txBody>
      </p:sp>
      <p:sp>
        <p:nvSpPr>
          <p:cNvPr id="2" name="TextBox 1">
            <a:extLst>
              <a:ext uri="{FF2B5EF4-FFF2-40B4-BE49-F238E27FC236}">
                <a16:creationId xmlns:a16="http://schemas.microsoft.com/office/drawing/2014/main" id="{D2950C82-0159-0140-984D-F5A2A0399166}"/>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07 / 23</a:t>
            </a:r>
          </a:p>
        </p:txBody>
      </p:sp>
    </p:spTree>
    <p:extLst>
      <p:ext uri="{BB962C8B-B14F-4D97-AF65-F5344CB8AC3E}">
        <p14:creationId xmlns:p14="http://schemas.microsoft.com/office/powerpoint/2010/main" val="1744683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 Millennium Tours prompt, written the right way.</a:t>
            </a:r>
            <a:endParaRPr lang="en-US" sz="4800" dirty="0"/>
          </a:p>
        </p:txBody>
      </p:sp>
      <p:sp>
        <p:nvSpPr>
          <p:cNvPr id="4" name="Shape 2"/>
          <p:cNvSpPr/>
          <p:nvPr/>
        </p:nvSpPr>
        <p:spPr>
          <a:xfrm>
            <a:off x="1143000" y="2041392"/>
            <a:ext cx="16002000" cy="7293107"/>
          </a:xfrm>
          <a:prstGeom prst="rect">
            <a:avLst/>
          </a:prstGeom>
          <a:solidFill>
            <a:srgbClr val="FAFAF9"/>
          </a:solidFill>
          <a:ln w="9525">
            <a:solidFill>
              <a:srgbClr val="111111"/>
            </a:solidFill>
            <a:prstDash val="solid"/>
          </a:ln>
        </p:spPr>
        <p:txBody>
          <a:bodyPr/>
          <a:lstStyle/>
          <a:p>
            <a:endParaRPr lang="en-US"/>
          </a:p>
        </p:txBody>
      </p:sp>
      <p:sp>
        <p:nvSpPr>
          <p:cNvPr id="5" name="Text 3"/>
          <p:cNvSpPr/>
          <p:nvPr/>
        </p:nvSpPr>
        <p:spPr>
          <a:xfrm>
            <a:off x="1443990" y="2436784"/>
            <a:ext cx="15701010" cy="5906021"/>
          </a:xfrm>
          <a:prstGeom prst="rect">
            <a:avLst/>
          </a:prstGeom>
          <a:noFill/>
          <a:ln/>
        </p:spPr>
        <p:txBody>
          <a:bodyPr wrap="square" lIns="25400" tIns="25400" rIns="25400" bIns="25400" rtlCol="0" anchor="t">
            <a:noAutofit/>
          </a:bodyPr>
          <a:lstStyle/>
          <a:p>
            <a:pPr marL="0" indent="0" algn="l">
              <a:lnSpc>
                <a:spcPct val="160000"/>
              </a:lnSpc>
              <a:buNone/>
            </a:pPr>
            <a:r>
              <a:rPr lang="en-US" b="1" dirty="0">
                <a:solidFill>
                  <a:srgbClr val="029E90"/>
                </a:solidFill>
                <a:latin typeface="IBM Plex Mono" panose="020B0509050203000203" pitchFamily="49" charset="77"/>
                <a:ea typeface="IBM Plex Mono" pitchFamily="34" charset="-122"/>
                <a:cs typeface="IBM Plex Mono" pitchFamily="34" charset="-120"/>
              </a:rPr>
              <a:t>A · Authority. </a:t>
            </a:r>
            <a:r>
              <a:rPr lang="en-US" dirty="0">
                <a:solidFill>
                  <a:srgbClr val="000000"/>
                </a:solidFill>
                <a:highlight>
                  <a:srgbClr val="FAFAF9"/>
                </a:highlight>
                <a:latin typeface="IBM Plex Mono" panose="020B0509050203000203" pitchFamily="49" charset="77"/>
                <a:ea typeface="IBM Plex Mono" pitchFamily="34" charset="-122"/>
                <a:cs typeface="IBM Plex Mono" pitchFamily="34" charset="-120"/>
              </a:rPr>
              <a:t> You are a world-class travel operations consultant at Millennium Tours, writing to a university procurement officer. </a:t>
            </a:r>
          </a:p>
          <a:p>
            <a:pPr marL="0" indent="0" algn="l">
              <a:lnSpc>
                <a:spcPct val="160000"/>
              </a:lnSpc>
              <a:buNone/>
            </a:pPr>
            <a:endParaRPr lang="en-US" b="1" dirty="0">
              <a:solidFill>
                <a:srgbClr val="000000"/>
              </a:solidFill>
              <a:highlight>
                <a:srgbClr val="FAFAF9"/>
              </a:highlight>
              <a:latin typeface="IBM Plex Mono" panose="020B0509050203000203" pitchFamily="49" charset="77"/>
              <a:ea typeface="IBM Plex Mono" pitchFamily="34" charset="-122"/>
              <a:cs typeface="IBM Plex Mono" pitchFamily="34" charset="-120"/>
            </a:endParaRPr>
          </a:p>
          <a:p>
            <a:pPr marL="0" indent="0" algn="l">
              <a:lnSpc>
                <a:spcPct val="160000"/>
              </a:lnSpc>
              <a:buNone/>
            </a:pPr>
            <a:r>
              <a:rPr lang="en-US" b="1" dirty="0">
                <a:solidFill>
                  <a:srgbClr val="029E90"/>
                </a:solidFill>
                <a:latin typeface="IBM Plex Mono" panose="020B0509050203000203" pitchFamily="49" charset="77"/>
                <a:ea typeface="IBM Plex Mono" pitchFamily="34" charset="-122"/>
                <a:cs typeface="IBM Plex Mono" pitchFamily="34" charset="-120"/>
              </a:rPr>
              <a:t>G · Goal. </a:t>
            </a:r>
            <a:r>
              <a:rPr lang="en-US" dirty="0">
                <a:solidFill>
                  <a:srgbClr val="000000"/>
                </a:solidFill>
                <a:highlight>
                  <a:srgbClr val="FAFAF9"/>
                </a:highlight>
                <a:latin typeface="IBM Plex Mono" panose="020B0509050203000203" pitchFamily="49" charset="77"/>
                <a:ea typeface="IBM Plex Mono" pitchFamily="34" charset="-122"/>
                <a:cs typeface="IBM Plex Mono" pitchFamily="34" charset="-120"/>
              </a:rPr>
              <a:t> Your task is to draft a follow-up email that secures a signed contract for a 42-student Italy program by Friday. </a:t>
            </a:r>
          </a:p>
          <a:p>
            <a:pPr marL="0" indent="0" algn="l">
              <a:lnSpc>
                <a:spcPct val="160000"/>
              </a:lnSpc>
              <a:buNone/>
            </a:pPr>
            <a:endParaRPr lang="en-US" b="1" dirty="0">
              <a:solidFill>
                <a:srgbClr val="000000"/>
              </a:solidFill>
              <a:highlight>
                <a:srgbClr val="FAFAF9"/>
              </a:highlight>
              <a:latin typeface="IBM Plex Mono" panose="020B0509050203000203" pitchFamily="49" charset="77"/>
              <a:ea typeface="IBM Plex Mono" pitchFamily="34" charset="-122"/>
              <a:cs typeface="IBM Plex Mono" pitchFamily="34" charset="-120"/>
            </a:endParaRPr>
          </a:p>
          <a:p>
            <a:pPr marL="0" indent="0" algn="l">
              <a:lnSpc>
                <a:spcPct val="160000"/>
              </a:lnSpc>
              <a:buNone/>
            </a:pPr>
            <a:r>
              <a:rPr lang="en-US" b="1" dirty="0">
                <a:solidFill>
                  <a:srgbClr val="029E90"/>
                </a:solidFill>
                <a:latin typeface="IBM Plex Mono" panose="020B0509050203000203" pitchFamily="49" charset="77"/>
                <a:ea typeface="IBM Plex Mono" pitchFamily="34" charset="-122"/>
                <a:cs typeface="IBM Plex Mono" pitchFamily="34" charset="-120"/>
              </a:rPr>
              <a:t>E · Evidence. </a:t>
            </a:r>
            <a:r>
              <a:rPr lang="en-US" dirty="0">
                <a:solidFill>
                  <a:srgbClr val="000000"/>
                </a:solidFill>
                <a:highlight>
                  <a:srgbClr val="FAFAF9"/>
                </a:highlight>
                <a:latin typeface="IBM Plex Mono" panose="020B0509050203000203" pitchFamily="49" charset="77"/>
                <a:ea typeface="IBM Plex Mono" pitchFamily="34" charset="-122"/>
                <a:cs typeface="IBM Plex Mono" pitchFamily="34" charset="-120"/>
              </a:rPr>
              <a:t> I copy /pasted the email below. The prospect is Dr. Lin at Trinity University. We quoted on March 14. She asked about insurance and cancellation terms in her last reply. Millennium voice is warm, precise, confident. Not casual, not corporate. </a:t>
            </a:r>
          </a:p>
          <a:p>
            <a:pPr marL="0" indent="0" algn="l">
              <a:lnSpc>
                <a:spcPct val="160000"/>
              </a:lnSpc>
              <a:buNone/>
            </a:pPr>
            <a:endParaRPr lang="en-US" b="1" dirty="0">
              <a:solidFill>
                <a:srgbClr val="000000"/>
              </a:solidFill>
              <a:highlight>
                <a:srgbClr val="FAFAF9"/>
              </a:highlight>
              <a:latin typeface="IBM Plex Mono" panose="020B0509050203000203" pitchFamily="49" charset="77"/>
              <a:ea typeface="IBM Plex Mono" pitchFamily="34" charset="-122"/>
              <a:cs typeface="IBM Plex Mono" pitchFamily="34" charset="-120"/>
            </a:endParaRPr>
          </a:p>
          <a:p>
            <a:pPr marL="0" indent="0" algn="l">
              <a:lnSpc>
                <a:spcPct val="160000"/>
              </a:lnSpc>
              <a:buNone/>
            </a:pPr>
            <a:r>
              <a:rPr lang="en-US" b="1" dirty="0">
                <a:solidFill>
                  <a:srgbClr val="029E90"/>
                </a:solidFill>
                <a:latin typeface="IBM Plex Mono" panose="020B0509050203000203" pitchFamily="49" charset="77"/>
                <a:ea typeface="IBM Plex Mono" pitchFamily="34" charset="-122"/>
                <a:cs typeface="IBM Plex Mono" pitchFamily="34" charset="-120"/>
              </a:rPr>
              <a:t>N · Needs. </a:t>
            </a:r>
            <a:r>
              <a:rPr lang="en-US" dirty="0">
                <a:solidFill>
                  <a:srgbClr val="000000"/>
                </a:solidFill>
                <a:highlight>
                  <a:srgbClr val="FAFAF9"/>
                </a:highlight>
                <a:latin typeface="IBM Plex Mono" panose="020B0509050203000203" pitchFamily="49" charset="77"/>
                <a:ea typeface="IBM Plex Mono" pitchFamily="34" charset="-122"/>
                <a:cs typeface="IBM Plex Mono" pitchFamily="34" charset="-120"/>
              </a:rPr>
              <a:t> Three paragraphs. First paragraph warm recap. Second paragraph directly answers insurance + cancellation. Third paragraph offers a 15-minute call and names two time slots this week. </a:t>
            </a:r>
          </a:p>
          <a:p>
            <a:pPr marL="0" indent="0" algn="l">
              <a:lnSpc>
                <a:spcPct val="160000"/>
              </a:lnSpc>
              <a:buNone/>
            </a:pPr>
            <a:endParaRPr lang="en-US" b="1" dirty="0">
              <a:solidFill>
                <a:srgbClr val="000000"/>
              </a:solidFill>
              <a:highlight>
                <a:srgbClr val="FAFAF9"/>
              </a:highlight>
              <a:latin typeface="IBM Plex Mono" panose="020B0509050203000203" pitchFamily="49" charset="77"/>
              <a:ea typeface="IBM Plex Mono" pitchFamily="34" charset="-122"/>
              <a:cs typeface="IBM Plex Mono" pitchFamily="34" charset="-120"/>
            </a:endParaRPr>
          </a:p>
          <a:p>
            <a:pPr marL="0" indent="0" algn="l">
              <a:lnSpc>
                <a:spcPct val="160000"/>
              </a:lnSpc>
              <a:buNone/>
            </a:pPr>
            <a:r>
              <a:rPr lang="en-US" b="1" dirty="0">
                <a:solidFill>
                  <a:srgbClr val="029E90"/>
                </a:solidFill>
                <a:latin typeface="IBM Plex Mono" panose="020B0509050203000203" pitchFamily="49" charset="77"/>
                <a:ea typeface="IBM Plex Mono" pitchFamily="34" charset="-122"/>
                <a:cs typeface="IBM Plex Mono" pitchFamily="34" charset="-120"/>
              </a:rPr>
              <a:t>T · Terms. </a:t>
            </a:r>
            <a:r>
              <a:rPr lang="en-US" dirty="0">
                <a:solidFill>
                  <a:srgbClr val="000000"/>
                </a:solidFill>
                <a:highlight>
                  <a:srgbClr val="FAFAF9"/>
                </a:highlight>
                <a:latin typeface="IBM Plex Mono" panose="020B0509050203000203" pitchFamily="49" charset="77"/>
                <a:ea typeface="IBM Plex Mono" pitchFamily="34" charset="-122"/>
                <a:cs typeface="IBM Plex Mono" pitchFamily="34" charset="-120"/>
              </a:rPr>
              <a:t> AVOID: em dashes, the word "journey," generic AI phrasing, promises we cannot keep. Do not proceed unless you are 95% confident. Ask one clarifying question if anything is unclear.</a:t>
            </a:r>
            <a:endParaRPr lang="en-US" dirty="0">
              <a:latin typeface="IBM Plex Mono" panose="020B0509050203000203" pitchFamily="49" charset="77"/>
            </a:endParaRPr>
          </a:p>
          <a:p>
            <a:pPr marL="0" indent="0" algn="l">
              <a:lnSpc>
                <a:spcPct val="160000"/>
              </a:lnSpc>
              <a:buNone/>
            </a:pPr>
            <a:r>
              <a:rPr lang="en-US" sz="300" dirty="0">
                <a:solidFill>
                  <a:srgbClr val="000000"/>
                </a:solidFill>
                <a:highlight>
                  <a:srgbClr val="FAFAF9"/>
                </a:highlight>
                <a:latin typeface="IBM Plex Mono" pitchFamily="34" charset="0"/>
                <a:ea typeface="IBM Plex Mono" pitchFamily="34" charset="-122"/>
                <a:cs typeface="IBM Plex Mono" pitchFamily="34" charset="-120"/>
              </a:rPr>
              <a:t>  </a:t>
            </a:r>
            <a:endParaRPr lang="en-US" sz="300" dirty="0"/>
          </a:p>
        </p:txBody>
      </p:sp>
      <p:sp>
        <p:nvSpPr>
          <p:cNvPr id="7" name="Text 5"/>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1A88EE91-EB68-C54C-B47D-FDF93FF7B95B}"/>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08 / 23</a:t>
            </a:r>
          </a:p>
        </p:txBody>
      </p:sp>
    </p:spTree>
    <p:extLst>
      <p:ext uri="{BB962C8B-B14F-4D97-AF65-F5344CB8AC3E}">
        <p14:creationId xmlns:p14="http://schemas.microsoft.com/office/powerpoint/2010/main" val="403685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My Claude best practice </a:t>
            </a:r>
            <a:r>
              <a:rPr lang="en-US" sz="4800" b="1" i="1" kern="0" spc="-112" dirty="0">
                <a:solidFill>
                  <a:srgbClr val="04CCBA"/>
                </a:solidFill>
                <a:latin typeface="Playfair Display" pitchFamily="34" charset="0"/>
                <a:ea typeface="Playfair Display" pitchFamily="34" charset="-122"/>
                <a:cs typeface="Playfair Display" pitchFamily="34" charset="-120"/>
              </a:rPr>
              <a:t>maxims.</a:t>
            </a:r>
            <a:endParaRPr lang="en-US" sz="4800" dirty="0"/>
          </a:p>
        </p:txBody>
      </p:sp>
      <p:sp>
        <p:nvSpPr>
          <p:cNvPr id="3" name="Shape 1"/>
          <p:cNvSpPr/>
          <p:nvPr/>
        </p:nvSpPr>
        <p:spPr>
          <a:xfrm>
            <a:off x="1143000" y="2316435"/>
            <a:ext cx="16002000" cy="9525"/>
          </a:xfrm>
          <a:prstGeom prst="rect">
            <a:avLst/>
          </a:prstGeom>
          <a:solidFill>
            <a:srgbClr val="111111"/>
          </a:solidFill>
          <a:ln/>
        </p:spPr>
        <p:txBody>
          <a:bodyPr/>
          <a:lstStyle/>
          <a:p>
            <a:endParaRPr lang="en-US"/>
          </a:p>
        </p:txBody>
      </p:sp>
      <p:sp>
        <p:nvSpPr>
          <p:cNvPr id="4" name="Shape 2"/>
          <p:cNvSpPr/>
          <p:nvPr/>
        </p:nvSpPr>
        <p:spPr>
          <a:xfrm>
            <a:off x="1143000" y="3993803"/>
            <a:ext cx="8001000" cy="9525"/>
          </a:xfrm>
          <a:prstGeom prst="rect">
            <a:avLst/>
          </a:prstGeom>
          <a:solidFill>
            <a:srgbClr val="111111"/>
          </a:solidFill>
          <a:ln/>
        </p:spPr>
        <p:txBody>
          <a:bodyPr/>
          <a:lstStyle/>
          <a:p>
            <a:endParaRPr lang="en-US"/>
          </a:p>
        </p:txBody>
      </p:sp>
      <p:sp>
        <p:nvSpPr>
          <p:cNvPr id="5" name="Shape 3"/>
          <p:cNvSpPr/>
          <p:nvPr/>
        </p:nvSpPr>
        <p:spPr>
          <a:xfrm>
            <a:off x="9134475" y="2325960"/>
            <a:ext cx="9525" cy="1677367"/>
          </a:xfrm>
          <a:prstGeom prst="rect">
            <a:avLst/>
          </a:prstGeom>
          <a:solidFill>
            <a:srgbClr val="111111"/>
          </a:solidFill>
          <a:ln/>
        </p:spPr>
        <p:txBody>
          <a:bodyPr/>
          <a:lstStyle/>
          <a:p>
            <a:endParaRPr lang="en-US"/>
          </a:p>
        </p:txBody>
      </p:sp>
      <p:sp>
        <p:nvSpPr>
          <p:cNvPr id="6" name="Text 4"/>
          <p:cNvSpPr/>
          <p:nvPr/>
        </p:nvSpPr>
        <p:spPr>
          <a:xfrm>
            <a:off x="1143000" y="2573610"/>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01</a:t>
            </a:r>
            <a:endParaRPr lang="en-US" sz="2775" dirty="0"/>
          </a:p>
        </p:txBody>
      </p:sp>
      <p:sp>
        <p:nvSpPr>
          <p:cNvPr id="7" name="Text 5"/>
          <p:cNvSpPr/>
          <p:nvPr/>
        </p:nvSpPr>
        <p:spPr>
          <a:xfrm>
            <a:off x="2457450" y="2535510"/>
            <a:ext cx="6484906"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When in doubt, ask Claude.</a:t>
            </a:r>
            <a:endParaRPr lang="en-US" sz="2400" dirty="0"/>
          </a:p>
        </p:txBody>
      </p:sp>
      <p:sp>
        <p:nvSpPr>
          <p:cNvPr id="8" name="Text 6"/>
          <p:cNvSpPr/>
          <p:nvPr/>
        </p:nvSpPr>
        <p:spPr>
          <a:xfrm>
            <a:off x="2457450" y="3019351"/>
            <a:ext cx="6484906"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The biggest barrier is not thinking to use it.</a:t>
            </a:r>
            <a:endParaRPr lang="en-US" sz="1800" dirty="0"/>
          </a:p>
        </p:txBody>
      </p:sp>
      <p:sp>
        <p:nvSpPr>
          <p:cNvPr id="9" name="Shape 7"/>
          <p:cNvSpPr/>
          <p:nvPr/>
        </p:nvSpPr>
        <p:spPr>
          <a:xfrm>
            <a:off x="9144000" y="3993803"/>
            <a:ext cx="8001000" cy="9525"/>
          </a:xfrm>
          <a:prstGeom prst="rect">
            <a:avLst/>
          </a:prstGeom>
          <a:solidFill>
            <a:srgbClr val="111111"/>
          </a:solidFill>
          <a:ln/>
        </p:spPr>
        <p:txBody>
          <a:bodyPr/>
          <a:lstStyle/>
          <a:p>
            <a:endParaRPr lang="en-US"/>
          </a:p>
        </p:txBody>
      </p:sp>
      <p:sp>
        <p:nvSpPr>
          <p:cNvPr id="10" name="Text 8"/>
          <p:cNvSpPr/>
          <p:nvPr/>
        </p:nvSpPr>
        <p:spPr>
          <a:xfrm>
            <a:off x="9525000" y="2573610"/>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02</a:t>
            </a:r>
            <a:endParaRPr lang="en-US" sz="2775" dirty="0"/>
          </a:p>
        </p:txBody>
      </p:sp>
      <p:sp>
        <p:nvSpPr>
          <p:cNvPr id="11" name="Text 9"/>
          <p:cNvSpPr/>
          <p:nvPr/>
        </p:nvSpPr>
        <p:spPr>
          <a:xfrm>
            <a:off x="10839450" y="2535510"/>
            <a:ext cx="6180773"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Screenshots are your best friend.</a:t>
            </a:r>
            <a:endParaRPr lang="en-US" sz="2400" dirty="0"/>
          </a:p>
        </p:txBody>
      </p:sp>
      <p:sp>
        <p:nvSpPr>
          <p:cNvPr id="12" name="Text 10"/>
          <p:cNvSpPr/>
          <p:nvPr/>
        </p:nvSpPr>
        <p:spPr>
          <a:xfrm>
            <a:off x="10839450" y="3019351"/>
            <a:ext cx="6180773"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Claude reads images. Show it what you see.</a:t>
            </a:r>
            <a:endParaRPr lang="en-US" sz="1800" dirty="0"/>
          </a:p>
        </p:txBody>
      </p:sp>
      <p:sp>
        <p:nvSpPr>
          <p:cNvPr id="13" name="Shape 11"/>
          <p:cNvSpPr/>
          <p:nvPr/>
        </p:nvSpPr>
        <p:spPr>
          <a:xfrm>
            <a:off x="1143000" y="5671170"/>
            <a:ext cx="8001000" cy="9525"/>
          </a:xfrm>
          <a:prstGeom prst="rect">
            <a:avLst/>
          </a:prstGeom>
          <a:solidFill>
            <a:srgbClr val="111111"/>
          </a:solidFill>
          <a:ln/>
        </p:spPr>
        <p:txBody>
          <a:bodyPr/>
          <a:lstStyle/>
          <a:p>
            <a:endParaRPr lang="en-US"/>
          </a:p>
        </p:txBody>
      </p:sp>
      <p:sp>
        <p:nvSpPr>
          <p:cNvPr id="14" name="Shape 12"/>
          <p:cNvSpPr/>
          <p:nvPr/>
        </p:nvSpPr>
        <p:spPr>
          <a:xfrm>
            <a:off x="9134475" y="4003328"/>
            <a:ext cx="9525" cy="1677367"/>
          </a:xfrm>
          <a:prstGeom prst="rect">
            <a:avLst/>
          </a:prstGeom>
          <a:solidFill>
            <a:srgbClr val="111111"/>
          </a:solidFill>
          <a:ln/>
        </p:spPr>
        <p:txBody>
          <a:bodyPr/>
          <a:lstStyle/>
          <a:p>
            <a:endParaRPr lang="en-US"/>
          </a:p>
        </p:txBody>
      </p:sp>
      <p:sp>
        <p:nvSpPr>
          <p:cNvPr id="15" name="Text 13"/>
          <p:cNvSpPr/>
          <p:nvPr/>
        </p:nvSpPr>
        <p:spPr>
          <a:xfrm>
            <a:off x="1143000" y="4250978"/>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03</a:t>
            </a:r>
            <a:endParaRPr lang="en-US" sz="2775" dirty="0"/>
          </a:p>
        </p:txBody>
      </p:sp>
      <p:sp>
        <p:nvSpPr>
          <p:cNvPr id="16" name="Text 14"/>
          <p:cNvSpPr/>
          <p:nvPr/>
        </p:nvSpPr>
        <p:spPr>
          <a:xfrm>
            <a:off x="2457450" y="4212878"/>
            <a:ext cx="6484906"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Brief Claude like a smart new hire.</a:t>
            </a:r>
            <a:endParaRPr lang="en-US" sz="2400" dirty="0"/>
          </a:p>
        </p:txBody>
      </p:sp>
      <p:sp>
        <p:nvSpPr>
          <p:cNvPr id="17" name="Text 15"/>
          <p:cNvSpPr/>
          <p:nvPr/>
        </p:nvSpPr>
        <p:spPr>
          <a:xfrm>
            <a:off x="2457450" y="4696718"/>
            <a:ext cx="6484906"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Vague input gets vague output. Every time.</a:t>
            </a:r>
            <a:endParaRPr lang="en-US" sz="1800" dirty="0"/>
          </a:p>
        </p:txBody>
      </p:sp>
      <p:sp>
        <p:nvSpPr>
          <p:cNvPr id="18" name="Shape 16"/>
          <p:cNvSpPr/>
          <p:nvPr/>
        </p:nvSpPr>
        <p:spPr>
          <a:xfrm>
            <a:off x="9144000" y="5671170"/>
            <a:ext cx="8001000" cy="9525"/>
          </a:xfrm>
          <a:prstGeom prst="rect">
            <a:avLst/>
          </a:prstGeom>
          <a:solidFill>
            <a:srgbClr val="111111"/>
          </a:solidFill>
          <a:ln/>
        </p:spPr>
        <p:txBody>
          <a:bodyPr/>
          <a:lstStyle/>
          <a:p>
            <a:endParaRPr lang="en-US"/>
          </a:p>
        </p:txBody>
      </p:sp>
      <p:sp>
        <p:nvSpPr>
          <p:cNvPr id="19" name="Text 17"/>
          <p:cNvSpPr/>
          <p:nvPr/>
        </p:nvSpPr>
        <p:spPr>
          <a:xfrm>
            <a:off x="9525000" y="4250978"/>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04</a:t>
            </a:r>
            <a:endParaRPr lang="en-US" sz="2775" dirty="0"/>
          </a:p>
        </p:txBody>
      </p:sp>
      <p:sp>
        <p:nvSpPr>
          <p:cNvPr id="20" name="Text 18"/>
          <p:cNvSpPr/>
          <p:nvPr/>
        </p:nvSpPr>
        <p:spPr>
          <a:xfrm>
            <a:off x="10839450" y="4212878"/>
            <a:ext cx="6180773"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State the outcome before the steps.</a:t>
            </a:r>
            <a:endParaRPr lang="en-US" sz="2400" dirty="0"/>
          </a:p>
        </p:txBody>
      </p:sp>
      <p:sp>
        <p:nvSpPr>
          <p:cNvPr id="21" name="Text 19"/>
          <p:cNvSpPr/>
          <p:nvPr/>
        </p:nvSpPr>
        <p:spPr>
          <a:xfrm>
            <a:off x="10839450" y="4696718"/>
            <a:ext cx="6180773"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Tell Claude what you want, not how to do it.</a:t>
            </a:r>
            <a:endParaRPr lang="en-US" sz="1800" dirty="0"/>
          </a:p>
        </p:txBody>
      </p:sp>
      <p:sp>
        <p:nvSpPr>
          <p:cNvPr id="22" name="Shape 20"/>
          <p:cNvSpPr/>
          <p:nvPr/>
        </p:nvSpPr>
        <p:spPr>
          <a:xfrm>
            <a:off x="1143000" y="7657133"/>
            <a:ext cx="8001000" cy="9525"/>
          </a:xfrm>
          <a:prstGeom prst="rect">
            <a:avLst/>
          </a:prstGeom>
          <a:solidFill>
            <a:srgbClr val="111111"/>
          </a:solidFill>
          <a:ln/>
        </p:spPr>
        <p:txBody>
          <a:bodyPr/>
          <a:lstStyle/>
          <a:p>
            <a:endParaRPr lang="en-US"/>
          </a:p>
        </p:txBody>
      </p:sp>
      <p:sp>
        <p:nvSpPr>
          <p:cNvPr id="23" name="Shape 21"/>
          <p:cNvSpPr/>
          <p:nvPr/>
        </p:nvSpPr>
        <p:spPr>
          <a:xfrm>
            <a:off x="9134475" y="5680695"/>
            <a:ext cx="9525" cy="1985963"/>
          </a:xfrm>
          <a:prstGeom prst="rect">
            <a:avLst/>
          </a:prstGeom>
          <a:solidFill>
            <a:srgbClr val="111111"/>
          </a:solidFill>
          <a:ln/>
        </p:spPr>
        <p:txBody>
          <a:bodyPr/>
          <a:lstStyle/>
          <a:p>
            <a:endParaRPr lang="en-US"/>
          </a:p>
        </p:txBody>
      </p:sp>
      <p:sp>
        <p:nvSpPr>
          <p:cNvPr id="24" name="Text 22"/>
          <p:cNvSpPr/>
          <p:nvPr/>
        </p:nvSpPr>
        <p:spPr>
          <a:xfrm>
            <a:off x="1143000" y="5928345"/>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05</a:t>
            </a:r>
            <a:endParaRPr lang="en-US" sz="2775" dirty="0"/>
          </a:p>
        </p:txBody>
      </p:sp>
      <p:sp>
        <p:nvSpPr>
          <p:cNvPr id="25" name="Text 23"/>
          <p:cNvSpPr/>
          <p:nvPr/>
        </p:nvSpPr>
        <p:spPr>
          <a:xfrm>
            <a:off x="2457450" y="5890245"/>
            <a:ext cx="6484906"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Check the work.</a:t>
            </a:r>
            <a:endParaRPr lang="en-US" sz="2400" dirty="0"/>
          </a:p>
        </p:txBody>
      </p:sp>
      <p:sp>
        <p:nvSpPr>
          <p:cNvPr id="26" name="Text 24"/>
          <p:cNvSpPr/>
          <p:nvPr/>
        </p:nvSpPr>
        <p:spPr>
          <a:xfrm>
            <a:off x="2457450" y="6374085"/>
            <a:ext cx="6484906" cy="65529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First draft, not final answer. Claude is confident even when wrong.</a:t>
            </a:r>
            <a:endParaRPr lang="en-US" sz="1800" dirty="0"/>
          </a:p>
        </p:txBody>
      </p:sp>
      <p:sp>
        <p:nvSpPr>
          <p:cNvPr id="27" name="Shape 25"/>
          <p:cNvSpPr/>
          <p:nvPr/>
        </p:nvSpPr>
        <p:spPr>
          <a:xfrm>
            <a:off x="9144000" y="7657133"/>
            <a:ext cx="8001000" cy="9525"/>
          </a:xfrm>
          <a:prstGeom prst="rect">
            <a:avLst/>
          </a:prstGeom>
          <a:solidFill>
            <a:srgbClr val="111111"/>
          </a:solidFill>
          <a:ln/>
        </p:spPr>
        <p:txBody>
          <a:bodyPr/>
          <a:lstStyle/>
          <a:p>
            <a:endParaRPr lang="en-US"/>
          </a:p>
        </p:txBody>
      </p:sp>
      <p:sp>
        <p:nvSpPr>
          <p:cNvPr id="28" name="Text 26"/>
          <p:cNvSpPr/>
          <p:nvPr/>
        </p:nvSpPr>
        <p:spPr>
          <a:xfrm>
            <a:off x="9525000" y="5928345"/>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06</a:t>
            </a:r>
            <a:endParaRPr lang="en-US" sz="2775" dirty="0"/>
          </a:p>
        </p:txBody>
      </p:sp>
      <p:sp>
        <p:nvSpPr>
          <p:cNvPr id="29" name="Text 27"/>
          <p:cNvSpPr/>
          <p:nvPr/>
        </p:nvSpPr>
        <p:spPr>
          <a:xfrm>
            <a:off x="10839450" y="5890245"/>
            <a:ext cx="6180773"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Plan. Plan. Plan. Execute</a:t>
            </a:r>
            <a:endParaRPr lang="en-US" sz="2400" dirty="0"/>
          </a:p>
        </p:txBody>
      </p:sp>
      <p:sp>
        <p:nvSpPr>
          <p:cNvPr id="30" name="Text 28"/>
          <p:cNvSpPr/>
          <p:nvPr/>
        </p:nvSpPr>
        <p:spPr>
          <a:xfrm>
            <a:off x="10839450" y="6374085"/>
            <a:ext cx="6180773"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Measure twice, cut once applies </a:t>
            </a:r>
            <a:r>
              <a:rPr lang="en-US" i="1" dirty="0">
                <a:solidFill>
                  <a:srgbClr val="000000"/>
                </a:solidFill>
                <a:latin typeface="Libre Baskerville" pitchFamily="34" charset="0"/>
                <a:ea typeface="Libre Baskerville" pitchFamily="34" charset="-122"/>
                <a:cs typeface="Libre Baskerville" pitchFamily="34" charset="-120"/>
              </a:rPr>
              <a:t>to AI</a:t>
            </a:r>
            <a:endParaRPr lang="en-US" sz="1800" dirty="0"/>
          </a:p>
        </p:txBody>
      </p:sp>
      <p:sp>
        <p:nvSpPr>
          <p:cNvPr id="31" name="Shape 29"/>
          <p:cNvSpPr/>
          <p:nvPr/>
        </p:nvSpPr>
        <p:spPr>
          <a:xfrm>
            <a:off x="9134475" y="7666658"/>
            <a:ext cx="9525" cy="1667842"/>
          </a:xfrm>
          <a:prstGeom prst="rect">
            <a:avLst/>
          </a:prstGeom>
          <a:solidFill>
            <a:srgbClr val="111111"/>
          </a:solidFill>
          <a:ln/>
        </p:spPr>
        <p:txBody>
          <a:bodyPr/>
          <a:lstStyle/>
          <a:p>
            <a:endParaRPr lang="en-US"/>
          </a:p>
        </p:txBody>
      </p:sp>
      <p:sp>
        <p:nvSpPr>
          <p:cNvPr id="32" name="Text 30"/>
          <p:cNvSpPr/>
          <p:nvPr/>
        </p:nvSpPr>
        <p:spPr>
          <a:xfrm>
            <a:off x="1143000" y="7914308"/>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07</a:t>
            </a:r>
            <a:endParaRPr lang="en-US" sz="2775" dirty="0"/>
          </a:p>
        </p:txBody>
      </p:sp>
      <p:sp>
        <p:nvSpPr>
          <p:cNvPr id="33" name="Text 31"/>
          <p:cNvSpPr/>
          <p:nvPr/>
        </p:nvSpPr>
        <p:spPr>
          <a:xfrm>
            <a:off x="2457450" y="7876208"/>
            <a:ext cx="6484906"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Share what you learn.</a:t>
            </a:r>
            <a:endParaRPr lang="en-US" sz="2400" dirty="0"/>
          </a:p>
        </p:txBody>
      </p:sp>
      <p:sp>
        <p:nvSpPr>
          <p:cNvPr id="34" name="Text 32"/>
          <p:cNvSpPr/>
          <p:nvPr/>
        </p:nvSpPr>
        <p:spPr>
          <a:xfrm>
            <a:off x="2457450" y="8360048"/>
            <a:ext cx="6484906"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Five people learning together beat five learning alone.</a:t>
            </a:r>
            <a:endParaRPr lang="en-US" sz="1800" dirty="0"/>
          </a:p>
        </p:txBody>
      </p:sp>
      <p:sp>
        <p:nvSpPr>
          <p:cNvPr id="35" name="Text 33"/>
          <p:cNvSpPr/>
          <p:nvPr/>
        </p:nvSpPr>
        <p:spPr>
          <a:xfrm>
            <a:off x="9525000" y="7914308"/>
            <a:ext cx="1123950" cy="495300"/>
          </a:xfrm>
          <a:prstGeom prst="rect">
            <a:avLst/>
          </a:prstGeom>
          <a:noFill/>
          <a:ln/>
        </p:spPr>
        <p:txBody>
          <a:bodyPr wrap="square" lIns="25400" tIns="25400" rIns="25400" bIns="25400" rtlCol="0" anchor="t">
            <a:normAutofit/>
          </a:bodyPr>
          <a:lstStyle/>
          <a:p>
            <a:pPr marL="0" indent="0" algn="l">
              <a:buNone/>
            </a:pPr>
            <a:r>
              <a:rPr lang="en-US" sz="2775" b="1" kern="0" spc="150" dirty="0">
                <a:solidFill>
                  <a:srgbClr val="029E90"/>
                </a:solidFill>
                <a:latin typeface="IBM Plex Mono" pitchFamily="34" charset="0"/>
                <a:ea typeface="IBM Plex Mono" pitchFamily="34" charset="-122"/>
                <a:cs typeface="IBM Plex Mono" pitchFamily="34" charset="-120"/>
              </a:rPr>
              <a:t>08</a:t>
            </a:r>
            <a:endParaRPr lang="en-US" sz="2775" dirty="0"/>
          </a:p>
        </p:txBody>
      </p:sp>
      <p:sp>
        <p:nvSpPr>
          <p:cNvPr id="36" name="Text 34"/>
          <p:cNvSpPr/>
          <p:nvPr/>
        </p:nvSpPr>
        <p:spPr>
          <a:xfrm>
            <a:off x="10839450" y="7876208"/>
            <a:ext cx="6180773"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00000"/>
                </a:solidFill>
                <a:latin typeface="Playfair Display" pitchFamily="34" charset="0"/>
                <a:ea typeface="Playfair Display" pitchFamily="34" charset="-122"/>
                <a:cs typeface="Playfair Display" pitchFamily="34" charset="-120"/>
              </a:rPr>
              <a:t>Claude is step one, not a side quest.</a:t>
            </a:r>
            <a:endParaRPr lang="en-US" sz="2400" dirty="0"/>
          </a:p>
        </p:txBody>
      </p:sp>
      <p:sp>
        <p:nvSpPr>
          <p:cNvPr id="37" name="Text 35"/>
          <p:cNvSpPr/>
          <p:nvPr/>
        </p:nvSpPr>
        <p:spPr>
          <a:xfrm>
            <a:off x="10839450" y="8360048"/>
            <a:ext cx="6180773" cy="34669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000000"/>
                </a:solidFill>
                <a:latin typeface="Libre Baskerville" pitchFamily="34" charset="0"/>
                <a:ea typeface="Libre Baskerville" pitchFamily="34" charset="-122"/>
                <a:cs typeface="Libre Baskerville" pitchFamily="34" charset="-120"/>
              </a:rPr>
              <a:t>Open it before Word, before email, before anything.</a:t>
            </a:r>
            <a:endParaRPr lang="en-US" sz="1800" dirty="0"/>
          </a:p>
        </p:txBody>
      </p:sp>
      <p:sp>
        <p:nvSpPr>
          <p:cNvPr id="38" name="Text 36"/>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39" name="TextBox 38">
            <a:extLst>
              <a:ext uri="{FF2B5EF4-FFF2-40B4-BE49-F238E27FC236}">
                <a16:creationId xmlns:a16="http://schemas.microsoft.com/office/drawing/2014/main" id="{9EAF0344-725B-D946-A30C-9A75B0B28BFB}"/>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09 / 23</a:t>
            </a:r>
          </a:p>
        </p:txBody>
      </p:sp>
    </p:spTree>
    <p:extLst>
      <p:ext uri="{BB962C8B-B14F-4D97-AF65-F5344CB8AC3E}">
        <p14:creationId xmlns:p14="http://schemas.microsoft.com/office/powerpoint/2010/main" val="236053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1104900"/>
            <a:ext cx="3527961" cy="238125"/>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029E90"/>
                </a:solidFill>
                <a:latin typeface="IBM Plex Mono" pitchFamily="34" charset="0"/>
                <a:ea typeface="IBM Plex Mono" pitchFamily="34" charset="-122"/>
                <a:cs typeface="IBM Plex Mono" pitchFamily="34" charset="-120"/>
              </a:rPr>
              <a:t>LIFT: 3–6 HOURS / PERSON / WEEK</a:t>
            </a:r>
            <a:endParaRPr lang="en-US" sz="1200" dirty="0"/>
          </a:p>
        </p:txBody>
      </p:sp>
      <p:sp>
        <p:nvSpPr>
          <p:cNvPr id="4" name="Text 2"/>
          <p:cNvSpPr/>
          <p:nvPr/>
        </p:nvSpPr>
        <p:spPr>
          <a:xfrm>
            <a:off x="1143000" y="1457325"/>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Start here. Quick wins in </a:t>
            </a:r>
            <a:r>
              <a:rPr lang="en-US" sz="4800" b="1" i="1" kern="0" spc="-112" dirty="0">
                <a:solidFill>
                  <a:srgbClr val="04CCBA"/>
                </a:solidFill>
                <a:latin typeface="Playfair Display" pitchFamily="34" charset="0"/>
                <a:ea typeface="Playfair Display" pitchFamily="34" charset="-122"/>
                <a:cs typeface="Playfair Display" pitchFamily="34" charset="-120"/>
              </a:rPr>
              <a:t>Chat.</a:t>
            </a:r>
            <a:endParaRPr lang="en-US" sz="4800" dirty="0"/>
          </a:p>
        </p:txBody>
      </p:sp>
      <p:sp>
        <p:nvSpPr>
          <p:cNvPr id="5" name="Shape 3"/>
          <p:cNvSpPr/>
          <p:nvPr/>
        </p:nvSpPr>
        <p:spPr>
          <a:xfrm>
            <a:off x="1143000" y="4006974"/>
            <a:ext cx="16002000" cy="9525"/>
          </a:xfrm>
          <a:prstGeom prst="rect">
            <a:avLst/>
          </a:prstGeom>
          <a:solidFill>
            <a:srgbClr val="111111"/>
          </a:solidFill>
          <a:ln/>
        </p:spPr>
        <p:txBody>
          <a:bodyPr/>
          <a:lstStyle/>
          <a:p>
            <a:endParaRPr lang="en-US"/>
          </a:p>
        </p:txBody>
      </p:sp>
      <p:sp>
        <p:nvSpPr>
          <p:cNvPr id="6" name="Text 4"/>
          <p:cNvSpPr/>
          <p:nvPr/>
        </p:nvSpPr>
        <p:spPr>
          <a:xfrm>
            <a:off x="1143000" y="2968898"/>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01</a:t>
            </a:r>
            <a:endParaRPr lang="en-US" sz="1500" dirty="0"/>
          </a:p>
        </p:txBody>
      </p:sp>
      <p:sp>
        <p:nvSpPr>
          <p:cNvPr id="7" name="Text 5"/>
          <p:cNvSpPr/>
          <p:nvPr/>
        </p:nvSpPr>
        <p:spPr>
          <a:xfrm>
            <a:off x="2114550" y="2897460"/>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University follow-up emails</a:t>
            </a:r>
            <a:endParaRPr lang="en-US" sz="1950" dirty="0"/>
          </a:p>
        </p:txBody>
      </p:sp>
      <p:sp>
        <p:nvSpPr>
          <p:cNvPr id="8" name="Text 6"/>
          <p:cNvSpPr/>
          <p:nvPr/>
        </p:nvSpPr>
        <p:spPr>
          <a:xfrm>
            <a:off x="2114550" y="3298403"/>
            <a:ext cx="13354500" cy="582885"/>
          </a:xfrm>
          <a:prstGeom prst="rect">
            <a:avLst/>
          </a:prstGeom>
          <a:noFill/>
          <a:ln/>
        </p:spPr>
        <p:txBody>
          <a:bodyPr wrap="square" lIns="0" tIns="0" rIns="0" bIns="0" rtlCol="0" anchor="t">
            <a:normAutofit fontScale="925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Draft replies to procurement, academic advisors, and trip leads. Claude reads their last message and writes in Millennium voice.</a:t>
            </a:r>
            <a:endParaRPr lang="en-US" sz="1650" dirty="0"/>
          </a:p>
        </p:txBody>
      </p:sp>
      <p:sp>
        <p:nvSpPr>
          <p:cNvPr id="9" name="Text 7"/>
          <p:cNvSpPr/>
          <p:nvPr/>
        </p:nvSpPr>
        <p:spPr>
          <a:xfrm>
            <a:off x="15354300" y="3006998"/>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10" name="Shape 8"/>
          <p:cNvSpPr/>
          <p:nvPr/>
        </p:nvSpPr>
        <p:spPr>
          <a:xfrm>
            <a:off x="1143000" y="4995565"/>
            <a:ext cx="16002000" cy="9525"/>
          </a:xfrm>
          <a:prstGeom prst="rect">
            <a:avLst/>
          </a:prstGeom>
          <a:solidFill>
            <a:srgbClr val="111111"/>
          </a:solidFill>
          <a:ln/>
        </p:spPr>
        <p:txBody>
          <a:bodyPr/>
          <a:lstStyle/>
          <a:p>
            <a:endParaRPr lang="en-US"/>
          </a:p>
        </p:txBody>
      </p:sp>
      <p:sp>
        <p:nvSpPr>
          <p:cNvPr id="11" name="Text 9"/>
          <p:cNvSpPr/>
          <p:nvPr/>
        </p:nvSpPr>
        <p:spPr>
          <a:xfrm>
            <a:off x="1143000" y="4240337"/>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02</a:t>
            </a:r>
            <a:endParaRPr lang="en-US" sz="1500" dirty="0"/>
          </a:p>
        </p:txBody>
      </p:sp>
      <p:sp>
        <p:nvSpPr>
          <p:cNvPr id="12" name="Text 10"/>
          <p:cNvSpPr/>
          <p:nvPr/>
        </p:nvSpPr>
        <p:spPr>
          <a:xfrm>
            <a:off x="2114550" y="4168899"/>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First-pass itinerary drafts</a:t>
            </a:r>
            <a:endParaRPr lang="en-US" sz="1950" dirty="0"/>
          </a:p>
        </p:txBody>
      </p:sp>
      <p:sp>
        <p:nvSpPr>
          <p:cNvPr id="13" name="Text 11"/>
          <p:cNvSpPr/>
          <p:nvPr/>
        </p:nvSpPr>
        <p:spPr>
          <a:xfrm>
            <a:off x="2114550" y="4569842"/>
            <a:ext cx="10913999"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From a half-page brief, generate a day-by-day itinerary with inclusions, exclusions, and meal notes.</a:t>
            </a:r>
            <a:endParaRPr lang="en-US" sz="1650" dirty="0"/>
          </a:p>
        </p:txBody>
      </p:sp>
      <p:sp>
        <p:nvSpPr>
          <p:cNvPr id="14" name="Text 12"/>
          <p:cNvSpPr/>
          <p:nvPr/>
        </p:nvSpPr>
        <p:spPr>
          <a:xfrm>
            <a:off x="15354300" y="4278437"/>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15" name="Shape 13"/>
          <p:cNvSpPr/>
          <p:nvPr/>
        </p:nvSpPr>
        <p:spPr>
          <a:xfrm>
            <a:off x="1143000" y="5984156"/>
            <a:ext cx="16002000" cy="9525"/>
          </a:xfrm>
          <a:prstGeom prst="rect">
            <a:avLst/>
          </a:prstGeom>
          <a:solidFill>
            <a:srgbClr val="111111"/>
          </a:solidFill>
          <a:ln/>
        </p:spPr>
        <p:txBody>
          <a:bodyPr/>
          <a:lstStyle/>
          <a:p>
            <a:endParaRPr lang="en-US"/>
          </a:p>
        </p:txBody>
      </p:sp>
      <p:sp>
        <p:nvSpPr>
          <p:cNvPr id="16" name="Text 14"/>
          <p:cNvSpPr/>
          <p:nvPr/>
        </p:nvSpPr>
        <p:spPr>
          <a:xfrm>
            <a:off x="1143000" y="5228927"/>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03</a:t>
            </a:r>
            <a:endParaRPr lang="en-US" sz="1500" dirty="0"/>
          </a:p>
        </p:txBody>
      </p:sp>
      <p:sp>
        <p:nvSpPr>
          <p:cNvPr id="17" name="Text 15"/>
          <p:cNvSpPr/>
          <p:nvPr/>
        </p:nvSpPr>
        <p:spPr>
          <a:xfrm>
            <a:off x="2114550" y="5157490"/>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Vendor &amp; airline hold requests</a:t>
            </a:r>
            <a:endParaRPr lang="en-US" sz="1950" dirty="0"/>
          </a:p>
        </p:txBody>
      </p:sp>
      <p:sp>
        <p:nvSpPr>
          <p:cNvPr id="18" name="Text 16"/>
          <p:cNvSpPr/>
          <p:nvPr/>
        </p:nvSpPr>
        <p:spPr>
          <a:xfrm>
            <a:off x="2114550" y="5558433"/>
            <a:ext cx="10370576"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Write precise, courteous hold requests. Includes deadlines, group sizes, and fare class specifics.</a:t>
            </a:r>
            <a:endParaRPr lang="en-US" sz="1650" dirty="0"/>
          </a:p>
        </p:txBody>
      </p:sp>
      <p:sp>
        <p:nvSpPr>
          <p:cNvPr id="19" name="Text 17"/>
          <p:cNvSpPr/>
          <p:nvPr/>
        </p:nvSpPr>
        <p:spPr>
          <a:xfrm>
            <a:off x="15354300" y="5267027"/>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20" name="Shape 18"/>
          <p:cNvSpPr/>
          <p:nvPr/>
        </p:nvSpPr>
        <p:spPr>
          <a:xfrm>
            <a:off x="1143000" y="6972746"/>
            <a:ext cx="16002000" cy="9525"/>
          </a:xfrm>
          <a:prstGeom prst="rect">
            <a:avLst/>
          </a:prstGeom>
          <a:solidFill>
            <a:srgbClr val="111111"/>
          </a:solidFill>
          <a:ln/>
        </p:spPr>
        <p:txBody>
          <a:bodyPr/>
          <a:lstStyle/>
          <a:p>
            <a:endParaRPr lang="en-US"/>
          </a:p>
        </p:txBody>
      </p:sp>
      <p:sp>
        <p:nvSpPr>
          <p:cNvPr id="21" name="Text 19"/>
          <p:cNvSpPr/>
          <p:nvPr/>
        </p:nvSpPr>
        <p:spPr>
          <a:xfrm>
            <a:off x="1143000" y="6217518"/>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04</a:t>
            </a:r>
            <a:endParaRPr lang="en-US" sz="1500" dirty="0"/>
          </a:p>
        </p:txBody>
      </p:sp>
      <p:sp>
        <p:nvSpPr>
          <p:cNvPr id="22" name="Text 20"/>
          <p:cNvSpPr/>
          <p:nvPr/>
        </p:nvSpPr>
        <p:spPr>
          <a:xfrm>
            <a:off x="2114550" y="6146081"/>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Traveller support replies</a:t>
            </a:r>
            <a:endParaRPr lang="en-US" sz="1950" dirty="0"/>
          </a:p>
        </p:txBody>
      </p:sp>
      <p:sp>
        <p:nvSpPr>
          <p:cNvPr id="23" name="Text 21"/>
          <p:cNvSpPr/>
          <p:nvPr/>
        </p:nvSpPr>
        <p:spPr>
          <a:xfrm>
            <a:off x="2114550" y="6547024"/>
            <a:ext cx="9230306"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Respond to common passenger questions. Baggage, visas, dietary, itinerary changes.</a:t>
            </a:r>
            <a:endParaRPr lang="en-US" sz="1650" dirty="0"/>
          </a:p>
        </p:txBody>
      </p:sp>
      <p:sp>
        <p:nvSpPr>
          <p:cNvPr id="24" name="Text 22"/>
          <p:cNvSpPr/>
          <p:nvPr/>
        </p:nvSpPr>
        <p:spPr>
          <a:xfrm>
            <a:off x="15354300" y="6255618"/>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25" name="Shape 23"/>
          <p:cNvSpPr/>
          <p:nvPr/>
        </p:nvSpPr>
        <p:spPr>
          <a:xfrm>
            <a:off x="1143000" y="7961337"/>
            <a:ext cx="16002000" cy="9525"/>
          </a:xfrm>
          <a:prstGeom prst="rect">
            <a:avLst/>
          </a:prstGeom>
          <a:solidFill>
            <a:srgbClr val="111111"/>
          </a:solidFill>
          <a:ln/>
        </p:spPr>
        <p:txBody>
          <a:bodyPr/>
          <a:lstStyle/>
          <a:p>
            <a:endParaRPr lang="en-US"/>
          </a:p>
        </p:txBody>
      </p:sp>
      <p:sp>
        <p:nvSpPr>
          <p:cNvPr id="26" name="Text 24"/>
          <p:cNvSpPr/>
          <p:nvPr/>
        </p:nvSpPr>
        <p:spPr>
          <a:xfrm>
            <a:off x="1143000" y="7206109"/>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05</a:t>
            </a:r>
            <a:endParaRPr lang="en-US" sz="1500" dirty="0"/>
          </a:p>
        </p:txBody>
      </p:sp>
      <p:sp>
        <p:nvSpPr>
          <p:cNvPr id="27" name="Text 25"/>
          <p:cNvSpPr/>
          <p:nvPr/>
        </p:nvSpPr>
        <p:spPr>
          <a:xfrm>
            <a:off x="2114550" y="7134671"/>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"What am I missing?" on a contract</a:t>
            </a:r>
            <a:endParaRPr lang="en-US" sz="1950" dirty="0"/>
          </a:p>
        </p:txBody>
      </p:sp>
      <p:sp>
        <p:nvSpPr>
          <p:cNvPr id="28" name="Text 26"/>
          <p:cNvSpPr/>
          <p:nvPr/>
        </p:nvSpPr>
        <p:spPr>
          <a:xfrm>
            <a:off x="2114550" y="7535614"/>
            <a:ext cx="10023291"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Paste an airline or vendor contract. Ask Claude to flag anything that could cost money later.</a:t>
            </a:r>
            <a:endParaRPr lang="en-US" sz="1650" dirty="0"/>
          </a:p>
        </p:txBody>
      </p:sp>
      <p:sp>
        <p:nvSpPr>
          <p:cNvPr id="29" name="Text 27"/>
          <p:cNvSpPr/>
          <p:nvPr/>
        </p:nvSpPr>
        <p:spPr>
          <a:xfrm>
            <a:off x="15354300" y="7244209"/>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30" name="Text 28"/>
          <p:cNvSpPr/>
          <p:nvPr/>
        </p:nvSpPr>
        <p:spPr>
          <a:xfrm>
            <a:off x="1143000" y="8194700"/>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06</a:t>
            </a:r>
            <a:endParaRPr lang="en-US" sz="1500" dirty="0"/>
          </a:p>
        </p:txBody>
      </p:sp>
      <p:sp>
        <p:nvSpPr>
          <p:cNvPr id="31" name="Text 29"/>
          <p:cNvSpPr/>
          <p:nvPr/>
        </p:nvSpPr>
        <p:spPr>
          <a:xfrm>
            <a:off x="2114550" y="8123262"/>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Voice &amp; tone cleanup</a:t>
            </a:r>
            <a:endParaRPr lang="en-US" sz="1950" dirty="0"/>
          </a:p>
        </p:txBody>
      </p:sp>
      <p:sp>
        <p:nvSpPr>
          <p:cNvPr id="32" name="Text 30"/>
          <p:cNvSpPr/>
          <p:nvPr/>
        </p:nvSpPr>
        <p:spPr>
          <a:xfrm>
            <a:off x="2114550" y="8524205"/>
            <a:ext cx="10547093"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Paste a draft written by a junior. Claude rewrites in Millennium voice while keeping the content.</a:t>
            </a:r>
            <a:endParaRPr lang="en-US" sz="1650" dirty="0"/>
          </a:p>
        </p:txBody>
      </p:sp>
      <p:sp>
        <p:nvSpPr>
          <p:cNvPr id="33" name="Text 31"/>
          <p:cNvSpPr/>
          <p:nvPr/>
        </p:nvSpPr>
        <p:spPr>
          <a:xfrm>
            <a:off x="15354300" y="8232800"/>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CHAT</a:t>
            </a:r>
            <a:endParaRPr lang="en-US" sz="1200" dirty="0"/>
          </a:p>
        </p:txBody>
      </p:sp>
      <p:sp>
        <p:nvSpPr>
          <p:cNvPr id="34" name="Text 32"/>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F20D40C6-3002-D048-872B-69F7FE1CDD6C}"/>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10 / 23</a:t>
            </a:r>
          </a:p>
        </p:txBody>
      </p:sp>
    </p:spTree>
    <p:extLst>
      <p:ext uri="{BB962C8B-B14F-4D97-AF65-F5344CB8AC3E}">
        <p14:creationId xmlns:p14="http://schemas.microsoft.com/office/powerpoint/2010/main" val="2081296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1104900"/>
            <a:ext cx="3641781" cy="238125"/>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029E90"/>
                </a:solidFill>
                <a:latin typeface="IBM Plex Mono" pitchFamily="34" charset="0"/>
                <a:ea typeface="IBM Plex Mono" pitchFamily="34" charset="-122"/>
                <a:cs typeface="IBM Plex Mono" pitchFamily="34" charset="-120"/>
              </a:rPr>
              <a:t>LIFT: WHOLE WORKFLOWS, NOT TASKS</a:t>
            </a:r>
            <a:endParaRPr lang="en-US" sz="1200" dirty="0"/>
          </a:p>
        </p:txBody>
      </p:sp>
      <p:sp>
        <p:nvSpPr>
          <p:cNvPr id="4" name="Text 2"/>
          <p:cNvSpPr/>
          <p:nvPr/>
        </p:nvSpPr>
        <p:spPr>
          <a:xfrm>
            <a:off x="1143000" y="1457325"/>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Department workflows in </a:t>
            </a:r>
            <a:r>
              <a:rPr lang="en-US" sz="4800" b="1" i="1" kern="0" spc="-112" dirty="0">
                <a:solidFill>
                  <a:srgbClr val="04CCBA"/>
                </a:solidFill>
                <a:latin typeface="Playfair Display" pitchFamily="34" charset="0"/>
                <a:ea typeface="Playfair Display" pitchFamily="34" charset="-122"/>
                <a:cs typeface="Playfair Display" pitchFamily="34" charset="-120"/>
              </a:rPr>
              <a:t>Cowork.</a:t>
            </a:r>
            <a:endParaRPr lang="en-US" sz="4800" dirty="0"/>
          </a:p>
        </p:txBody>
      </p:sp>
      <p:sp>
        <p:nvSpPr>
          <p:cNvPr id="5" name="Shape 3"/>
          <p:cNvSpPr/>
          <p:nvPr/>
        </p:nvSpPr>
        <p:spPr>
          <a:xfrm>
            <a:off x="1143000" y="4006974"/>
            <a:ext cx="16002000" cy="9525"/>
          </a:xfrm>
          <a:prstGeom prst="rect">
            <a:avLst/>
          </a:prstGeom>
          <a:solidFill>
            <a:srgbClr val="111111"/>
          </a:solidFill>
          <a:ln/>
        </p:spPr>
        <p:txBody>
          <a:bodyPr/>
          <a:lstStyle/>
          <a:p>
            <a:endParaRPr lang="en-US"/>
          </a:p>
        </p:txBody>
      </p:sp>
      <p:sp>
        <p:nvSpPr>
          <p:cNvPr id="6" name="Text 4"/>
          <p:cNvSpPr/>
          <p:nvPr/>
        </p:nvSpPr>
        <p:spPr>
          <a:xfrm>
            <a:off x="1143000" y="2968898"/>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07</a:t>
            </a:r>
            <a:endParaRPr lang="en-US" sz="1500" dirty="0"/>
          </a:p>
        </p:txBody>
      </p:sp>
      <p:sp>
        <p:nvSpPr>
          <p:cNvPr id="7" name="Text 5"/>
          <p:cNvSpPr/>
          <p:nvPr/>
        </p:nvSpPr>
        <p:spPr>
          <a:xfrm>
            <a:off x="2114550" y="2897460"/>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Invoice reconciliation from a folder</a:t>
            </a:r>
            <a:endParaRPr lang="en-US" sz="1950" dirty="0"/>
          </a:p>
        </p:txBody>
      </p:sp>
      <p:sp>
        <p:nvSpPr>
          <p:cNvPr id="8" name="Text 6"/>
          <p:cNvSpPr/>
          <p:nvPr/>
        </p:nvSpPr>
        <p:spPr>
          <a:xfrm>
            <a:off x="2114550" y="3298403"/>
            <a:ext cx="13273562"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Point Claude at a OneDrive folder of airline and vendor invoices. It produces a reconciliation sheet and flags mismatches against your bookings.</a:t>
            </a:r>
            <a:endParaRPr lang="en-US" sz="1650" dirty="0"/>
          </a:p>
        </p:txBody>
      </p:sp>
      <p:sp>
        <p:nvSpPr>
          <p:cNvPr id="9" name="Text 7"/>
          <p:cNvSpPr/>
          <p:nvPr/>
        </p:nvSpPr>
        <p:spPr>
          <a:xfrm>
            <a:off x="15354300" y="3006998"/>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10" name="Shape 8"/>
          <p:cNvSpPr/>
          <p:nvPr/>
        </p:nvSpPr>
        <p:spPr>
          <a:xfrm>
            <a:off x="1143000" y="5278413"/>
            <a:ext cx="16002000" cy="9525"/>
          </a:xfrm>
          <a:prstGeom prst="rect">
            <a:avLst/>
          </a:prstGeom>
          <a:solidFill>
            <a:srgbClr val="111111"/>
          </a:solidFill>
          <a:ln/>
        </p:spPr>
        <p:txBody>
          <a:bodyPr/>
          <a:lstStyle/>
          <a:p>
            <a:endParaRPr lang="en-US"/>
          </a:p>
        </p:txBody>
      </p:sp>
      <p:sp>
        <p:nvSpPr>
          <p:cNvPr id="11" name="Text 9"/>
          <p:cNvSpPr/>
          <p:nvPr/>
        </p:nvSpPr>
        <p:spPr>
          <a:xfrm>
            <a:off x="1143000" y="4240337"/>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08</a:t>
            </a:r>
            <a:endParaRPr lang="en-US" sz="1500" dirty="0"/>
          </a:p>
        </p:txBody>
      </p:sp>
      <p:sp>
        <p:nvSpPr>
          <p:cNvPr id="12" name="Text 10"/>
          <p:cNvSpPr/>
          <p:nvPr/>
        </p:nvSpPr>
        <p:spPr>
          <a:xfrm>
            <a:off x="2114550" y="4168899"/>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Passenger manifest builder</a:t>
            </a:r>
            <a:endParaRPr lang="en-US" sz="1950" dirty="0"/>
          </a:p>
        </p:txBody>
      </p:sp>
      <p:sp>
        <p:nvSpPr>
          <p:cNvPr id="13" name="Text 11"/>
          <p:cNvSpPr/>
          <p:nvPr/>
        </p:nvSpPr>
        <p:spPr>
          <a:xfrm>
            <a:off x="2114550" y="4569842"/>
            <a:ext cx="13136058"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From vendor confirmations and intake forms, generate clean Word manifests per trip. Passport numbers, dietary, room pairings, verified.</a:t>
            </a:r>
            <a:endParaRPr lang="en-US" sz="1650" dirty="0"/>
          </a:p>
        </p:txBody>
      </p:sp>
      <p:sp>
        <p:nvSpPr>
          <p:cNvPr id="14" name="Text 12"/>
          <p:cNvSpPr/>
          <p:nvPr/>
        </p:nvSpPr>
        <p:spPr>
          <a:xfrm>
            <a:off x="15354300" y="4278437"/>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15" name="Shape 13"/>
          <p:cNvSpPr/>
          <p:nvPr/>
        </p:nvSpPr>
        <p:spPr>
          <a:xfrm>
            <a:off x="1143000" y="6267004"/>
            <a:ext cx="16002000" cy="9525"/>
          </a:xfrm>
          <a:prstGeom prst="rect">
            <a:avLst/>
          </a:prstGeom>
          <a:solidFill>
            <a:srgbClr val="111111"/>
          </a:solidFill>
          <a:ln/>
        </p:spPr>
        <p:txBody>
          <a:bodyPr/>
          <a:lstStyle/>
          <a:p>
            <a:endParaRPr lang="en-US"/>
          </a:p>
        </p:txBody>
      </p:sp>
      <p:sp>
        <p:nvSpPr>
          <p:cNvPr id="16" name="Text 14"/>
          <p:cNvSpPr/>
          <p:nvPr/>
        </p:nvSpPr>
        <p:spPr>
          <a:xfrm>
            <a:off x="1143000" y="5511775"/>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09</a:t>
            </a:r>
            <a:endParaRPr lang="en-US" sz="1500" dirty="0"/>
          </a:p>
        </p:txBody>
      </p:sp>
      <p:sp>
        <p:nvSpPr>
          <p:cNvPr id="17" name="Text 15"/>
          <p:cNvSpPr/>
          <p:nvPr/>
        </p:nvSpPr>
        <p:spPr>
          <a:xfrm>
            <a:off x="2114550" y="5440338"/>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Proposal factory</a:t>
            </a:r>
            <a:endParaRPr lang="en-US" sz="1950" dirty="0"/>
          </a:p>
        </p:txBody>
      </p:sp>
      <p:sp>
        <p:nvSpPr>
          <p:cNvPr id="18" name="Text 16"/>
          <p:cNvSpPr/>
          <p:nvPr/>
        </p:nvSpPr>
        <p:spPr>
          <a:xfrm>
            <a:off x="2114550" y="5841281"/>
            <a:ext cx="12923670"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Drop 12 intake forms in a folder. Get 12 branded Millennium proposals out. All identical in format, unique in content.</a:t>
            </a:r>
            <a:endParaRPr lang="en-US" sz="1650" dirty="0"/>
          </a:p>
        </p:txBody>
      </p:sp>
      <p:sp>
        <p:nvSpPr>
          <p:cNvPr id="19" name="Text 17"/>
          <p:cNvSpPr/>
          <p:nvPr/>
        </p:nvSpPr>
        <p:spPr>
          <a:xfrm>
            <a:off x="15354300" y="5549875"/>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20" name="Shape 18"/>
          <p:cNvSpPr/>
          <p:nvPr/>
        </p:nvSpPr>
        <p:spPr>
          <a:xfrm>
            <a:off x="1143000" y="7538442"/>
            <a:ext cx="16002000" cy="9525"/>
          </a:xfrm>
          <a:prstGeom prst="rect">
            <a:avLst/>
          </a:prstGeom>
          <a:solidFill>
            <a:srgbClr val="111111"/>
          </a:solidFill>
          <a:ln/>
        </p:spPr>
        <p:txBody>
          <a:bodyPr/>
          <a:lstStyle/>
          <a:p>
            <a:endParaRPr lang="en-US"/>
          </a:p>
        </p:txBody>
      </p:sp>
      <p:sp>
        <p:nvSpPr>
          <p:cNvPr id="21" name="Text 19"/>
          <p:cNvSpPr/>
          <p:nvPr/>
        </p:nvSpPr>
        <p:spPr>
          <a:xfrm>
            <a:off x="1143000" y="6500366"/>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10</a:t>
            </a:r>
            <a:endParaRPr lang="en-US" sz="1500" dirty="0"/>
          </a:p>
        </p:txBody>
      </p:sp>
      <p:sp>
        <p:nvSpPr>
          <p:cNvPr id="22" name="Text 20"/>
          <p:cNvSpPr/>
          <p:nvPr/>
        </p:nvSpPr>
        <p:spPr>
          <a:xfrm>
            <a:off x="2114550" y="6428929"/>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Airline contract deadline tracker</a:t>
            </a:r>
            <a:endParaRPr lang="en-US" sz="1950" dirty="0"/>
          </a:p>
        </p:txBody>
      </p:sp>
      <p:sp>
        <p:nvSpPr>
          <p:cNvPr id="23" name="Text 21"/>
          <p:cNvSpPr/>
          <p:nvPr/>
        </p:nvSpPr>
        <p:spPr>
          <a:xfrm>
            <a:off x="2114550" y="6829871"/>
            <a:ext cx="12724926"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Scan your contracts folder monthly. Output a Word memo listing every expiry, option deadline, and minimum-pax clause in the next 90 days.</a:t>
            </a:r>
            <a:endParaRPr lang="en-US" sz="1650" dirty="0"/>
          </a:p>
        </p:txBody>
      </p:sp>
      <p:sp>
        <p:nvSpPr>
          <p:cNvPr id="24" name="Text 22"/>
          <p:cNvSpPr/>
          <p:nvPr/>
        </p:nvSpPr>
        <p:spPr>
          <a:xfrm>
            <a:off x="15354300" y="6538466"/>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25" name="Shape 23"/>
          <p:cNvSpPr/>
          <p:nvPr/>
        </p:nvSpPr>
        <p:spPr>
          <a:xfrm>
            <a:off x="1143000" y="8527033"/>
            <a:ext cx="16002000" cy="9525"/>
          </a:xfrm>
          <a:prstGeom prst="rect">
            <a:avLst/>
          </a:prstGeom>
          <a:solidFill>
            <a:srgbClr val="111111"/>
          </a:solidFill>
          <a:ln/>
        </p:spPr>
        <p:txBody>
          <a:bodyPr/>
          <a:lstStyle/>
          <a:p>
            <a:endParaRPr lang="en-US"/>
          </a:p>
        </p:txBody>
      </p:sp>
      <p:sp>
        <p:nvSpPr>
          <p:cNvPr id="26" name="Text 24"/>
          <p:cNvSpPr/>
          <p:nvPr/>
        </p:nvSpPr>
        <p:spPr>
          <a:xfrm>
            <a:off x="1143000" y="7771805"/>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11</a:t>
            </a:r>
            <a:endParaRPr lang="en-US" sz="1500" dirty="0"/>
          </a:p>
        </p:txBody>
      </p:sp>
      <p:sp>
        <p:nvSpPr>
          <p:cNvPr id="27" name="Text 25"/>
          <p:cNvSpPr/>
          <p:nvPr/>
        </p:nvSpPr>
        <p:spPr>
          <a:xfrm>
            <a:off x="2114550" y="7700367"/>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Trip file bulk-rename &amp; organise</a:t>
            </a:r>
            <a:endParaRPr lang="en-US" sz="1950" dirty="0"/>
          </a:p>
        </p:txBody>
      </p:sp>
      <p:sp>
        <p:nvSpPr>
          <p:cNvPr id="28" name="Text 26"/>
          <p:cNvSpPr/>
          <p:nvPr/>
        </p:nvSpPr>
        <p:spPr>
          <a:xfrm>
            <a:off x="2114550" y="8101310"/>
            <a:ext cx="10764232"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Apply the Millennium naming convention across a messy drive. Files grouped by trip, client, year.</a:t>
            </a:r>
            <a:endParaRPr lang="en-US" sz="1650" dirty="0"/>
          </a:p>
        </p:txBody>
      </p:sp>
      <p:sp>
        <p:nvSpPr>
          <p:cNvPr id="29" name="Text 27"/>
          <p:cNvSpPr/>
          <p:nvPr/>
        </p:nvSpPr>
        <p:spPr>
          <a:xfrm>
            <a:off x="15354300" y="7809905"/>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30" name="Text 28"/>
          <p:cNvSpPr/>
          <p:nvPr/>
        </p:nvSpPr>
        <p:spPr>
          <a:xfrm>
            <a:off x="1143000" y="8760396"/>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12</a:t>
            </a:r>
            <a:endParaRPr lang="en-US" sz="1500" dirty="0"/>
          </a:p>
        </p:txBody>
      </p:sp>
      <p:sp>
        <p:nvSpPr>
          <p:cNvPr id="31" name="Text 29"/>
          <p:cNvSpPr/>
          <p:nvPr/>
        </p:nvSpPr>
        <p:spPr>
          <a:xfrm>
            <a:off x="2114550" y="8688958"/>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Monthly brand sweep</a:t>
            </a:r>
            <a:endParaRPr lang="en-US" sz="1950" dirty="0"/>
          </a:p>
        </p:txBody>
      </p:sp>
      <p:sp>
        <p:nvSpPr>
          <p:cNvPr id="32" name="Text 30"/>
          <p:cNvSpPr/>
          <p:nvPr/>
        </p:nvSpPr>
        <p:spPr>
          <a:xfrm>
            <a:off x="2114550" y="9089901"/>
            <a:ext cx="10293240" cy="300038"/>
          </a:xfrm>
          <a:prstGeom prst="rect">
            <a:avLst/>
          </a:prstGeom>
          <a:noFill/>
          <a:ln/>
        </p:spPr>
        <p:txBody>
          <a:bodyPr wrap="square" lIns="0" tIns="0" rIns="0" bIns="0" rtlCol="0" anchor="t">
            <a:normAutofit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Cowork flags off-brand files in your outgoing doc folder. Wrong logo, footer, or T&amp;Cs version.</a:t>
            </a:r>
            <a:endParaRPr lang="en-US" sz="1650" dirty="0"/>
          </a:p>
        </p:txBody>
      </p:sp>
      <p:sp>
        <p:nvSpPr>
          <p:cNvPr id="33" name="Text 31"/>
          <p:cNvSpPr/>
          <p:nvPr/>
        </p:nvSpPr>
        <p:spPr>
          <a:xfrm>
            <a:off x="15354300" y="8798496"/>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COWORK</a:t>
            </a:r>
            <a:endParaRPr lang="en-US" sz="1200" dirty="0"/>
          </a:p>
        </p:txBody>
      </p:sp>
      <p:sp>
        <p:nvSpPr>
          <p:cNvPr id="34" name="Text 32"/>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FA9F1D2A-8344-B24C-A196-F05BF92128E5}"/>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11 / 23</a:t>
            </a:r>
          </a:p>
        </p:txBody>
      </p:sp>
    </p:spTree>
    <p:extLst>
      <p:ext uri="{BB962C8B-B14F-4D97-AF65-F5344CB8AC3E}">
        <p14:creationId xmlns:p14="http://schemas.microsoft.com/office/powerpoint/2010/main" val="4150981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1"/>
          <p:cNvSpPr/>
          <p:nvPr/>
        </p:nvSpPr>
        <p:spPr>
          <a:xfrm>
            <a:off x="1143000" y="1104900"/>
            <a:ext cx="3414141" cy="238125"/>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029E90"/>
                </a:solidFill>
                <a:latin typeface="IBM Plex Mono" pitchFamily="34" charset="0"/>
                <a:ea typeface="IBM Plex Mono" pitchFamily="34" charset="-122"/>
                <a:cs typeface="IBM Plex Mono" pitchFamily="34" charset="-120"/>
              </a:rPr>
              <a:t>REQUIRES ALLENIX BUILD SUPPORT</a:t>
            </a:r>
            <a:endParaRPr lang="en-US" sz="1200" dirty="0"/>
          </a:p>
        </p:txBody>
      </p:sp>
      <p:sp>
        <p:nvSpPr>
          <p:cNvPr id="4" name="Text 2"/>
          <p:cNvSpPr/>
          <p:nvPr/>
        </p:nvSpPr>
        <p:spPr>
          <a:xfrm>
            <a:off x="1143000" y="1457325"/>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Built systems. </a:t>
            </a:r>
            <a:r>
              <a:rPr lang="en-US" sz="4800" b="1" i="1" kern="0" spc="-112" dirty="0">
                <a:solidFill>
                  <a:srgbClr val="04CCBA"/>
                </a:solidFill>
                <a:latin typeface="Playfair Display" pitchFamily="34" charset="0"/>
                <a:ea typeface="Playfair Display" pitchFamily="34" charset="-122"/>
                <a:cs typeface="Playfair Display" pitchFamily="34" charset="-120"/>
              </a:rPr>
              <a:t>Only if </a:t>
            </a:r>
            <a:r>
              <a:rPr lang="en-US" sz="4800" b="1" kern="0" spc="-112" dirty="0">
                <a:solidFill>
                  <a:srgbClr val="000000"/>
                </a:solidFill>
                <a:latin typeface="Playfair Display" pitchFamily="34" charset="0"/>
                <a:ea typeface="Playfair Display" pitchFamily="34" charset="-122"/>
                <a:cs typeface="Playfair Display" pitchFamily="34" charset="-120"/>
              </a:rPr>
              <a:t>the ROI is obvious.</a:t>
            </a:r>
            <a:endParaRPr lang="en-US" sz="4800" dirty="0"/>
          </a:p>
        </p:txBody>
      </p:sp>
      <p:sp>
        <p:nvSpPr>
          <p:cNvPr id="5" name="Shape 3"/>
          <p:cNvSpPr/>
          <p:nvPr/>
        </p:nvSpPr>
        <p:spPr>
          <a:xfrm>
            <a:off x="1143000" y="4006974"/>
            <a:ext cx="16002000" cy="9525"/>
          </a:xfrm>
          <a:prstGeom prst="rect">
            <a:avLst/>
          </a:prstGeom>
          <a:solidFill>
            <a:srgbClr val="111111"/>
          </a:solidFill>
          <a:ln/>
        </p:spPr>
        <p:txBody>
          <a:bodyPr/>
          <a:lstStyle/>
          <a:p>
            <a:endParaRPr lang="en-US"/>
          </a:p>
        </p:txBody>
      </p:sp>
      <p:sp>
        <p:nvSpPr>
          <p:cNvPr id="6" name="Text 4"/>
          <p:cNvSpPr/>
          <p:nvPr/>
        </p:nvSpPr>
        <p:spPr>
          <a:xfrm>
            <a:off x="1143000" y="2968898"/>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13</a:t>
            </a:r>
            <a:endParaRPr lang="en-US" sz="1500" dirty="0"/>
          </a:p>
        </p:txBody>
      </p:sp>
      <p:sp>
        <p:nvSpPr>
          <p:cNvPr id="7" name="Text 5"/>
          <p:cNvSpPr/>
          <p:nvPr/>
        </p:nvSpPr>
        <p:spPr>
          <a:xfrm>
            <a:off x="2114550" y="2897460"/>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University intake portal</a:t>
            </a:r>
            <a:endParaRPr lang="en-US" sz="1950" dirty="0"/>
          </a:p>
        </p:txBody>
      </p:sp>
      <p:sp>
        <p:nvSpPr>
          <p:cNvPr id="8" name="Text 6"/>
          <p:cNvSpPr/>
          <p:nvPr/>
        </p:nvSpPr>
        <p:spPr>
          <a:xfrm>
            <a:off x="2114550" y="3298403"/>
            <a:ext cx="13374812"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A simple branded form. Requests land, Claude drafts a first-pass proposal automatically, a human reviews and sends. Cuts intake-to-quote to under 24 hours.</a:t>
            </a:r>
            <a:endParaRPr lang="en-US" sz="1650" dirty="0"/>
          </a:p>
        </p:txBody>
      </p:sp>
      <p:sp>
        <p:nvSpPr>
          <p:cNvPr id="9" name="Text 7"/>
          <p:cNvSpPr/>
          <p:nvPr/>
        </p:nvSpPr>
        <p:spPr>
          <a:xfrm>
            <a:off x="15354300" y="3006998"/>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CODE</a:t>
            </a:r>
            <a:endParaRPr lang="en-US" sz="1200" dirty="0"/>
          </a:p>
        </p:txBody>
      </p:sp>
      <p:sp>
        <p:nvSpPr>
          <p:cNvPr id="10" name="Shape 8"/>
          <p:cNvSpPr/>
          <p:nvPr/>
        </p:nvSpPr>
        <p:spPr>
          <a:xfrm>
            <a:off x="1143000" y="5278413"/>
            <a:ext cx="16002000" cy="9525"/>
          </a:xfrm>
          <a:prstGeom prst="rect">
            <a:avLst/>
          </a:prstGeom>
          <a:solidFill>
            <a:srgbClr val="111111"/>
          </a:solidFill>
          <a:ln/>
        </p:spPr>
        <p:txBody>
          <a:bodyPr/>
          <a:lstStyle/>
          <a:p>
            <a:endParaRPr lang="en-US"/>
          </a:p>
        </p:txBody>
      </p:sp>
      <p:sp>
        <p:nvSpPr>
          <p:cNvPr id="11" name="Text 9"/>
          <p:cNvSpPr/>
          <p:nvPr/>
        </p:nvSpPr>
        <p:spPr>
          <a:xfrm>
            <a:off x="1143000" y="4240337"/>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14</a:t>
            </a:r>
            <a:endParaRPr lang="en-US" sz="1500" dirty="0"/>
          </a:p>
        </p:txBody>
      </p:sp>
      <p:sp>
        <p:nvSpPr>
          <p:cNvPr id="12" name="Text 10"/>
          <p:cNvSpPr/>
          <p:nvPr/>
        </p:nvSpPr>
        <p:spPr>
          <a:xfrm>
            <a:off x="2114550" y="4168899"/>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Passenger data verifier</a:t>
            </a:r>
            <a:endParaRPr lang="en-US" sz="1950" dirty="0"/>
          </a:p>
        </p:txBody>
      </p:sp>
      <p:sp>
        <p:nvSpPr>
          <p:cNvPr id="13" name="Text 11"/>
          <p:cNvSpPr/>
          <p:nvPr/>
        </p:nvSpPr>
        <p:spPr>
          <a:xfrm>
            <a:off x="2114550" y="4569842"/>
            <a:ext cx="13196455"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A small tool that checks passport names against tickets, dates against itineraries, and dietary info against manifests. Runs before every ticketing deadline.</a:t>
            </a:r>
            <a:endParaRPr lang="en-US" sz="1650" dirty="0"/>
          </a:p>
        </p:txBody>
      </p:sp>
      <p:sp>
        <p:nvSpPr>
          <p:cNvPr id="14" name="Text 12"/>
          <p:cNvSpPr/>
          <p:nvPr/>
        </p:nvSpPr>
        <p:spPr>
          <a:xfrm>
            <a:off x="15354300" y="4278437"/>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CODE</a:t>
            </a:r>
            <a:endParaRPr lang="en-US" sz="1200" dirty="0"/>
          </a:p>
        </p:txBody>
      </p:sp>
      <p:sp>
        <p:nvSpPr>
          <p:cNvPr id="15" name="Shape 13"/>
          <p:cNvSpPr/>
          <p:nvPr/>
        </p:nvSpPr>
        <p:spPr>
          <a:xfrm>
            <a:off x="1143000" y="6549851"/>
            <a:ext cx="16002000" cy="9525"/>
          </a:xfrm>
          <a:prstGeom prst="rect">
            <a:avLst/>
          </a:prstGeom>
          <a:solidFill>
            <a:srgbClr val="111111"/>
          </a:solidFill>
          <a:ln/>
        </p:spPr>
        <p:txBody>
          <a:bodyPr/>
          <a:lstStyle/>
          <a:p>
            <a:endParaRPr lang="en-US"/>
          </a:p>
        </p:txBody>
      </p:sp>
      <p:sp>
        <p:nvSpPr>
          <p:cNvPr id="16" name="Text 14"/>
          <p:cNvSpPr/>
          <p:nvPr/>
        </p:nvSpPr>
        <p:spPr>
          <a:xfrm>
            <a:off x="1143000" y="5511775"/>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15</a:t>
            </a:r>
            <a:endParaRPr lang="en-US" sz="1500" dirty="0"/>
          </a:p>
        </p:txBody>
      </p:sp>
      <p:sp>
        <p:nvSpPr>
          <p:cNvPr id="17" name="Text 15"/>
          <p:cNvSpPr/>
          <p:nvPr/>
        </p:nvSpPr>
        <p:spPr>
          <a:xfrm>
            <a:off x="2114550" y="5440338"/>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Payment-notification agent</a:t>
            </a:r>
            <a:endParaRPr lang="en-US" sz="1950" dirty="0"/>
          </a:p>
        </p:txBody>
      </p:sp>
      <p:sp>
        <p:nvSpPr>
          <p:cNvPr id="18" name="Text 16"/>
          <p:cNvSpPr/>
          <p:nvPr/>
        </p:nvSpPr>
        <p:spPr>
          <a:xfrm>
            <a:off x="2114550" y="5841281"/>
            <a:ext cx="12184645"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Connected to your accounting database. When a payment is due, overdue, or received, the right email goes out automatically in Millennium voice.</a:t>
            </a:r>
            <a:endParaRPr lang="en-US" sz="1650" dirty="0"/>
          </a:p>
        </p:txBody>
      </p:sp>
      <p:sp>
        <p:nvSpPr>
          <p:cNvPr id="19" name="Text 17"/>
          <p:cNvSpPr/>
          <p:nvPr/>
        </p:nvSpPr>
        <p:spPr>
          <a:xfrm>
            <a:off x="15354300" y="5549875"/>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CODE</a:t>
            </a:r>
            <a:endParaRPr lang="en-US" sz="1200" dirty="0"/>
          </a:p>
        </p:txBody>
      </p:sp>
      <p:sp>
        <p:nvSpPr>
          <p:cNvPr id="20" name="Shape 18"/>
          <p:cNvSpPr/>
          <p:nvPr/>
        </p:nvSpPr>
        <p:spPr>
          <a:xfrm>
            <a:off x="1143000" y="7821290"/>
            <a:ext cx="16002000" cy="9525"/>
          </a:xfrm>
          <a:prstGeom prst="rect">
            <a:avLst/>
          </a:prstGeom>
          <a:solidFill>
            <a:srgbClr val="111111"/>
          </a:solidFill>
          <a:ln/>
        </p:spPr>
        <p:txBody>
          <a:bodyPr/>
          <a:lstStyle/>
          <a:p>
            <a:endParaRPr lang="en-US"/>
          </a:p>
        </p:txBody>
      </p:sp>
      <p:sp>
        <p:nvSpPr>
          <p:cNvPr id="21" name="Text 19"/>
          <p:cNvSpPr/>
          <p:nvPr/>
        </p:nvSpPr>
        <p:spPr>
          <a:xfrm>
            <a:off x="1143000" y="6783214"/>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16</a:t>
            </a:r>
            <a:endParaRPr lang="en-US" sz="1500" dirty="0"/>
          </a:p>
        </p:txBody>
      </p:sp>
      <p:sp>
        <p:nvSpPr>
          <p:cNvPr id="22" name="Text 20"/>
          <p:cNvSpPr/>
          <p:nvPr/>
        </p:nvSpPr>
        <p:spPr>
          <a:xfrm>
            <a:off x="2114550" y="6711776"/>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Itinerary-to-invoice generator</a:t>
            </a:r>
            <a:endParaRPr lang="en-US" sz="1950" dirty="0"/>
          </a:p>
        </p:txBody>
      </p:sp>
      <p:sp>
        <p:nvSpPr>
          <p:cNvPr id="23" name="Text 21"/>
          <p:cNvSpPr/>
          <p:nvPr/>
        </p:nvSpPr>
        <p:spPr>
          <a:xfrm>
            <a:off x="2114550" y="7112719"/>
            <a:ext cx="12624519"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One approved itinerary produces the client proposal, the land invoice, the air invoice, the T&amp;Cs, and the passenger manifest template. In one pass.</a:t>
            </a:r>
            <a:endParaRPr lang="en-US" sz="1650" dirty="0"/>
          </a:p>
        </p:txBody>
      </p:sp>
      <p:sp>
        <p:nvSpPr>
          <p:cNvPr id="24" name="Text 22"/>
          <p:cNvSpPr/>
          <p:nvPr/>
        </p:nvSpPr>
        <p:spPr>
          <a:xfrm>
            <a:off x="15354300" y="6821314"/>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CODE</a:t>
            </a:r>
            <a:endParaRPr lang="en-US" sz="1200" dirty="0"/>
          </a:p>
        </p:txBody>
      </p:sp>
      <p:sp>
        <p:nvSpPr>
          <p:cNvPr id="25" name="Text 23"/>
          <p:cNvSpPr/>
          <p:nvPr/>
        </p:nvSpPr>
        <p:spPr>
          <a:xfrm>
            <a:off x="1143000" y="8054653"/>
            <a:ext cx="742950" cy="285750"/>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029E90"/>
                </a:solidFill>
                <a:latin typeface="IBM Plex Mono" pitchFamily="34" charset="0"/>
                <a:ea typeface="IBM Plex Mono" pitchFamily="34" charset="-122"/>
                <a:cs typeface="IBM Plex Mono" pitchFamily="34" charset="-120"/>
              </a:rPr>
              <a:t>17</a:t>
            </a:r>
            <a:endParaRPr lang="en-US" sz="1500" dirty="0"/>
          </a:p>
        </p:txBody>
      </p:sp>
      <p:sp>
        <p:nvSpPr>
          <p:cNvPr id="26" name="Text 24"/>
          <p:cNvSpPr/>
          <p:nvPr/>
        </p:nvSpPr>
        <p:spPr>
          <a:xfrm>
            <a:off x="2114550" y="7983215"/>
            <a:ext cx="1340148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000000"/>
                </a:solidFill>
                <a:latin typeface="Playfair Display" pitchFamily="34" charset="0"/>
                <a:ea typeface="Playfair Display" pitchFamily="34" charset="-122"/>
                <a:cs typeface="Playfair Display" pitchFamily="34" charset="-120"/>
              </a:rPr>
              <a:t>"Magnolia" ops dashboard</a:t>
            </a:r>
            <a:endParaRPr lang="en-US" sz="1950" dirty="0"/>
          </a:p>
        </p:txBody>
      </p:sp>
      <p:sp>
        <p:nvSpPr>
          <p:cNvPr id="27" name="Text 25"/>
          <p:cNvSpPr/>
          <p:nvPr/>
        </p:nvSpPr>
        <p:spPr>
          <a:xfrm>
            <a:off x="2114550" y="8384158"/>
            <a:ext cx="12800883" cy="582885"/>
          </a:xfrm>
          <a:prstGeom prst="rect">
            <a:avLst/>
          </a:prstGeom>
          <a:noFill/>
          <a:ln/>
        </p:spPr>
        <p:txBody>
          <a:bodyPr wrap="square" lIns="0" tIns="0" rIns="0" bIns="0" rtlCol="0" anchor="t">
            <a:normAutofit fontScale="92500" lnSpcReduction="10000"/>
          </a:bodyPr>
          <a:lstStyle/>
          <a:p>
            <a:pPr marL="0" indent="0" algn="l">
              <a:lnSpc>
                <a:spcPct val="135000"/>
              </a:lnSpc>
              <a:buNone/>
            </a:pPr>
            <a:r>
              <a:rPr lang="en-US" sz="1650" dirty="0">
                <a:solidFill>
                  <a:srgbClr val="000000"/>
                </a:solidFill>
                <a:latin typeface="Libre Baskerville" pitchFamily="34" charset="0"/>
                <a:ea typeface="Libre Baskerville" pitchFamily="34" charset="-122"/>
                <a:cs typeface="Libre Baskerville" pitchFamily="34" charset="-120"/>
              </a:rPr>
              <a:t>The control panel for the three above. What is live, what is stuck, what needs a human. The internal system that runs under everything else.</a:t>
            </a:r>
            <a:endParaRPr lang="en-US" sz="1650" dirty="0"/>
          </a:p>
        </p:txBody>
      </p:sp>
      <p:sp>
        <p:nvSpPr>
          <p:cNvPr id="28" name="Text 26"/>
          <p:cNvSpPr/>
          <p:nvPr/>
        </p:nvSpPr>
        <p:spPr>
          <a:xfrm>
            <a:off x="15354300" y="8092753"/>
            <a:ext cx="1790700" cy="238125"/>
          </a:xfrm>
          <a:prstGeom prst="rect">
            <a:avLst/>
          </a:prstGeom>
          <a:noFill/>
          <a:ln/>
        </p:spPr>
        <p:txBody>
          <a:bodyPr wrap="square" lIns="25400" tIns="25400" rIns="25400" bIns="25400" rtlCol="0" anchor="t">
            <a:normAutofit/>
          </a:bodyPr>
          <a:lstStyle/>
          <a:p>
            <a:pPr marL="0" indent="0" algn="r">
              <a:buNone/>
            </a:pPr>
            <a:r>
              <a:rPr lang="en-US" sz="1200" kern="0" spc="150" dirty="0">
                <a:solidFill>
                  <a:srgbClr val="04CCBA"/>
                </a:solidFill>
                <a:latin typeface="IBM Plex Mono" pitchFamily="34" charset="0"/>
                <a:ea typeface="IBM Plex Mono" pitchFamily="34" charset="-122"/>
                <a:cs typeface="IBM Plex Mono" pitchFamily="34" charset="-120"/>
              </a:rPr>
              <a:t>CODE</a:t>
            </a:r>
            <a:endParaRPr lang="en-US" sz="1200" dirty="0"/>
          </a:p>
        </p:txBody>
      </p:sp>
      <p:sp>
        <p:nvSpPr>
          <p:cNvPr id="29" name="Text 2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3E0B2B73-F4BC-7F4C-93F0-EF66F577ED79}"/>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12 / 23</a:t>
            </a:r>
          </a:p>
        </p:txBody>
      </p:sp>
    </p:spTree>
    <p:extLst>
      <p:ext uri="{BB962C8B-B14F-4D97-AF65-F5344CB8AC3E}">
        <p14:creationId xmlns:p14="http://schemas.microsoft.com/office/powerpoint/2010/main" val="808524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name="Slide 27">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Subscribe to these 3 YouTube Channels.</a:t>
            </a:r>
            <a:endParaRPr lang="en-US" sz="4800" dirty="0"/>
          </a:p>
        </p:txBody>
      </p:sp>
      <p:sp>
        <p:nvSpPr>
          <p:cNvPr id="4" name="Shape 2"/>
          <p:cNvSpPr/>
          <p:nvPr/>
        </p:nvSpPr>
        <p:spPr>
          <a:xfrm>
            <a:off x="1143000" y="2316435"/>
            <a:ext cx="5130775" cy="7018065"/>
          </a:xfrm>
          <a:prstGeom prst="rect">
            <a:avLst/>
          </a:prstGeom>
          <a:solidFill>
            <a:srgbClr val="FFFFFF"/>
          </a:solidFill>
          <a:ln w="9525">
            <a:solidFill>
              <a:srgbClr val="111111"/>
            </a:solidFill>
            <a:prstDash val="solid"/>
          </a:ln>
        </p:spPr>
        <p:txBody>
          <a:bodyPr/>
          <a:lstStyle/>
          <a:p>
            <a:endParaRPr lang="en-US"/>
          </a:p>
        </p:txBody>
      </p:sp>
      <p:sp>
        <p:nvSpPr>
          <p:cNvPr id="5" name="Text 3"/>
          <p:cNvSpPr/>
          <p:nvPr/>
        </p:nvSpPr>
        <p:spPr>
          <a:xfrm>
            <a:off x="1533525" y="2706960"/>
            <a:ext cx="4480217"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75" dirty="0">
                <a:solidFill>
                  <a:srgbClr val="000000"/>
                </a:solidFill>
                <a:latin typeface="Playfair Display" pitchFamily="34" charset="0"/>
                <a:ea typeface="Playfair Display" pitchFamily="34" charset="-122"/>
                <a:cs typeface="Playfair Display" pitchFamily="34" charset="-120"/>
              </a:rPr>
              <a:t>Brooke Wright</a:t>
            </a:r>
            <a:endParaRPr lang="en-US" sz="4200" dirty="0"/>
          </a:p>
        </p:txBody>
      </p:sp>
      <p:sp>
        <p:nvSpPr>
          <p:cNvPr id="6" name="Text 4"/>
          <p:cNvSpPr/>
          <p:nvPr/>
        </p:nvSpPr>
        <p:spPr>
          <a:xfrm>
            <a:off x="1533525" y="3335610"/>
            <a:ext cx="4480217"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29E90"/>
                </a:solidFill>
                <a:latin typeface="IBM Plex Mono" pitchFamily="34" charset="0"/>
                <a:ea typeface="IBM Plex Mono" pitchFamily="34" charset="-122"/>
                <a:cs typeface="IBM Plex Mono" pitchFamily="34" charset="-120"/>
              </a:rPr>
              <a:t>CLAUDE FOR EVERYDAY WORK</a:t>
            </a:r>
            <a:endParaRPr lang="en-US" sz="1200" dirty="0"/>
          </a:p>
        </p:txBody>
      </p:sp>
      <p:sp>
        <p:nvSpPr>
          <p:cNvPr id="7" name="Text 5"/>
          <p:cNvSpPr/>
          <p:nvPr/>
        </p:nvSpPr>
        <p:spPr>
          <a:xfrm>
            <a:off x="1533525" y="3802335"/>
            <a:ext cx="4480217" cy="4146277"/>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000000"/>
                </a:solidFill>
                <a:latin typeface="Libre Baskerville" pitchFamily="34" charset="0"/>
                <a:ea typeface="Libre Baskerville" pitchFamily="34" charset="-122"/>
                <a:cs typeface="Libre Baskerville" pitchFamily="34" charset="-120"/>
              </a:rPr>
              <a:t>The best starting point for non-technical professionals using Claude for real business tasks. Clear, practical, beginner-friendly.</a:t>
            </a:r>
            <a:endParaRPr lang="en-US" sz="1650" dirty="0"/>
          </a:p>
        </p:txBody>
      </p:sp>
      <p:sp>
        <p:nvSpPr>
          <p:cNvPr id="8" name="Shape 6"/>
          <p:cNvSpPr/>
          <p:nvPr/>
        </p:nvSpPr>
        <p:spPr>
          <a:xfrm>
            <a:off x="1533525" y="8348663"/>
            <a:ext cx="4349725" cy="9525"/>
          </a:xfrm>
          <a:prstGeom prst="rect">
            <a:avLst/>
          </a:prstGeom>
          <a:solidFill>
            <a:srgbClr val="111111"/>
          </a:solidFill>
          <a:ln/>
        </p:spPr>
        <p:txBody>
          <a:bodyPr/>
          <a:lstStyle/>
          <a:p>
            <a:endParaRPr lang="en-US"/>
          </a:p>
        </p:txBody>
      </p:sp>
      <p:sp>
        <p:nvSpPr>
          <p:cNvPr id="9" name="Text 7"/>
          <p:cNvSpPr/>
          <p:nvPr/>
        </p:nvSpPr>
        <p:spPr>
          <a:xfrm>
            <a:off x="1533525" y="8586788"/>
            <a:ext cx="4480217" cy="261938"/>
          </a:xfrm>
          <a:prstGeom prst="rect">
            <a:avLst/>
          </a:prstGeom>
          <a:noFill/>
          <a:ln/>
        </p:spPr>
        <p:txBody>
          <a:bodyPr wrap="square" lIns="25400" tIns="25400" rIns="25400" bIns="25400" rtlCol="0" anchor="t">
            <a:normAutofit fontScale="77500" lnSpcReduction="20000"/>
          </a:bodyPr>
          <a:lstStyle/>
          <a:p>
            <a:r>
              <a:rPr lang="en-US" sz="1350" kern="0" spc="75" dirty="0">
                <a:solidFill>
                  <a:srgbClr val="04CCBA"/>
                </a:solidFill>
                <a:latin typeface="IBM Plex Mono" pitchFamily="34" charset="0"/>
                <a:ea typeface="IBM Plex Mono" pitchFamily="34" charset="-122"/>
                <a:cs typeface="IBM Plex Mono" pitchFamily="34" charset="-120"/>
                <a:hlinkClick r:id="rId3"/>
              </a:rPr>
              <a:t>https://www.youtube.com/watch?v=vRWeKtVHJg0&amp;t=45s</a:t>
            </a:r>
            <a:endParaRPr lang="en-US" sz="1350" kern="0" spc="75" dirty="0">
              <a:solidFill>
                <a:srgbClr val="04CCBA"/>
              </a:solidFill>
              <a:latin typeface="IBM Plex Mono" pitchFamily="34" charset="0"/>
              <a:ea typeface="IBM Plex Mono" pitchFamily="34" charset="-122"/>
              <a:cs typeface="IBM Plex Mono" pitchFamily="34" charset="-120"/>
            </a:endParaRPr>
          </a:p>
          <a:p>
            <a:endParaRPr lang="en-US" sz="1350" dirty="0"/>
          </a:p>
        </p:txBody>
      </p:sp>
      <p:sp>
        <p:nvSpPr>
          <p:cNvPr id="10" name="Shape 8"/>
          <p:cNvSpPr/>
          <p:nvPr/>
        </p:nvSpPr>
        <p:spPr>
          <a:xfrm>
            <a:off x="6578575" y="2316435"/>
            <a:ext cx="5130850" cy="7018065"/>
          </a:xfrm>
          <a:prstGeom prst="rect">
            <a:avLst/>
          </a:prstGeom>
          <a:solidFill>
            <a:srgbClr val="FFFFFF"/>
          </a:solidFill>
          <a:ln w="9525">
            <a:solidFill>
              <a:srgbClr val="111111"/>
            </a:solidFill>
            <a:prstDash val="solid"/>
          </a:ln>
        </p:spPr>
        <p:txBody>
          <a:bodyPr/>
          <a:lstStyle/>
          <a:p>
            <a:endParaRPr lang="en-US"/>
          </a:p>
        </p:txBody>
      </p:sp>
      <p:sp>
        <p:nvSpPr>
          <p:cNvPr id="11" name="Text 9"/>
          <p:cNvSpPr/>
          <p:nvPr/>
        </p:nvSpPr>
        <p:spPr>
          <a:xfrm>
            <a:off x="6969100" y="2706960"/>
            <a:ext cx="4480294"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75" dirty="0">
                <a:solidFill>
                  <a:srgbClr val="000000"/>
                </a:solidFill>
                <a:latin typeface="Playfair Display" pitchFamily="34" charset="0"/>
                <a:ea typeface="Playfair Display" pitchFamily="34" charset="-122"/>
                <a:cs typeface="Playfair Display" pitchFamily="34" charset="-120"/>
              </a:rPr>
              <a:t>Sabrina Ram0nov</a:t>
            </a:r>
            <a:endParaRPr lang="en-US" sz="4200" dirty="0"/>
          </a:p>
        </p:txBody>
      </p:sp>
      <p:sp>
        <p:nvSpPr>
          <p:cNvPr id="12" name="Text 10"/>
          <p:cNvSpPr/>
          <p:nvPr/>
        </p:nvSpPr>
        <p:spPr>
          <a:xfrm>
            <a:off x="6969100" y="3335610"/>
            <a:ext cx="4480294"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29E90"/>
                </a:solidFill>
                <a:latin typeface="IBM Plex Mono" pitchFamily="34" charset="0"/>
                <a:ea typeface="IBM Plex Mono" pitchFamily="34" charset="-122"/>
                <a:cs typeface="IBM Plex Mono" pitchFamily="34" charset="-120"/>
              </a:rPr>
              <a:t>PRODUCTIVITY &amp; WORKFLOWS</a:t>
            </a:r>
            <a:endParaRPr lang="en-US" sz="1200" dirty="0"/>
          </a:p>
        </p:txBody>
      </p:sp>
      <p:sp>
        <p:nvSpPr>
          <p:cNvPr id="13" name="Text 11"/>
          <p:cNvSpPr/>
          <p:nvPr/>
        </p:nvSpPr>
        <p:spPr>
          <a:xfrm>
            <a:off x="6969100" y="3802335"/>
            <a:ext cx="4480294" cy="4146277"/>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000000"/>
                </a:solidFill>
                <a:latin typeface="Libre Baskerville" pitchFamily="34" charset="0"/>
                <a:ea typeface="Libre Baskerville" pitchFamily="34" charset="-122"/>
                <a:cs typeface="Libre Baskerville" pitchFamily="34" charset="-120"/>
              </a:rPr>
              <a:t>Teaches how to build repeatable Claude workflows that save hours each week. Ideal for teams adopting AI for the first time.</a:t>
            </a:r>
            <a:endParaRPr lang="en-US" sz="1650" dirty="0"/>
          </a:p>
        </p:txBody>
      </p:sp>
      <p:sp>
        <p:nvSpPr>
          <p:cNvPr id="14" name="Shape 12"/>
          <p:cNvSpPr/>
          <p:nvPr/>
        </p:nvSpPr>
        <p:spPr>
          <a:xfrm>
            <a:off x="6969100" y="8348663"/>
            <a:ext cx="4349800" cy="9525"/>
          </a:xfrm>
          <a:prstGeom prst="rect">
            <a:avLst/>
          </a:prstGeom>
          <a:solidFill>
            <a:srgbClr val="111111"/>
          </a:solidFill>
          <a:ln/>
        </p:spPr>
        <p:txBody>
          <a:bodyPr/>
          <a:lstStyle/>
          <a:p>
            <a:endParaRPr lang="en-US"/>
          </a:p>
        </p:txBody>
      </p:sp>
      <p:sp>
        <p:nvSpPr>
          <p:cNvPr id="15" name="Text 13"/>
          <p:cNvSpPr/>
          <p:nvPr/>
        </p:nvSpPr>
        <p:spPr>
          <a:xfrm>
            <a:off x="6969100" y="8586788"/>
            <a:ext cx="4480294" cy="261938"/>
          </a:xfrm>
          <a:prstGeom prst="rect">
            <a:avLst/>
          </a:prstGeom>
          <a:noFill/>
          <a:ln/>
        </p:spPr>
        <p:txBody>
          <a:bodyPr wrap="square" lIns="25400" tIns="25400" rIns="25400" bIns="25400" rtlCol="0" anchor="t">
            <a:normAutofit fontScale="77500" lnSpcReduction="20000"/>
          </a:bodyPr>
          <a:lstStyle/>
          <a:p>
            <a:r>
              <a:rPr lang="en-US" sz="1350" kern="0" spc="75" dirty="0">
                <a:solidFill>
                  <a:srgbClr val="04CCBA"/>
                </a:solidFill>
                <a:latin typeface="IBM Plex Mono" pitchFamily="34" charset="0"/>
                <a:ea typeface="IBM Plex Mono" pitchFamily="34" charset="-122"/>
                <a:cs typeface="IBM Plex Mono" pitchFamily="34" charset="-120"/>
                <a:hlinkClick r:id="rId4"/>
              </a:rPr>
              <a:t>https://www.youtube.com/watch?v=1dSNfnFL40c&amp;t=9s</a:t>
            </a:r>
            <a:endParaRPr lang="en-US" sz="1350" kern="0" spc="75" dirty="0">
              <a:solidFill>
                <a:srgbClr val="04CCBA"/>
              </a:solidFill>
              <a:latin typeface="IBM Plex Mono" pitchFamily="34" charset="0"/>
              <a:ea typeface="IBM Plex Mono" pitchFamily="34" charset="-122"/>
              <a:cs typeface="IBM Plex Mono" pitchFamily="34" charset="-120"/>
            </a:endParaRPr>
          </a:p>
          <a:p>
            <a:endParaRPr lang="en-US" sz="1350" dirty="0"/>
          </a:p>
        </p:txBody>
      </p:sp>
      <p:sp>
        <p:nvSpPr>
          <p:cNvPr id="16" name="Shape 14"/>
          <p:cNvSpPr/>
          <p:nvPr/>
        </p:nvSpPr>
        <p:spPr>
          <a:xfrm>
            <a:off x="12014225" y="2316435"/>
            <a:ext cx="5130775" cy="7018065"/>
          </a:xfrm>
          <a:prstGeom prst="rect">
            <a:avLst/>
          </a:prstGeom>
          <a:solidFill>
            <a:srgbClr val="FFFFFF"/>
          </a:solidFill>
          <a:ln w="9525">
            <a:solidFill>
              <a:srgbClr val="111111"/>
            </a:solidFill>
            <a:prstDash val="solid"/>
          </a:ln>
        </p:spPr>
        <p:txBody>
          <a:bodyPr/>
          <a:lstStyle/>
          <a:p>
            <a:endParaRPr lang="en-US"/>
          </a:p>
        </p:txBody>
      </p:sp>
      <p:sp>
        <p:nvSpPr>
          <p:cNvPr id="17" name="Text 15"/>
          <p:cNvSpPr/>
          <p:nvPr/>
        </p:nvSpPr>
        <p:spPr>
          <a:xfrm>
            <a:off x="12404750" y="2706960"/>
            <a:ext cx="4480217"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75" dirty="0">
                <a:solidFill>
                  <a:srgbClr val="000000"/>
                </a:solidFill>
                <a:latin typeface="Playfair Display" pitchFamily="34" charset="0"/>
                <a:ea typeface="Playfair Display" pitchFamily="34" charset="-122"/>
                <a:cs typeface="Playfair Display" pitchFamily="34" charset="-120"/>
              </a:rPr>
              <a:t>Eliot Prince</a:t>
            </a:r>
            <a:endParaRPr lang="en-US" sz="4200" dirty="0"/>
          </a:p>
        </p:txBody>
      </p:sp>
      <p:sp>
        <p:nvSpPr>
          <p:cNvPr id="18" name="Text 16"/>
          <p:cNvSpPr/>
          <p:nvPr/>
        </p:nvSpPr>
        <p:spPr>
          <a:xfrm>
            <a:off x="12404750" y="3335610"/>
            <a:ext cx="4480217"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29E90"/>
                </a:solidFill>
                <a:latin typeface="IBM Plex Mono" pitchFamily="34" charset="0"/>
                <a:ea typeface="IBM Plex Mono" pitchFamily="34" charset="-122"/>
                <a:cs typeface="IBM Plex Mono" pitchFamily="34" charset="-120"/>
              </a:rPr>
              <a:t>AI AUTOMATION</a:t>
            </a:r>
            <a:endParaRPr lang="en-US" sz="1200" dirty="0"/>
          </a:p>
        </p:txBody>
      </p:sp>
      <p:sp>
        <p:nvSpPr>
          <p:cNvPr id="19" name="Text 17"/>
          <p:cNvSpPr/>
          <p:nvPr/>
        </p:nvSpPr>
        <p:spPr>
          <a:xfrm>
            <a:off x="12404750" y="3802335"/>
            <a:ext cx="4480217" cy="4146277"/>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000000"/>
                </a:solidFill>
                <a:latin typeface="Libre Baskerville" pitchFamily="34" charset="0"/>
                <a:ea typeface="Libre Baskerville" pitchFamily="34" charset="-122"/>
                <a:cs typeface="Libre Baskerville" pitchFamily="34" charset="-120"/>
              </a:rPr>
              <a:t>Practical automation systems for business owners. Saving time and cutting costs with AI tools. No technical background needed.</a:t>
            </a:r>
            <a:endParaRPr lang="en-US" sz="1650" dirty="0"/>
          </a:p>
        </p:txBody>
      </p:sp>
      <p:sp>
        <p:nvSpPr>
          <p:cNvPr id="20" name="Shape 18"/>
          <p:cNvSpPr/>
          <p:nvPr/>
        </p:nvSpPr>
        <p:spPr>
          <a:xfrm>
            <a:off x="12404750" y="8348663"/>
            <a:ext cx="4349725" cy="9525"/>
          </a:xfrm>
          <a:prstGeom prst="rect">
            <a:avLst/>
          </a:prstGeom>
          <a:solidFill>
            <a:srgbClr val="111111"/>
          </a:solidFill>
          <a:ln/>
        </p:spPr>
        <p:txBody>
          <a:bodyPr/>
          <a:lstStyle/>
          <a:p>
            <a:endParaRPr lang="en-US"/>
          </a:p>
        </p:txBody>
      </p:sp>
      <p:sp>
        <p:nvSpPr>
          <p:cNvPr id="21" name="Text 19"/>
          <p:cNvSpPr/>
          <p:nvPr/>
        </p:nvSpPr>
        <p:spPr>
          <a:xfrm>
            <a:off x="12404750" y="8586788"/>
            <a:ext cx="4480217" cy="261938"/>
          </a:xfrm>
          <a:prstGeom prst="rect">
            <a:avLst/>
          </a:prstGeom>
          <a:noFill/>
          <a:ln/>
        </p:spPr>
        <p:txBody>
          <a:bodyPr wrap="square" lIns="25400" tIns="25400" rIns="25400" bIns="25400" rtlCol="0" anchor="t">
            <a:normAutofit fontScale="92500"/>
          </a:bodyPr>
          <a:lstStyle/>
          <a:p>
            <a:r>
              <a:rPr lang="en-US" sz="1350" kern="0" spc="75" dirty="0">
                <a:solidFill>
                  <a:srgbClr val="04CCBA"/>
                </a:solidFill>
                <a:latin typeface="IBM Plex Mono" pitchFamily="34" charset="0"/>
                <a:ea typeface="IBM Plex Mono" pitchFamily="34" charset="-122"/>
                <a:cs typeface="IBM Plex Mono" pitchFamily="34" charset="-120"/>
                <a:hlinkClick r:id="rId5"/>
              </a:rPr>
              <a:t>https://www.youtube.com/watch?v=ZeWfksNXlbU</a:t>
            </a:r>
            <a:endParaRPr lang="en-US" sz="1350" kern="0" spc="75" dirty="0">
              <a:solidFill>
                <a:srgbClr val="04CCBA"/>
              </a:solidFill>
              <a:latin typeface="IBM Plex Mono" pitchFamily="34" charset="0"/>
              <a:ea typeface="IBM Plex Mono" pitchFamily="34" charset="-122"/>
              <a:cs typeface="IBM Plex Mono" pitchFamily="34" charset="-120"/>
            </a:endParaRPr>
          </a:p>
          <a:p>
            <a:endParaRPr lang="en-US" sz="1350" dirty="0"/>
          </a:p>
        </p:txBody>
      </p:sp>
      <p:sp>
        <p:nvSpPr>
          <p:cNvPr id="22" name="Text 20"/>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pic>
        <p:nvPicPr>
          <p:cNvPr id="2" name="Picture 1">
            <a:hlinkClick r:id="rId6"/>
            <a:extLst>
              <a:ext uri="{FF2B5EF4-FFF2-40B4-BE49-F238E27FC236}">
                <a16:creationId xmlns:a16="http://schemas.microsoft.com/office/drawing/2014/main" id="{A61D4D33-5631-E96D-7151-FCC0AAF80154}"/>
              </a:ext>
            </a:extLst>
          </p:cNvPr>
          <p:cNvPicPr>
            <a:picLocks noChangeAspect="1"/>
          </p:cNvPicPr>
          <p:nvPr/>
        </p:nvPicPr>
        <p:blipFill>
          <a:blip r:embed="rId7"/>
          <a:stretch>
            <a:fillRect/>
          </a:stretch>
        </p:blipFill>
        <p:spPr>
          <a:xfrm>
            <a:off x="1675293" y="5669209"/>
            <a:ext cx="4066187" cy="2279403"/>
          </a:xfrm>
          <a:prstGeom prst="rect">
            <a:avLst/>
          </a:prstGeom>
        </p:spPr>
      </p:pic>
      <p:pic>
        <p:nvPicPr>
          <p:cNvPr id="23" name="Picture 22">
            <a:extLst>
              <a:ext uri="{FF2B5EF4-FFF2-40B4-BE49-F238E27FC236}">
                <a16:creationId xmlns:a16="http://schemas.microsoft.com/office/drawing/2014/main" id="{530EB2E9-7E8C-40EE-ED55-35B5E581AB56}"/>
              </a:ext>
            </a:extLst>
          </p:cNvPr>
          <p:cNvPicPr>
            <a:picLocks noChangeAspect="1"/>
          </p:cNvPicPr>
          <p:nvPr/>
        </p:nvPicPr>
        <p:blipFill>
          <a:blip r:embed="rId8"/>
          <a:stretch>
            <a:fillRect/>
          </a:stretch>
        </p:blipFill>
        <p:spPr>
          <a:xfrm>
            <a:off x="7099941" y="5700730"/>
            <a:ext cx="4088117" cy="2247882"/>
          </a:xfrm>
          <a:prstGeom prst="rect">
            <a:avLst/>
          </a:prstGeom>
        </p:spPr>
      </p:pic>
      <p:pic>
        <p:nvPicPr>
          <p:cNvPr id="25" name="Picture 24">
            <a:hlinkClick r:id="rId5"/>
            <a:extLst>
              <a:ext uri="{FF2B5EF4-FFF2-40B4-BE49-F238E27FC236}">
                <a16:creationId xmlns:a16="http://schemas.microsoft.com/office/drawing/2014/main" id="{F95E215D-0831-6DC4-90A1-7389755256DF}"/>
              </a:ext>
            </a:extLst>
          </p:cNvPr>
          <p:cNvPicPr>
            <a:picLocks noChangeAspect="1"/>
          </p:cNvPicPr>
          <p:nvPr/>
        </p:nvPicPr>
        <p:blipFill>
          <a:blip r:embed="rId9"/>
          <a:stretch>
            <a:fillRect/>
          </a:stretch>
        </p:blipFill>
        <p:spPr>
          <a:xfrm>
            <a:off x="12372760" y="5643560"/>
            <a:ext cx="4381715" cy="2419352"/>
          </a:xfrm>
          <a:prstGeom prst="rect">
            <a:avLst/>
          </a:prstGeom>
        </p:spPr>
      </p:pic>
      <p:sp>
        <p:nvSpPr>
          <p:cNvPr id="26" name="TextBox 25">
            <a:extLst>
              <a:ext uri="{FF2B5EF4-FFF2-40B4-BE49-F238E27FC236}">
                <a16:creationId xmlns:a16="http://schemas.microsoft.com/office/drawing/2014/main" id="{CAC62A03-A6DE-8D4A-82A0-7599C860A6C8}"/>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13 / 23</a:t>
            </a:r>
          </a:p>
        </p:txBody>
      </p:sp>
    </p:spTree>
    <p:extLst>
      <p:ext uri="{BB962C8B-B14F-4D97-AF65-F5344CB8AC3E}">
        <p14:creationId xmlns:p14="http://schemas.microsoft.com/office/powerpoint/2010/main" val="1765050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 5">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1143000" y="3812381"/>
            <a:ext cx="16482060" cy="285750"/>
          </a:xfrm>
          <a:prstGeom prst="rect">
            <a:avLst/>
          </a:prstGeom>
          <a:noFill/>
          <a:ln/>
        </p:spPr>
        <p:txBody>
          <a:bodyPr wrap="square" lIns="25400" tIns="25400" rIns="25400" bIns="25400" rtlCol="0" anchor="t">
            <a:normAutofit/>
          </a:bodyPr>
          <a:lstStyle/>
          <a:p>
            <a:pPr marL="0" indent="0" algn="l">
              <a:buNone/>
            </a:pPr>
            <a:endParaRPr lang="en-US" sz="1500" dirty="0"/>
          </a:p>
        </p:txBody>
      </p:sp>
      <p:sp>
        <p:nvSpPr>
          <p:cNvPr id="3" name="Text 1"/>
          <p:cNvSpPr/>
          <p:nvPr/>
        </p:nvSpPr>
        <p:spPr>
          <a:xfrm>
            <a:off x="1143000" y="4060031"/>
            <a:ext cx="14716125" cy="130492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0500" b="1" i="1" kern="0" spc="-225" dirty="0">
                <a:solidFill>
                  <a:srgbClr val="04CCBA"/>
                </a:solidFill>
                <a:latin typeface="Playfair Display" pitchFamily="34" charset="0"/>
                <a:ea typeface="Playfair Display" pitchFamily="34" charset="-122"/>
                <a:cs typeface="Playfair Display" pitchFamily="34" charset="-120"/>
              </a:rPr>
              <a:t>Appendix</a:t>
            </a:r>
            <a:endParaRPr lang="en-US" sz="10500" dirty="0"/>
          </a:p>
        </p:txBody>
      </p:sp>
      <p:sp>
        <p:nvSpPr>
          <p:cNvPr id="4" name="Text 2"/>
          <p:cNvSpPr/>
          <p:nvPr/>
        </p:nvSpPr>
        <p:spPr>
          <a:xfrm>
            <a:off x="1143000" y="5707856"/>
            <a:ext cx="11772900" cy="461963"/>
          </a:xfrm>
          <a:prstGeom prst="rect">
            <a:avLst/>
          </a:prstGeom>
          <a:noFill/>
          <a:ln/>
        </p:spPr>
        <p:txBody>
          <a:bodyPr wrap="square" lIns="25400" tIns="25400" rIns="25400" bIns="25400" rtlCol="0" anchor="t">
            <a:normAutofit lnSpcReduction="10000"/>
          </a:bodyPr>
          <a:lstStyle/>
          <a:p>
            <a:pPr marL="0" indent="0" algn="l">
              <a:buNone/>
            </a:pPr>
            <a:r>
              <a:rPr lang="en-US" sz="2700" i="1" dirty="0">
                <a:solidFill>
                  <a:srgbClr val="FFFFFF">
                    <a:alpha val="75000"/>
                  </a:srgbClr>
                </a:solidFill>
                <a:latin typeface="Libre Baskerville" pitchFamily="34" charset="0"/>
                <a:ea typeface="Libre Baskerville" pitchFamily="34" charset="-122"/>
                <a:cs typeface="Libre Baskerville" pitchFamily="34" charset="-120"/>
              </a:rPr>
              <a:t>You can review this on your own time</a:t>
            </a:r>
            <a:endParaRPr lang="en-US" sz="2700" dirty="0"/>
          </a:p>
        </p:txBody>
      </p:sp>
      <p:sp>
        <p:nvSpPr>
          <p:cNvPr id="6" name="TextBox 5">
            <a:extLst>
              <a:ext uri="{FF2B5EF4-FFF2-40B4-BE49-F238E27FC236}">
                <a16:creationId xmlns:a16="http://schemas.microsoft.com/office/drawing/2014/main" id="{95AC8379-3C1F-CD4E-AC99-BE43DCB30149}"/>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14 / 23</a:t>
            </a:r>
          </a:p>
        </p:txBody>
      </p:sp>
    </p:spTree>
    <p:extLst>
      <p:ext uri="{BB962C8B-B14F-4D97-AF65-F5344CB8AC3E}">
        <p14:creationId xmlns:p14="http://schemas.microsoft.com/office/powerpoint/2010/main" val="2442491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Why not ChatGPT, Gemini, or Grok?</a:t>
            </a:r>
            <a:endParaRPr lang="en-US" sz="4800" dirty="0"/>
          </a:p>
        </p:txBody>
      </p:sp>
      <p:sp>
        <p:nvSpPr>
          <p:cNvPr id="4" name="Shape 2"/>
          <p:cNvSpPr/>
          <p:nvPr/>
        </p:nvSpPr>
        <p:spPr>
          <a:xfrm>
            <a:off x="1143000" y="3059832"/>
            <a:ext cx="4480545" cy="19050"/>
          </a:xfrm>
          <a:prstGeom prst="rect">
            <a:avLst/>
          </a:prstGeom>
          <a:solidFill>
            <a:srgbClr val="111111"/>
          </a:solidFill>
          <a:ln/>
        </p:spPr>
        <p:txBody>
          <a:bodyPr/>
          <a:lstStyle/>
          <a:p>
            <a:endParaRPr lang="en-US"/>
          </a:p>
        </p:txBody>
      </p:sp>
      <p:sp>
        <p:nvSpPr>
          <p:cNvPr id="5" name="Text 3"/>
          <p:cNvSpPr/>
          <p:nvPr/>
        </p:nvSpPr>
        <p:spPr>
          <a:xfrm>
            <a:off x="1352550" y="2545035"/>
            <a:ext cx="4195861" cy="324296"/>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WHERE IT MATTERS</a:t>
            </a:r>
            <a:endParaRPr lang="en-US" sz="1725" dirty="0"/>
          </a:p>
        </p:txBody>
      </p:sp>
      <p:sp>
        <p:nvSpPr>
          <p:cNvPr id="6" name="Shape 4"/>
          <p:cNvSpPr/>
          <p:nvPr/>
        </p:nvSpPr>
        <p:spPr>
          <a:xfrm>
            <a:off x="5623545" y="3059832"/>
            <a:ext cx="2880345" cy="19050"/>
          </a:xfrm>
          <a:prstGeom prst="rect">
            <a:avLst/>
          </a:prstGeom>
          <a:solidFill>
            <a:srgbClr val="111111"/>
          </a:solidFill>
          <a:ln/>
        </p:spPr>
        <p:txBody>
          <a:bodyPr/>
          <a:lstStyle/>
          <a:p>
            <a:endParaRPr lang="en-US"/>
          </a:p>
        </p:txBody>
      </p:sp>
      <p:sp>
        <p:nvSpPr>
          <p:cNvPr id="7" name="Text 5"/>
          <p:cNvSpPr/>
          <p:nvPr/>
        </p:nvSpPr>
        <p:spPr>
          <a:xfrm>
            <a:off x="5833095" y="2545035"/>
            <a:ext cx="2547655" cy="324296"/>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CLAUDE</a:t>
            </a:r>
            <a:endParaRPr lang="en-US" sz="1725" dirty="0"/>
          </a:p>
        </p:txBody>
      </p:sp>
      <p:sp>
        <p:nvSpPr>
          <p:cNvPr id="8" name="Shape 6"/>
          <p:cNvSpPr/>
          <p:nvPr/>
        </p:nvSpPr>
        <p:spPr>
          <a:xfrm>
            <a:off x="8503890" y="3059832"/>
            <a:ext cx="2880345" cy="19050"/>
          </a:xfrm>
          <a:prstGeom prst="rect">
            <a:avLst/>
          </a:prstGeom>
          <a:solidFill>
            <a:srgbClr val="111111"/>
          </a:solidFill>
          <a:ln/>
        </p:spPr>
        <p:txBody>
          <a:bodyPr/>
          <a:lstStyle/>
          <a:p>
            <a:endParaRPr lang="en-US"/>
          </a:p>
        </p:txBody>
      </p:sp>
      <p:sp>
        <p:nvSpPr>
          <p:cNvPr id="9" name="Text 7"/>
          <p:cNvSpPr/>
          <p:nvPr/>
        </p:nvSpPr>
        <p:spPr>
          <a:xfrm>
            <a:off x="8713440" y="2545035"/>
            <a:ext cx="2547655" cy="324296"/>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CHATGPT</a:t>
            </a:r>
            <a:endParaRPr lang="en-US" sz="1725" dirty="0"/>
          </a:p>
        </p:txBody>
      </p:sp>
      <p:sp>
        <p:nvSpPr>
          <p:cNvPr id="10" name="Shape 8"/>
          <p:cNvSpPr/>
          <p:nvPr/>
        </p:nvSpPr>
        <p:spPr>
          <a:xfrm>
            <a:off x="11384235" y="3059832"/>
            <a:ext cx="2880345" cy="19050"/>
          </a:xfrm>
          <a:prstGeom prst="rect">
            <a:avLst/>
          </a:prstGeom>
          <a:solidFill>
            <a:srgbClr val="111111"/>
          </a:solidFill>
          <a:ln/>
        </p:spPr>
        <p:txBody>
          <a:bodyPr/>
          <a:lstStyle/>
          <a:p>
            <a:endParaRPr lang="en-US"/>
          </a:p>
        </p:txBody>
      </p:sp>
      <p:sp>
        <p:nvSpPr>
          <p:cNvPr id="11" name="Text 9"/>
          <p:cNvSpPr/>
          <p:nvPr/>
        </p:nvSpPr>
        <p:spPr>
          <a:xfrm>
            <a:off x="11593785" y="2545035"/>
            <a:ext cx="2547655" cy="324296"/>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GEMINI</a:t>
            </a:r>
            <a:endParaRPr lang="en-US" sz="1725" dirty="0"/>
          </a:p>
        </p:txBody>
      </p:sp>
      <p:sp>
        <p:nvSpPr>
          <p:cNvPr id="12" name="Shape 10"/>
          <p:cNvSpPr/>
          <p:nvPr/>
        </p:nvSpPr>
        <p:spPr>
          <a:xfrm>
            <a:off x="14264580" y="3059832"/>
            <a:ext cx="2880420" cy="19050"/>
          </a:xfrm>
          <a:prstGeom prst="rect">
            <a:avLst/>
          </a:prstGeom>
          <a:solidFill>
            <a:srgbClr val="111111"/>
          </a:solidFill>
          <a:ln/>
        </p:spPr>
        <p:txBody>
          <a:bodyPr/>
          <a:lstStyle/>
          <a:p>
            <a:endParaRPr lang="en-US"/>
          </a:p>
        </p:txBody>
      </p:sp>
      <p:sp>
        <p:nvSpPr>
          <p:cNvPr id="13" name="Text 11"/>
          <p:cNvSpPr/>
          <p:nvPr/>
        </p:nvSpPr>
        <p:spPr>
          <a:xfrm>
            <a:off x="14474130" y="2545035"/>
            <a:ext cx="2547732" cy="324296"/>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725" b="1" kern="0" spc="150" dirty="0">
                <a:solidFill>
                  <a:srgbClr val="029E90"/>
                </a:solidFill>
                <a:latin typeface="IBM Plex Mono" pitchFamily="34" charset="0"/>
                <a:ea typeface="IBM Plex Mono" pitchFamily="34" charset="-122"/>
                <a:cs typeface="IBM Plex Mono" pitchFamily="34" charset="-120"/>
              </a:rPr>
              <a:t>GROK</a:t>
            </a:r>
            <a:endParaRPr lang="en-US" sz="1725" dirty="0"/>
          </a:p>
        </p:txBody>
      </p:sp>
      <p:sp>
        <p:nvSpPr>
          <p:cNvPr id="14" name="Shape 12"/>
          <p:cNvSpPr/>
          <p:nvPr/>
        </p:nvSpPr>
        <p:spPr>
          <a:xfrm>
            <a:off x="1143000" y="4247406"/>
            <a:ext cx="4480545" cy="9525"/>
          </a:xfrm>
          <a:prstGeom prst="rect">
            <a:avLst/>
          </a:prstGeom>
          <a:solidFill>
            <a:srgbClr val="111111"/>
          </a:solidFill>
          <a:ln/>
        </p:spPr>
        <p:txBody>
          <a:bodyPr/>
          <a:lstStyle/>
          <a:p>
            <a:endParaRPr lang="en-US"/>
          </a:p>
        </p:txBody>
      </p:sp>
      <p:sp>
        <p:nvSpPr>
          <p:cNvPr id="15" name="Text 13"/>
          <p:cNvSpPr/>
          <p:nvPr/>
        </p:nvSpPr>
        <p:spPr>
          <a:xfrm>
            <a:off x="1352550" y="3348335"/>
            <a:ext cx="2965376" cy="32385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800" b="1" dirty="0">
                <a:solidFill>
                  <a:srgbClr val="000000"/>
                </a:solidFill>
                <a:latin typeface="Libre Baskerville" pitchFamily="34" charset="0"/>
                <a:ea typeface="Libre Baskerville" pitchFamily="34" charset="-122"/>
                <a:cs typeface="Libre Baskerville" pitchFamily="34" charset="-120"/>
              </a:rPr>
              <a:t>Business writing quality</a:t>
            </a:r>
            <a:endParaRPr lang="en-US" sz="1800" dirty="0"/>
          </a:p>
        </p:txBody>
      </p:sp>
      <p:sp>
        <p:nvSpPr>
          <p:cNvPr id="16" name="Text 14"/>
          <p:cNvSpPr/>
          <p:nvPr/>
        </p:nvSpPr>
        <p:spPr>
          <a:xfrm>
            <a:off x="1352550" y="3680743"/>
            <a:ext cx="4175164" cy="323850"/>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800" dirty="0">
                <a:solidFill>
                  <a:srgbClr val="000000">
                    <a:alpha val="70000"/>
                  </a:srgbClr>
                </a:solidFill>
                <a:latin typeface="Libre Baskerville" pitchFamily="34" charset="0"/>
                <a:ea typeface="Libre Baskerville" pitchFamily="34" charset="-122"/>
                <a:cs typeface="Libre Baskerville" pitchFamily="34" charset="-120"/>
              </a:rPr>
              <a:t>Client-ready email, proposal prose</a:t>
            </a:r>
            <a:endParaRPr lang="en-US" sz="1800" dirty="0"/>
          </a:p>
        </p:txBody>
      </p:sp>
      <p:sp>
        <p:nvSpPr>
          <p:cNvPr id="17" name="Shape 15"/>
          <p:cNvSpPr/>
          <p:nvPr/>
        </p:nvSpPr>
        <p:spPr>
          <a:xfrm>
            <a:off x="5623545" y="4247406"/>
            <a:ext cx="2880345" cy="9525"/>
          </a:xfrm>
          <a:prstGeom prst="rect">
            <a:avLst/>
          </a:prstGeom>
          <a:solidFill>
            <a:srgbClr val="111111"/>
          </a:solidFill>
          <a:ln/>
        </p:spPr>
        <p:txBody>
          <a:bodyPr/>
          <a:lstStyle/>
          <a:p>
            <a:endParaRPr lang="en-US"/>
          </a:p>
        </p:txBody>
      </p:sp>
      <p:sp>
        <p:nvSpPr>
          <p:cNvPr id="18" name="Text 16"/>
          <p:cNvSpPr/>
          <p:nvPr/>
        </p:nvSpPr>
        <p:spPr>
          <a:xfrm>
            <a:off x="5833095" y="3288432"/>
            <a:ext cx="2547655" cy="787524"/>
          </a:xfrm>
          <a:prstGeom prst="rect">
            <a:avLst/>
          </a:prstGeom>
          <a:noFill/>
          <a:ln/>
        </p:spPr>
        <p:txBody>
          <a:bodyPr wrap="square" lIns="25400" tIns="25400" rIns="25400" bIns="25400" rtlCol="0" anchor="ctr">
            <a:normAutofit/>
          </a:bodyPr>
          <a:lstStyle/>
          <a:p>
            <a:pPr marL="0" indent="0" algn="l">
              <a:lnSpc>
                <a:spcPct val="135000"/>
              </a:lnSpc>
              <a:buNone/>
            </a:pPr>
            <a:r>
              <a:rPr lang="en-US" sz="2250" b="1" dirty="0">
                <a:solidFill>
                  <a:srgbClr val="04CCBA"/>
                </a:solidFill>
                <a:latin typeface="Libre Baskerville" pitchFamily="34" charset="0"/>
                <a:ea typeface="Libre Baskerville" pitchFamily="34" charset="-122"/>
                <a:cs typeface="Libre Baskerville" pitchFamily="34" charset="-120"/>
              </a:rPr>
              <a:t>Best in class</a:t>
            </a:r>
            <a:endParaRPr lang="en-US" sz="2250" dirty="0"/>
          </a:p>
        </p:txBody>
      </p:sp>
      <p:sp>
        <p:nvSpPr>
          <p:cNvPr id="19" name="Shape 17"/>
          <p:cNvSpPr/>
          <p:nvPr/>
        </p:nvSpPr>
        <p:spPr>
          <a:xfrm>
            <a:off x="8503890" y="4247406"/>
            <a:ext cx="2880345" cy="9525"/>
          </a:xfrm>
          <a:prstGeom prst="rect">
            <a:avLst/>
          </a:prstGeom>
          <a:solidFill>
            <a:srgbClr val="111111"/>
          </a:solidFill>
          <a:ln/>
        </p:spPr>
        <p:txBody>
          <a:bodyPr/>
          <a:lstStyle/>
          <a:p>
            <a:endParaRPr lang="en-US"/>
          </a:p>
        </p:txBody>
      </p:sp>
      <p:sp>
        <p:nvSpPr>
          <p:cNvPr id="20" name="Text 18"/>
          <p:cNvSpPr/>
          <p:nvPr/>
        </p:nvSpPr>
        <p:spPr>
          <a:xfrm>
            <a:off x="8713440" y="3288432"/>
            <a:ext cx="2547655" cy="78752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Good, generic</a:t>
            </a:r>
            <a:endParaRPr lang="en-US" sz="1800" dirty="0"/>
          </a:p>
        </p:txBody>
      </p:sp>
      <p:sp>
        <p:nvSpPr>
          <p:cNvPr id="21" name="Shape 19"/>
          <p:cNvSpPr/>
          <p:nvPr/>
        </p:nvSpPr>
        <p:spPr>
          <a:xfrm>
            <a:off x="11384235" y="4247406"/>
            <a:ext cx="2880345" cy="9525"/>
          </a:xfrm>
          <a:prstGeom prst="rect">
            <a:avLst/>
          </a:prstGeom>
          <a:solidFill>
            <a:srgbClr val="111111"/>
          </a:solidFill>
          <a:ln/>
        </p:spPr>
        <p:txBody>
          <a:bodyPr/>
          <a:lstStyle/>
          <a:p>
            <a:endParaRPr lang="en-US"/>
          </a:p>
        </p:txBody>
      </p:sp>
      <p:sp>
        <p:nvSpPr>
          <p:cNvPr id="22" name="Text 20"/>
          <p:cNvSpPr/>
          <p:nvPr/>
        </p:nvSpPr>
        <p:spPr>
          <a:xfrm>
            <a:off x="11593785" y="3288432"/>
            <a:ext cx="2547655" cy="78752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Corporate, stiff</a:t>
            </a:r>
            <a:endParaRPr lang="en-US" sz="1800" dirty="0"/>
          </a:p>
        </p:txBody>
      </p:sp>
      <p:sp>
        <p:nvSpPr>
          <p:cNvPr id="23" name="Shape 21"/>
          <p:cNvSpPr/>
          <p:nvPr/>
        </p:nvSpPr>
        <p:spPr>
          <a:xfrm>
            <a:off x="14264580" y="4247406"/>
            <a:ext cx="2880420" cy="9525"/>
          </a:xfrm>
          <a:prstGeom prst="rect">
            <a:avLst/>
          </a:prstGeom>
          <a:solidFill>
            <a:srgbClr val="111111"/>
          </a:solidFill>
          <a:ln/>
        </p:spPr>
        <p:txBody>
          <a:bodyPr/>
          <a:lstStyle/>
          <a:p>
            <a:endParaRPr lang="en-US"/>
          </a:p>
        </p:txBody>
      </p:sp>
      <p:sp>
        <p:nvSpPr>
          <p:cNvPr id="24" name="Text 22"/>
          <p:cNvSpPr/>
          <p:nvPr/>
        </p:nvSpPr>
        <p:spPr>
          <a:xfrm>
            <a:off x="14474130" y="3288432"/>
            <a:ext cx="2547732" cy="78752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Casual, off-brand</a:t>
            </a:r>
            <a:endParaRPr lang="en-US" sz="1800" dirty="0"/>
          </a:p>
        </p:txBody>
      </p:sp>
      <p:sp>
        <p:nvSpPr>
          <p:cNvPr id="25" name="Shape 23"/>
          <p:cNvSpPr/>
          <p:nvPr/>
        </p:nvSpPr>
        <p:spPr>
          <a:xfrm>
            <a:off x="1143000" y="5420395"/>
            <a:ext cx="4480545" cy="9525"/>
          </a:xfrm>
          <a:prstGeom prst="rect">
            <a:avLst/>
          </a:prstGeom>
          <a:solidFill>
            <a:srgbClr val="111111"/>
          </a:solidFill>
          <a:ln/>
        </p:spPr>
        <p:txBody>
          <a:bodyPr/>
          <a:lstStyle/>
          <a:p>
            <a:endParaRPr lang="en-US"/>
          </a:p>
        </p:txBody>
      </p:sp>
      <p:sp>
        <p:nvSpPr>
          <p:cNvPr id="26" name="Text 24"/>
          <p:cNvSpPr/>
          <p:nvPr/>
        </p:nvSpPr>
        <p:spPr>
          <a:xfrm>
            <a:off x="1352550" y="4521473"/>
            <a:ext cx="3217313" cy="32385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800" b="1" dirty="0">
                <a:solidFill>
                  <a:srgbClr val="000000"/>
                </a:solidFill>
                <a:latin typeface="Libre Baskerville" pitchFamily="34" charset="0"/>
                <a:ea typeface="Libre Baskerville" pitchFamily="34" charset="-122"/>
                <a:cs typeface="Libre Baskerville" pitchFamily="34" charset="-120"/>
              </a:rPr>
              <a:t>Long-document handling</a:t>
            </a:r>
            <a:endParaRPr lang="en-US" sz="1800" dirty="0"/>
          </a:p>
        </p:txBody>
      </p:sp>
      <p:sp>
        <p:nvSpPr>
          <p:cNvPr id="27" name="Text 25"/>
          <p:cNvSpPr/>
          <p:nvPr/>
        </p:nvSpPr>
        <p:spPr>
          <a:xfrm>
            <a:off x="1352550" y="4853880"/>
            <a:ext cx="3776526" cy="323850"/>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800" dirty="0">
                <a:solidFill>
                  <a:srgbClr val="000000">
                    <a:alpha val="70000"/>
                  </a:srgbClr>
                </a:solidFill>
                <a:latin typeface="Libre Baskerville" pitchFamily="34" charset="0"/>
                <a:ea typeface="Libre Baskerville" pitchFamily="34" charset="-122"/>
                <a:cs typeface="Libre Baskerville" pitchFamily="34" charset="-120"/>
              </a:rPr>
              <a:t>Contracts, itineraries, multi-file</a:t>
            </a:r>
            <a:endParaRPr lang="en-US" sz="1800" dirty="0"/>
          </a:p>
        </p:txBody>
      </p:sp>
      <p:sp>
        <p:nvSpPr>
          <p:cNvPr id="28" name="Shape 26"/>
          <p:cNvSpPr/>
          <p:nvPr/>
        </p:nvSpPr>
        <p:spPr>
          <a:xfrm>
            <a:off x="5623545" y="5420395"/>
            <a:ext cx="2880345" cy="9525"/>
          </a:xfrm>
          <a:prstGeom prst="rect">
            <a:avLst/>
          </a:prstGeom>
          <a:solidFill>
            <a:srgbClr val="111111"/>
          </a:solidFill>
          <a:ln/>
        </p:spPr>
        <p:txBody>
          <a:bodyPr/>
          <a:lstStyle/>
          <a:p>
            <a:endParaRPr lang="en-US"/>
          </a:p>
        </p:txBody>
      </p:sp>
      <p:sp>
        <p:nvSpPr>
          <p:cNvPr id="29" name="Text 27"/>
          <p:cNvSpPr/>
          <p:nvPr/>
        </p:nvSpPr>
        <p:spPr>
          <a:xfrm>
            <a:off x="5833095" y="4466481"/>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2250" b="1" dirty="0">
                <a:solidFill>
                  <a:srgbClr val="04CCBA"/>
                </a:solidFill>
                <a:latin typeface="Libre Baskerville" pitchFamily="34" charset="0"/>
                <a:ea typeface="Libre Baskerville" pitchFamily="34" charset="-122"/>
                <a:cs typeface="Libre Baskerville" pitchFamily="34" charset="-120"/>
              </a:rPr>
              <a:t>200K tokens</a:t>
            </a:r>
            <a:endParaRPr lang="en-US" sz="2250" dirty="0"/>
          </a:p>
        </p:txBody>
      </p:sp>
      <p:sp>
        <p:nvSpPr>
          <p:cNvPr id="30" name="Shape 28"/>
          <p:cNvSpPr/>
          <p:nvPr/>
        </p:nvSpPr>
        <p:spPr>
          <a:xfrm>
            <a:off x="8503890" y="5420395"/>
            <a:ext cx="2880345" cy="9525"/>
          </a:xfrm>
          <a:prstGeom prst="rect">
            <a:avLst/>
          </a:prstGeom>
          <a:solidFill>
            <a:srgbClr val="111111"/>
          </a:solidFill>
          <a:ln/>
        </p:spPr>
        <p:txBody>
          <a:bodyPr/>
          <a:lstStyle/>
          <a:p>
            <a:endParaRPr lang="en-US"/>
          </a:p>
        </p:txBody>
      </p:sp>
      <p:sp>
        <p:nvSpPr>
          <p:cNvPr id="31" name="Text 29"/>
          <p:cNvSpPr/>
          <p:nvPr/>
        </p:nvSpPr>
        <p:spPr>
          <a:xfrm>
            <a:off x="8713440" y="4466481"/>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128K</a:t>
            </a:r>
            <a:endParaRPr lang="en-US" sz="1800" dirty="0"/>
          </a:p>
        </p:txBody>
      </p:sp>
      <p:sp>
        <p:nvSpPr>
          <p:cNvPr id="32" name="Shape 30"/>
          <p:cNvSpPr/>
          <p:nvPr/>
        </p:nvSpPr>
        <p:spPr>
          <a:xfrm>
            <a:off x="11384235" y="5420395"/>
            <a:ext cx="2880345" cy="9525"/>
          </a:xfrm>
          <a:prstGeom prst="rect">
            <a:avLst/>
          </a:prstGeom>
          <a:solidFill>
            <a:srgbClr val="111111"/>
          </a:solidFill>
          <a:ln/>
        </p:spPr>
        <p:txBody>
          <a:bodyPr/>
          <a:lstStyle/>
          <a:p>
            <a:endParaRPr lang="en-US"/>
          </a:p>
        </p:txBody>
      </p:sp>
      <p:sp>
        <p:nvSpPr>
          <p:cNvPr id="33" name="Text 31"/>
          <p:cNvSpPr/>
          <p:nvPr/>
        </p:nvSpPr>
        <p:spPr>
          <a:xfrm>
            <a:off x="11593785" y="4466481"/>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1M (shallow)</a:t>
            </a:r>
            <a:endParaRPr lang="en-US" sz="1800" dirty="0"/>
          </a:p>
        </p:txBody>
      </p:sp>
      <p:sp>
        <p:nvSpPr>
          <p:cNvPr id="34" name="Shape 32"/>
          <p:cNvSpPr/>
          <p:nvPr/>
        </p:nvSpPr>
        <p:spPr>
          <a:xfrm>
            <a:off x="14264580" y="5420395"/>
            <a:ext cx="2880420" cy="9525"/>
          </a:xfrm>
          <a:prstGeom prst="rect">
            <a:avLst/>
          </a:prstGeom>
          <a:solidFill>
            <a:srgbClr val="111111"/>
          </a:solidFill>
          <a:ln/>
        </p:spPr>
        <p:txBody>
          <a:bodyPr/>
          <a:lstStyle/>
          <a:p>
            <a:endParaRPr lang="en-US"/>
          </a:p>
        </p:txBody>
      </p:sp>
      <p:sp>
        <p:nvSpPr>
          <p:cNvPr id="35" name="Text 33"/>
          <p:cNvSpPr/>
          <p:nvPr/>
        </p:nvSpPr>
        <p:spPr>
          <a:xfrm>
            <a:off x="14474130" y="4466481"/>
            <a:ext cx="2547732"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128K</a:t>
            </a:r>
            <a:endParaRPr lang="en-US" sz="1800" dirty="0"/>
          </a:p>
        </p:txBody>
      </p:sp>
      <p:sp>
        <p:nvSpPr>
          <p:cNvPr id="36" name="Shape 34"/>
          <p:cNvSpPr/>
          <p:nvPr/>
        </p:nvSpPr>
        <p:spPr>
          <a:xfrm>
            <a:off x="1143000" y="6593384"/>
            <a:ext cx="4480545" cy="9525"/>
          </a:xfrm>
          <a:prstGeom prst="rect">
            <a:avLst/>
          </a:prstGeom>
          <a:solidFill>
            <a:srgbClr val="111111"/>
          </a:solidFill>
          <a:ln/>
        </p:spPr>
        <p:txBody>
          <a:bodyPr/>
          <a:lstStyle/>
          <a:p>
            <a:endParaRPr lang="en-US"/>
          </a:p>
        </p:txBody>
      </p:sp>
      <p:sp>
        <p:nvSpPr>
          <p:cNvPr id="37" name="Text 35"/>
          <p:cNvSpPr/>
          <p:nvPr/>
        </p:nvSpPr>
        <p:spPr>
          <a:xfrm>
            <a:off x="1352550" y="5694462"/>
            <a:ext cx="2270596" cy="32385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800" b="1" dirty="0">
                <a:solidFill>
                  <a:srgbClr val="000000"/>
                </a:solidFill>
                <a:latin typeface="Libre Baskerville" pitchFamily="34" charset="0"/>
                <a:ea typeface="Libre Baskerville" pitchFamily="34" charset="-122"/>
                <a:cs typeface="Libre Baskerville" pitchFamily="34" charset="-120"/>
              </a:rPr>
              <a:t>Hallucination rate</a:t>
            </a:r>
            <a:endParaRPr lang="en-US" sz="1800" dirty="0"/>
          </a:p>
        </p:txBody>
      </p:sp>
      <p:sp>
        <p:nvSpPr>
          <p:cNvPr id="38" name="Text 36"/>
          <p:cNvSpPr/>
          <p:nvPr/>
        </p:nvSpPr>
        <p:spPr>
          <a:xfrm>
            <a:off x="1352550" y="6026869"/>
            <a:ext cx="3439818" cy="323850"/>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800" dirty="0">
                <a:solidFill>
                  <a:srgbClr val="000000">
                    <a:alpha val="70000"/>
                  </a:srgbClr>
                </a:solidFill>
                <a:latin typeface="Libre Baskerville" pitchFamily="34" charset="0"/>
                <a:ea typeface="Libre Baskerville" pitchFamily="34" charset="-122"/>
                <a:cs typeface="Libre Baskerville" pitchFamily="34" charset="-120"/>
              </a:rPr>
              <a:t>Lower = safer for client work</a:t>
            </a:r>
            <a:endParaRPr lang="en-US" sz="1800" dirty="0"/>
          </a:p>
        </p:txBody>
      </p:sp>
      <p:sp>
        <p:nvSpPr>
          <p:cNvPr id="39" name="Shape 37"/>
          <p:cNvSpPr/>
          <p:nvPr/>
        </p:nvSpPr>
        <p:spPr>
          <a:xfrm>
            <a:off x="5623545" y="6593384"/>
            <a:ext cx="2880345" cy="9525"/>
          </a:xfrm>
          <a:prstGeom prst="rect">
            <a:avLst/>
          </a:prstGeom>
          <a:solidFill>
            <a:srgbClr val="111111"/>
          </a:solidFill>
          <a:ln/>
        </p:spPr>
        <p:txBody>
          <a:bodyPr/>
          <a:lstStyle/>
          <a:p>
            <a:endParaRPr lang="en-US"/>
          </a:p>
        </p:txBody>
      </p:sp>
      <p:sp>
        <p:nvSpPr>
          <p:cNvPr id="40" name="Text 38"/>
          <p:cNvSpPr/>
          <p:nvPr/>
        </p:nvSpPr>
        <p:spPr>
          <a:xfrm>
            <a:off x="5833095" y="5639470"/>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2250" b="1" dirty="0">
                <a:solidFill>
                  <a:srgbClr val="04CCBA"/>
                </a:solidFill>
                <a:latin typeface="Libre Baskerville" pitchFamily="34" charset="0"/>
                <a:ea typeface="Libre Baskerville" pitchFamily="34" charset="-122"/>
                <a:cs typeface="Libre Baskerville" pitchFamily="34" charset="-120"/>
              </a:rPr>
              <a:t>Lowest</a:t>
            </a:r>
            <a:endParaRPr lang="en-US" sz="2250" dirty="0"/>
          </a:p>
        </p:txBody>
      </p:sp>
      <p:sp>
        <p:nvSpPr>
          <p:cNvPr id="41" name="Shape 39"/>
          <p:cNvSpPr/>
          <p:nvPr/>
        </p:nvSpPr>
        <p:spPr>
          <a:xfrm>
            <a:off x="8503890" y="6593384"/>
            <a:ext cx="2880345" cy="9525"/>
          </a:xfrm>
          <a:prstGeom prst="rect">
            <a:avLst/>
          </a:prstGeom>
          <a:solidFill>
            <a:srgbClr val="111111"/>
          </a:solidFill>
          <a:ln/>
        </p:spPr>
        <p:txBody>
          <a:bodyPr/>
          <a:lstStyle/>
          <a:p>
            <a:endParaRPr lang="en-US"/>
          </a:p>
        </p:txBody>
      </p:sp>
      <p:sp>
        <p:nvSpPr>
          <p:cNvPr id="42" name="Text 40"/>
          <p:cNvSpPr/>
          <p:nvPr/>
        </p:nvSpPr>
        <p:spPr>
          <a:xfrm>
            <a:off x="8713440" y="5639470"/>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Medium</a:t>
            </a:r>
            <a:endParaRPr lang="en-US" sz="1800" dirty="0"/>
          </a:p>
        </p:txBody>
      </p:sp>
      <p:sp>
        <p:nvSpPr>
          <p:cNvPr id="43" name="Shape 41"/>
          <p:cNvSpPr/>
          <p:nvPr/>
        </p:nvSpPr>
        <p:spPr>
          <a:xfrm>
            <a:off x="11384235" y="6593384"/>
            <a:ext cx="2880345" cy="9525"/>
          </a:xfrm>
          <a:prstGeom prst="rect">
            <a:avLst/>
          </a:prstGeom>
          <a:solidFill>
            <a:srgbClr val="111111"/>
          </a:solidFill>
          <a:ln/>
        </p:spPr>
        <p:txBody>
          <a:bodyPr/>
          <a:lstStyle/>
          <a:p>
            <a:endParaRPr lang="en-US"/>
          </a:p>
        </p:txBody>
      </p:sp>
      <p:sp>
        <p:nvSpPr>
          <p:cNvPr id="44" name="Text 42"/>
          <p:cNvSpPr/>
          <p:nvPr/>
        </p:nvSpPr>
        <p:spPr>
          <a:xfrm>
            <a:off x="11593785" y="5639470"/>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Medium</a:t>
            </a:r>
            <a:endParaRPr lang="en-US" sz="1800" dirty="0"/>
          </a:p>
        </p:txBody>
      </p:sp>
      <p:sp>
        <p:nvSpPr>
          <p:cNvPr id="45" name="Shape 43"/>
          <p:cNvSpPr/>
          <p:nvPr/>
        </p:nvSpPr>
        <p:spPr>
          <a:xfrm>
            <a:off x="14264580" y="6593384"/>
            <a:ext cx="2880420" cy="9525"/>
          </a:xfrm>
          <a:prstGeom prst="rect">
            <a:avLst/>
          </a:prstGeom>
          <a:solidFill>
            <a:srgbClr val="111111"/>
          </a:solidFill>
          <a:ln/>
        </p:spPr>
        <p:txBody>
          <a:bodyPr/>
          <a:lstStyle/>
          <a:p>
            <a:endParaRPr lang="en-US"/>
          </a:p>
        </p:txBody>
      </p:sp>
      <p:sp>
        <p:nvSpPr>
          <p:cNvPr id="46" name="Text 44"/>
          <p:cNvSpPr/>
          <p:nvPr/>
        </p:nvSpPr>
        <p:spPr>
          <a:xfrm>
            <a:off x="14474130" y="5639470"/>
            <a:ext cx="2547732"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Highest</a:t>
            </a:r>
            <a:endParaRPr lang="en-US" sz="1800" dirty="0"/>
          </a:p>
        </p:txBody>
      </p:sp>
      <p:sp>
        <p:nvSpPr>
          <p:cNvPr id="47" name="Shape 45"/>
          <p:cNvSpPr/>
          <p:nvPr/>
        </p:nvSpPr>
        <p:spPr>
          <a:xfrm>
            <a:off x="1143000" y="7766372"/>
            <a:ext cx="4480545" cy="9525"/>
          </a:xfrm>
          <a:prstGeom prst="rect">
            <a:avLst/>
          </a:prstGeom>
          <a:solidFill>
            <a:srgbClr val="111111"/>
          </a:solidFill>
          <a:ln/>
        </p:spPr>
        <p:txBody>
          <a:bodyPr/>
          <a:lstStyle/>
          <a:p>
            <a:endParaRPr lang="en-US"/>
          </a:p>
        </p:txBody>
      </p:sp>
      <p:sp>
        <p:nvSpPr>
          <p:cNvPr id="48" name="Text 46"/>
          <p:cNvSpPr/>
          <p:nvPr/>
        </p:nvSpPr>
        <p:spPr>
          <a:xfrm>
            <a:off x="1352550" y="6867451"/>
            <a:ext cx="2928892" cy="32385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800" b="1" dirty="0">
                <a:solidFill>
                  <a:srgbClr val="000000"/>
                </a:solidFill>
                <a:latin typeface="Libre Baskerville" pitchFamily="34" charset="0"/>
                <a:ea typeface="Libre Baskerville" pitchFamily="34" charset="-122"/>
                <a:cs typeface="Libre Baskerville" pitchFamily="34" charset="-120"/>
              </a:rPr>
              <a:t>Works on your real files</a:t>
            </a:r>
            <a:endParaRPr lang="en-US" sz="1800" dirty="0"/>
          </a:p>
        </p:txBody>
      </p:sp>
      <p:sp>
        <p:nvSpPr>
          <p:cNvPr id="49" name="Text 47"/>
          <p:cNvSpPr/>
          <p:nvPr/>
        </p:nvSpPr>
        <p:spPr>
          <a:xfrm>
            <a:off x="1352550" y="7199858"/>
            <a:ext cx="3781048" cy="323850"/>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800" dirty="0">
                <a:solidFill>
                  <a:srgbClr val="000000">
                    <a:alpha val="70000"/>
                  </a:srgbClr>
                </a:solidFill>
                <a:latin typeface="Libre Baskerville" pitchFamily="34" charset="0"/>
                <a:ea typeface="Libre Baskerville" pitchFamily="34" charset="-122"/>
                <a:cs typeface="Libre Baskerville" pitchFamily="34" charset="-120"/>
              </a:rPr>
              <a:t>OneDrive, Outlook, SharePoint</a:t>
            </a:r>
            <a:endParaRPr lang="en-US" sz="1800" dirty="0"/>
          </a:p>
        </p:txBody>
      </p:sp>
      <p:sp>
        <p:nvSpPr>
          <p:cNvPr id="50" name="Shape 48"/>
          <p:cNvSpPr/>
          <p:nvPr/>
        </p:nvSpPr>
        <p:spPr>
          <a:xfrm>
            <a:off x="5623545" y="7766372"/>
            <a:ext cx="2880345" cy="9525"/>
          </a:xfrm>
          <a:prstGeom prst="rect">
            <a:avLst/>
          </a:prstGeom>
          <a:solidFill>
            <a:srgbClr val="111111"/>
          </a:solidFill>
          <a:ln/>
        </p:spPr>
        <p:txBody>
          <a:bodyPr/>
          <a:lstStyle/>
          <a:p>
            <a:endParaRPr lang="en-US"/>
          </a:p>
        </p:txBody>
      </p:sp>
      <p:sp>
        <p:nvSpPr>
          <p:cNvPr id="51" name="Text 49"/>
          <p:cNvSpPr/>
          <p:nvPr/>
        </p:nvSpPr>
        <p:spPr>
          <a:xfrm>
            <a:off x="5833095" y="6812459"/>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2250" b="1" dirty="0">
                <a:solidFill>
                  <a:srgbClr val="04CCBA"/>
                </a:solidFill>
                <a:latin typeface="Libre Baskerville" pitchFamily="34" charset="0"/>
                <a:ea typeface="Libre Baskerville" pitchFamily="34" charset="-122"/>
                <a:cs typeface="Libre Baskerville" pitchFamily="34" charset="-120"/>
              </a:rPr>
              <a:t>Yes · Cowork</a:t>
            </a:r>
            <a:endParaRPr lang="en-US" sz="2250" dirty="0"/>
          </a:p>
        </p:txBody>
      </p:sp>
      <p:sp>
        <p:nvSpPr>
          <p:cNvPr id="52" name="Shape 50"/>
          <p:cNvSpPr/>
          <p:nvPr/>
        </p:nvSpPr>
        <p:spPr>
          <a:xfrm>
            <a:off x="8503890" y="7766372"/>
            <a:ext cx="2880345" cy="9525"/>
          </a:xfrm>
          <a:prstGeom prst="rect">
            <a:avLst/>
          </a:prstGeom>
          <a:solidFill>
            <a:srgbClr val="111111"/>
          </a:solidFill>
          <a:ln/>
        </p:spPr>
        <p:txBody>
          <a:bodyPr/>
          <a:lstStyle/>
          <a:p>
            <a:endParaRPr lang="en-US"/>
          </a:p>
        </p:txBody>
      </p:sp>
      <p:sp>
        <p:nvSpPr>
          <p:cNvPr id="53" name="Text 51"/>
          <p:cNvSpPr/>
          <p:nvPr/>
        </p:nvSpPr>
        <p:spPr>
          <a:xfrm>
            <a:off x="8713440" y="6812459"/>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Partial</a:t>
            </a:r>
            <a:endParaRPr lang="en-US" sz="1800" dirty="0"/>
          </a:p>
        </p:txBody>
      </p:sp>
      <p:sp>
        <p:nvSpPr>
          <p:cNvPr id="54" name="Shape 52"/>
          <p:cNvSpPr/>
          <p:nvPr/>
        </p:nvSpPr>
        <p:spPr>
          <a:xfrm>
            <a:off x="11384235" y="7766372"/>
            <a:ext cx="2880345" cy="9525"/>
          </a:xfrm>
          <a:prstGeom prst="rect">
            <a:avLst/>
          </a:prstGeom>
          <a:solidFill>
            <a:srgbClr val="111111"/>
          </a:solidFill>
          <a:ln/>
        </p:spPr>
        <p:txBody>
          <a:bodyPr/>
          <a:lstStyle/>
          <a:p>
            <a:endParaRPr lang="en-US"/>
          </a:p>
        </p:txBody>
      </p:sp>
      <p:sp>
        <p:nvSpPr>
          <p:cNvPr id="55" name="Text 53"/>
          <p:cNvSpPr/>
          <p:nvPr/>
        </p:nvSpPr>
        <p:spPr>
          <a:xfrm>
            <a:off x="11593785" y="6812459"/>
            <a:ext cx="2547655"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Google only</a:t>
            </a:r>
            <a:endParaRPr lang="en-US" sz="1800" dirty="0"/>
          </a:p>
        </p:txBody>
      </p:sp>
      <p:sp>
        <p:nvSpPr>
          <p:cNvPr id="56" name="Shape 54"/>
          <p:cNvSpPr/>
          <p:nvPr/>
        </p:nvSpPr>
        <p:spPr>
          <a:xfrm>
            <a:off x="14264580" y="7766372"/>
            <a:ext cx="2880420" cy="9525"/>
          </a:xfrm>
          <a:prstGeom prst="rect">
            <a:avLst/>
          </a:prstGeom>
          <a:solidFill>
            <a:srgbClr val="111111"/>
          </a:solidFill>
          <a:ln/>
        </p:spPr>
        <p:txBody>
          <a:bodyPr/>
          <a:lstStyle/>
          <a:p>
            <a:endParaRPr lang="en-US"/>
          </a:p>
        </p:txBody>
      </p:sp>
      <p:sp>
        <p:nvSpPr>
          <p:cNvPr id="57" name="Text 55"/>
          <p:cNvSpPr/>
          <p:nvPr/>
        </p:nvSpPr>
        <p:spPr>
          <a:xfrm>
            <a:off x="14474130" y="6812459"/>
            <a:ext cx="2547732" cy="782464"/>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No</a:t>
            </a:r>
            <a:endParaRPr lang="en-US" sz="1800" dirty="0"/>
          </a:p>
        </p:txBody>
      </p:sp>
      <p:sp>
        <p:nvSpPr>
          <p:cNvPr id="58" name="Shape 56"/>
          <p:cNvSpPr/>
          <p:nvPr/>
        </p:nvSpPr>
        <p:spPr>
          <a:xfrm>
            <a:off x="1143000" y="9320213"/>
            <a:ext cx="4480545" cy="9525"/>
          </a:xfrm>
          <a:prstGeom prst="rect">
            <a:avLst/>
          </a:prstGeom>
          <a:solidFill>
            <a:srgbClr val="111111"/>
          </a:solidFill>
          <a:ln/>
        </p:spPr>
        <p:txBody>
          <a:bodyPr/>
          <a:lstStyle/>
          <a:p>
            <a:endParaRPr lang="en-US"/>
          </a:p>
        </p:txBody>
      </p:sp>
      <p:sp>
        <p:nvSpPr>
          <p:cNvPr id="59" name="Text 57"/>
          <p:cNvSpPr/>
          <p:nvPr/>
        </p:nvSpPr>
        <p:spPr>
          <a:xfrm>
            <a:off x="1352550" y="8053760"/>
            <a:ext cx="2886737" cy="32385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800" b="1" dirty="0">
                <a:solidFill>
                  <a:srgbClr val="000000"/>
                </a:solidFill>
                <a:latin typeface="Libre Baskerville" pitchFamily="34" charset="0"/>
                <a:ea typeface="Libre Baskerville" pitchFamily="34" charset="-122"/>
                <a:cs typeface="Libre Baskerville" pitchFamily="34" charset="-120"/>
              </a:rPr>
              <a:t>Enterprise data privacy</a:t>
            </a:r>
            <a:endParaRPr lang="en-US" sz="1800" dirty="0"/>
          </a:p>
        </p:txBody>
      </p:sp>
      <p:sp>
        <p:nvSpPr>
          <p:cNvPr id="60" name="Text 58"/>
          <p:cNvSpPr/>
          <p:nvPr/>
        </p:nvSpPr>
        <p:spPr>
          <a:xfrm>
            <a:off x="1352550" y="8386167"/>
            <a:ext cx="3660023" cy="678135"/>
          </a:xfrm>
          <a:prstGeom prst="rect">
            <a:avLst/>
          </a:prstGeom>
          <a:noFill/>
          <a:ln/>
        </p:spPr>
        <p:txBody>
          <a:bodyPr wrap="square" lIns="25400" tIns="25400" rIns="25400" bIns="25400" rtlCol="0" anchor="t">
            <a:normAutofit fontScale="85000" lnSpcReduction="20000"/>
          </a:bodyPr>
          <a:lstStyle/>
          <a:p>
            <a:pPr marL="0" indent="0" algn="l">
              <a:lnSpc>
                <a:spcPct val="155000"/>
              </a:lnSpc>
              <a:buNone/>
            </a:pPr>
            <a:r>
              <a:rPr lang="en-US" sz="1800" dirty="0">
                <a:solidFill>
                  <a:srgbClr val="000000">
                    <a:alpha val="70000"/>
                  </a:srgbClr>
                </a:solidFill>
                <a:latin typeface="Libre Baskerville" pitchFamily="34" charset="0"/>
                <a:ea typeface="Libre Baskerville" pitchFamily="34" charset="-122"/>
                <a:cs typeface="Libre Baskerville" pitchFamily="34" charset="-120"/>
              </a:rPr>
              <a:t>Zero-retention, no training on your data</a:t>
            </a:r>
            <a:endParaRPr lang="en-US" sz="1800" dirty="0"/>
          </a:p>
        </p:txBody>
      </p:sp>
      <p:sp>
        <p:nvSpPr>
          <p:cNvPr id="61" name="Shape 59"/>
          <p:cNvSpPr/>
          <p:nvPr/>
        </p:nvSpPr>
        <p:spPr>
          <a:xfrm>
            <a:off x="5623545" y="9320213"/>
            <a:ext cx="2880345" cy="9525"/>
          </a:xfrm>
          <a:prstGeom prst="rect">
            <a:avLst/>
          </a:prstGeom>
          <a:solidFill>
            <a:srgbClr val="111111"/>
          </a:solidFill>
          <a:ln/>
        </p:spPr>
        <p:txBody>
          <a:bodyPr/>
          <a:lstStyle/>
          <a:p>
            <a:endParaRPr lang="en-US"/>
          </a:p>
        </p:txBody>
      </p:sp>
      <p:sp>
        <p:nvSpPr>
          <p:cNvPr id="62" name="Text 60"/>
          <p:cNvSpPr/>
          <p:nvPr/>
        </p:nvSpPr>
        <p:spPr>
          <a:xfrm>
            <a:off x="5833095" y="7985447"/>
            <a:ext cx="2547655" cy="1163315"/>
          </a:xfrm>
          <a:prstGeom prst="rect">
            <a:avLst/>
          </a:prstGeom>
          <a:noFill/>
          <a:ln/>
        </p:spPr>
        <p:txBody>
          <a:bodyPr wrap="square" lIns="25400" tIns="25400" rIns="25400" bIns="25400" rtlCol="0" anchor="ctr">
            <a:normAutofit/>
          </a:bodyPr>
          <a:lstStyle/>
          <a:p>
            <a:pPr marL="0" indent="0" algn="l">
              <a:lnSpc>
                <a:spcPct val="135000"/>
              </a:lnSpc>
              <a:buNone/>
            </a:pPr>
            <a:r>
              <a:rPr lang="en-US" sz="2250" b="1" dirty="0">
                <a:solidFill>
                  <a:srgbClr val="04CCBA"/>
                </a:solidFill>
                <a:latin typeface="Libre Baskerville" pitchFamily="34" charset="0"/>
                <a:ea typeface="Libre Baskerville" pitchFamily="34" charset="-122"/>
                <a:cs typeface="Libre Baskerville" pitchFamily="34" charset="-120"/>
              </a:rPr>
              <a:t>Default on</a:t>
            </a:r>
            <a:endParaRPr lang="en-US" sz="2250" dirty="0"/>
          </a:p>
        </p:txBody>
      </p:sp>
      <p:sp>
        <p:nvSpPr>
          <p:cNvPr id="63" name="Shape 61"/>
          <p:cNvSpPr/>
          <p:nvPr/>
        </p:nvSpPr>
        <p:spPr>
          <a:xfrm>
            <a:off x="8503890" y="9320213"/>
            <a:ext cx="2880345" cy="9525"/>
          </a:xfrm>
          <a:prstGeom prst="rect">
            <a:avLst/>
          </a:prstGeom>
          <a:solidFill>
            <a:srgbClr val="111111"/>
          </a:solidFill>
          <a:ln/>
        </p:spPr>
        <p:txBody>
          <a:bodyPr/>
          <a:lstStyle/>
          <a:p>
            <a:endParaRPr lang="en-US"/>
          </a:p>
        </p:txBody>
      </p:sp>
      <p:sp>
        <p:nvSpPr>
          <p:cNvPr id="64" name="Text 62"/>
          <p:cNvSpPr/>
          <p:nvPr/>
        </p:nvSpPr>
        <p:spPr>
          <a:xfrm>
            <a:off x="8713440" y="7985447"/>
            <a:ext cx="2547655" cy="1163315"/>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Opt-in</a:t>
            </a:r>
            <a:endParaRPr lang="en-US" sz="1800" dirty="0"/>
          </a:p>
        </p:txBody>
      </p:sp>
      <p:sp>
        <p:nvSpPr>
          <p:cNvPr id="65" name="Shape 63"/>
          <p:cNvSpPr/>
          <p:nvPr/>
        </p:nvSpPr>
        <p:spPr>
          <a:xfrm>
            <a:off x="11384235" y="9320213"/>
            <a:ext cx="2880345" cy="9525"/>
          </a:xfrm>
          <a:prstGeom prst="rect">
            <a:avLst/>
          </a:prstGeom>
          <a:solidFill>
            <a:srgbClr val="111111"/>
          </a:solidFill>
          <a:ln/>
        </p:spPr>
        <p:txBody>
          <a:bodyPr/>
          <a:lstStyle/>
          <a:p>
            <a:endParaRPr lang="en-US"/>
          </a:p>
        </p:txBody>
      </p:sp>
      <p:sp>
        <p:nvSpPr>
          <p:cNvPr id="66" name="Text 64"/>
          <p:cNvSpPr/>
          <p:nvPr/>
        </p:nvSpPr>
        <p:spPr>
          <a:xfrm>
            <a:off x="11593785" y="7985447"/>
            <a:ext cx="2547655" cy="1163315"/>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Opt-in</a:t>
            </a:r>
            <a:endParaRPr lang="en-US" sz="1800" dirty="0"/>
          </a:p>
        </p:txBody>
      </p:sp>
      <p:sp>
        <p:nvSpPr>
          <p:cNvPr id="67" name="Shape 65"/>
          <p:cNvSpPr/>
          <p:nvPr/>
        </p:nvSpPr>
        <p:spPr>
          <a:xfrm>
            <a:off x="14264580" y="9320213"/>
            <a:ext cx="2880420" cy="9525"/>
          </a:xfrm>
          <a:prstGeom prst="rect">
            <a:avLst/>
          </a:prstGeom>
          <a:solidFill>
            <a:srgbClr val="111111"/>
          </a:solidFill>
          <a:ln/>
        </p:spPr>
        <p:txBody>
          <a:bodyPr/>
          <a:lstStyle/>
          <a:p>
            <a:endParaRPr lang="en-US"/>
          </a:p>
        </p:txBody>
      </p:sp>
      <p:sp>
        <p:nvSpPr>
          <p:cNvPr id="68" name="Text 66"/>
          <p:cNvSpPr/>
          <p:nvPr/>
        </p:nvSpPr>
        <p:spPr>
          <a:xfrm>
            <a:off x="14474130" y="7985447"/>
            <a:ext cx="2547732" cy="1163315"/>
          </a:xfrm>
          <a:prstGeom prst="rect">
            <a:avLst/>
          </a:prstGeom>
          <a:noFill/>
          <a:ln/>
        </p:spPr>
        <p:txBody>
          <a:bodyPr wrap="square" lIns="25400" tIns="25400" rIns="25400" bIns="25400" rtlCol="0" anchor="ctr">
            <a:normAutofit/>
          </a:bodyPr>
          <a:lstStyle/>
          <a:p>
            <a:pPr marL="0" indent="0" algn="l">
              <a:lnSpc>
                <a:spcPct val="135000"/>
              </a:lnSpc>
              <a:buNone/>
            </a:pPr>
            <a:r>
              <a:rPr lang="en-US" sz="1800" dirty="0">
                <a:solidFill>
                  <a:srgbClr val="000000"/>
                </a:solidFill>
                <a:latin typeface="Libre Baskerville" pitchFamily="34" charset="0"/>
                <a:ea typeface="Libre Baskerville" pitchFamily="34" charset="-122"/>
                <a:cs typeface="Libre Baskerville" pitchFamily="34" charset="-120"/>
              </a:rPr>
              <a:t>Limited</a:t>
            </a:r>
            <a:endParaRPr lang="en-US" sz="1800" dirty="0"/>
          </a:p>
        </p:txBody>
      </p:sp>
      <p:sp>
        <p:nvSpPr>
          <p:cNvPr id="69" name="Text 6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53B6EFF5-D9A1-3E48-BE1F-2E79AC2A04F1}"/>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15 / 23</a:t>
            </a:r>
          </a:p>
        </p:txBody>
      </p:sp>
    </p:spTree>
    <p:extLst>
      <p:ext uri="{BB962C8B-B14F-4D97-AF65-F5344CB8AC3E}">
        <p14:creationId xmlns:p14="http://schemas.microsoft.com/office/powerpoint/2010/main" val="2055700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Chat is a </a:t>
            </a:r>
            <a:r>
              <a:rPr lang="en-US" sz="4800" b="1" i="1" kern="0" spc="-112" dirty="0">
                <a:solidFill>
                  <a:srgbClr val="04CCBA"/>
                </a:solidFill>
                <a:latin typeface="Playfair Display" pitchFamily="34" charset="0"/>
                <a:ea typeface="Playfair Display" pitchFamily="34" charset="-122"/>
                <a:cs typeface="Playfair Display" pitchFamily="34" charset="-120"/>
              </a:rPr>
              <a:t>thinking partner. </a:t>
            </a:r>
            <a:r>
              <a:rPr lang="en-US" sz="4800" b="1" kern="0" spc="-112" dirty="0">
                <a:solidFill>
                  <a:srgbClr val="000000"/>
                </a:solidFill>
                <a:latin typeface="Playfair Display" pitchFamily="34" charset="0"/>
                <a:ea typeface="Playfair Display" pitchFamily="34" charset="-122"/>
                <a:cs typeface="Playfair Display" pitchFamily="34" charset="-120"/>
              </a:rPr>
              <a:t>Not a file system.</a:t>
            </a:r>
            <a:endParaRPr lang="en-US" sz="4800" dirty="0"/>
          </a:p>
        </p:txBody>
      </p:sp>
      <p:sp>
        <p:nvSpPr>
          <p:cNvPr id="4" name="Text 2"/>
          <p:cNvSpPr/>
          <p:nvPr/>
        </p:nvSpPr>
        <p:spPr>
          <a:xfrm>
            <a:off x="1143000" y="2554560"/>
            <a:ext cx="7946708"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USE IT LIKE</a:t>
            </a:r>
            <a:endParaRPr lang="en-US" sz="1875" dirty="0"/>
          </a:p>
        </p:txBody>
      </p:sp>
      <p:sp>
        <p:nvSpPr>
          <p:cNvPr id="5" name="Text 3"/>
          <p:cNvSpPr/>
          <p:nvPr/>
        </p:nvSpPr>
        <p:spPr>
          <a:xfrm>
            <a:off x="1143000" y="3330848"/>
            <a:ext cx="7946708" cy="1927622"/>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2400" dirty="0">
                <a:solidFill>
                  <a:srgbClr val="000000"/>
                </a:solidFill>
                <a:latin typeface="Libre Baskerville" pitchFamily="34" charset="0"/>
                <a:ea typeface="Libre Baskerville" pitchFamily="34" charset="-122"/>
                <a:cs typeface="Libre Baskerville" pitchFamily="34" charset="-120"/>
              </a:rPr>
              <a:t>A senior colleague sitting next to you. You hand them a half-finished draft or a vague problem. They give you something you can use in sixty seconds.</a:t>
            </a:r>
            <a:endParaRPr lang="en-US" sz="2400" dirty="0"/>
          </a:p>
        </p:txBody>
      </p:sp>
      <p:sp>
        <p:nvSpPr>
          <p:cNvPr id="6" name="Text 4"/>
          <p:cNvSpPr/>
          <p:nvPr/>
        </p:nvSpPr>
        <p:spPr>
          <a:xfrm>
            <a:off x="956310" y="5601370"/>
            <a:ext cx="7978140" cy="3438525"/>
          </a:xfrm>
          <a:prstGeom prst="rect">
            <a:avLst/>
          </a:prstGeom>
          <a:noFill/>
          <a:ln/>
        </p:spPr>
        <p:txBody>
          <a:bodyPr wrap="square" lIns="25400" tIns="25400" rIns="25400" bIns="25400" rtlCol="0" anchor="t">
            <a:normAutofit/>
          </a:bodyPr>
          <a:lstStyle/>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Draft a follow-up email to a university procurement contact</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Rewrite this itinerary in a friendlier voice</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What am I missing in this airline contract?</a:t>
            </a:r>
            <a:endParaRPr lang="en-US" sz="2100" dirty="0"/>
          </a:p>
          <a:p>
            <a:pPr marL="342900" indent="-342900" algn="l">
              <a:lnSpc>
                <a:spcPct val="150000"/>
              </a:lnSpc>
              <a:buFont typeface="Arial" panose="020B0604020202020204" pitchFamily="34" charset="0"/>
              <a:buChar char="•"/>
            </a:pPr>
            <a:r>
              <a:rPr lang="en-US" sz="2100" dirty="0">
                <a:solidFill>
                  <a:srgbClr val="000000"/>
                </a:solidFill>
                <a:latin typeface="Libre Baskerville" pitchFamily="34" charset="0"/>
                <a:ea typeface="Libre Baskerville" pitchFamily="34" charset="-122"/>
                <a:cs typeface="Libre Baskerville" pitchFamily="34" charset="-120"/>
              </a:rPr>
              <a:t>Turn these five bullet points into a quote summary</a:t>
            </a:r>
            <a:endParaRPr lang="en-US" sz="2100" dirty="0"/>
          </a:p>
        </p:txBody>
      </p:sp>
      <p:sp>
        <p:nvSpPr>
          <p:cNvPr id="7" name="Shape 5"/>
          <p:cNvSpPr/>
          <p:nvPr/>
        </p:nvSpPr>
        <p:spPr>
          <a:xfrm>
            <a:off x="9429750" y="2316435"/>
            <a:ext cx="7715250" cy="7018065"/>
          </a:xfrm>
          <a:prstGeom prst="rect">
            <a:avLst/>
          </a:prstGeom>
          <a:solidFill>
            <a:srgbClr val="FAFAF9"/>
          </a:solidFill>
          <a:ln w="9525">
            <a:solidFill>
              <a:srgbClr val="111111"/>
            </a:solidFill>
            <a:prstDash val="solid"/>
          </a:ln>
        </p:spPr>
        <p:txBody>
          <a:bodyPr/>
          <a:lstStyle/>
          <a:p>
            <a:endParaRPr lang="en-US"/>
          </a:p>
        </p:txBody>
      </p:sp>
      <p:sp>
        <p:nvSpPr>
          <p:cNvPr id="8" name="Text 6"/>
          <p:cNvSpPr/>
          <p:nvPr/>
        </p:nvSpPr>
        <p:spPr>
          <a:xfrm>
            <a:off x="9820275" y="2668860"/>
            <a:ext cx="7165658" cy="6351315"/>
          </a:xfrm>
          <a:prstGeom prst="rect">
            <a:avLst/>
          </a:prstGeom>
          <a:noFill/>
          <a:ln/>
        </p:spPr>
        <p:txBody>
          <a:bodyPr wrap="square" lIns="25400" tIns="25400" rIns="25400" bIns="25400" rtlCol="0" anchor="t">
            <a:normAutofit/>
          </a:bodyPr>
          <a:lstStyle/>
          <a:p>
            <a:pPr marL="0" indent="0" algn="l">
              <a:lnSpc>
                <a:spcPct val="160000"/>
              </a:lnSpc>
              <a:buNone/>
            </a:pPr>
            <a:r>
              <a:rPr lang="en-US" sz="1950" b="1" dirty="0">
                <a:solidFill>
                  <a:srgbClr val="029E90"/>
                </a:solidFill>
                <a:latin typeface="IBM Plex Mono" pitchFamily="34" charset="0"/>
                <a:ea typeface="IBM Plex Mono" pitchFamily="34" charset="-122"/>
                <a:cs typeface="IBM Plex Mono" pitchFamily="34" charset="-120"/>
              </a:rPr>
              <a:t>YOU → </a:t>
            </a:r>
            <a:r>
              <a:rPr lang="en-US" sz="1950" dirty="0">
                <a:solidFill>
                  <a:srgbClr val="000000"/>
                </a:solidFill>
                <a:highlight>
                  <a:srgbClr val="FAFAF9"/>
                </a:highlight>
                <a:latin typeface="IBM Plex Mono" pitchFamily="34" charset="0"/>
                <a:ea typeface="IBM Plex Mono" pitchFamily="34" charset="-122"/>
                <a:cs typeface="IBM Plex Mono" pitchFamily="34" charset="-120"/>
              </a:rPr>
              <a:t> A university group of 42 students needs a Rome–Florence–Venice itinerary, 7 days, moderate budget. Land-only. Draft a proposal in our Millennium voice. </a:t>
            </a:r>
            <a:br>
              <a:rPr lang="en-US" sz="1950" dirty="0">
                <a:solidFill>
                  <a:srgbClr val="000000"/>
                </a:solidFill>
                <a:highlight>
                  <a:srgbClr val="FAFAF9"/>
                </a:highlight>
                <a:latin typeface="IBM Plex Mono" pitchFamily="34" charset="0"/>
                <a:ea typeface="IBM Plex Mono" pitchFamily="34" charset="-122"/>
                <a:cs typeface="IBM Plex Mono" pitchFamily="34" charset="-120"/>
              </a:rPr>
            </a:br>
            <a:br>
              <a:rPr lang="en-US" sz="1950" dirty="0">
                <a:solidFill>
                  <a:srgbClr val="000000"/>
                </a:solidFill>
                <a:highlight>
                  <a:srgbClr val="FAFAF9"/>
                </a:highlight>
                <a:latin typeface="IBM Plex Mono" pitchFamily="34" charset="0"/>
                <a:ea typeface="IBM Plex Mono" pitchFamily="34" charset="-122"/>
                <a:cs typeface="IBM Plex Mono" pitchFamily="34" charset="-120"/>
              </a:rPr>
            </a:br>
            <a:r>
              <a:rPr lang="en-US" sz="1950" b="1" dirty="0">
                <a:solidFill>
                  <a:srgbClr val="029E90"/>
                </a:solidFill>
                <a:latin typeface="IBM Plex Mono" pitchFamily="34" charset="0"/>
                <a:ea typeface="IBM Plex Mono" pitchFamily="34" charset="-122"/>
                <a:cs typeface="IBM Plex Mono" pitchFamily="34" charset="-120"/>
              </a:rPr>
              <a:t>CLAUDE → </a:t>
            </a:r>
            <a:r>
              <a:rPr lang="en-US" sz="1950" dirty="0">
                <a:solidFill>
                  <a:srgbClr val="000000"/>
                </a:solidFill>
                <a:highlight>
                  <a:srgbClr val="FAFAF9"/>
                </a:highlight>
                <a:latin typeface="IBM Plex Mono" pitchFamily="34" charset="0"/>
                <a:ea typeface="IBM Plex Mono" pitchFamily="34" charset="-122"/>
                <a:cs typeface="IBM Plex Mono" pitchFamily="34" charset="-120"/>
              </a:rPr>
              <a:t> Returns a formatted proposal with day-by-day inclusions, exclusions, inclusions table, and a paragraph on travel insurance. You edit the last 20%.</a:t>
            </a:r>
            <a:endParaRPr lang="en-US" sz="1950" dirty="0"/>
          </a:p>
          <a:p>
            <a:pPr marL="0" indent="0" algn="l">
              <a:lnSpc>
                <a:spcPct val="160000"/>
              </a:lnSpc>
              <a:buNone/>
            </a:pPr>
            <a:r>
              <a:rPr lang="en-US" sz="1950" dirty="0">
                <a:solidFill>
                  <a:srgbClr val="000000"/>
                </a:solidFill>
                <a:highlight>
                  <a:srgbClr val="FAFAF9"/>
                </a:highlight>
                <a:latin typeface="IBM Plex Mono" pitchFamily="34" charset="0"/>
                <a:ea typeface="IBM Plex Mono" pitchFamily="34" charset="-122"/>
                <a:cs typeface="IBM Plex Mono" pitchFamily="34" charset="-120"/>
              </a:rPr>
              <a:t>      </a:t>
            </a:r>
            <a:endParaRPr lang="en-US" sz="1950" dirty="0"/>
          </a:p>
        </p:txBody>
      </p:sp>
      <p:sp>
        <p:nvSpPr>
          <p:cNvPr id="9" name="Text 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1917295C-D347-4E41-A5E8-E36C1BC34332}"/>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16 / 23</a:t>
            </a:r>
          </a:p>
        </p:txBody>
      </p:sp>
    </p:spTree>
    <p:extLst>
      <p:ext uri="{BB962C8B-B14F-4D97-AF65-F5344CB8AC3E}">
        <p14:creationId xmlns:p14="http://schemas.microsoft.com/office/powerpoint/2010/main" val="1720158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Cowork is a </a:t>
            </a:r>
            <a:r>
              <a:rPr lang="en-US" sz="4800" b="1" i="1" kern="0" spc="-112" dirty="0">
                <a:solidFill>
                  <a:srgbClr val="04CCBA"/>
                </a:solidFill>
                <a:latin typeface="Playfair Display" pitchFamily="34" charset="0"/>
                <a:ea typeface="Playfair Display" pitchFamily="34" charset="-122"/>
                <a:cs typeface="Playfair Display" pitchFamily="34" charset="-120"/>
              </a:rPr>
              <a:t>colleague with hands. </a:t>
            </a:r>
            <a:r>
              <a:rPr lang="en-US" sz="4800" b="1" kern="0" spc="-112" dirty="0">
                <a:solidFill>
                  <a:srgbClr val="000000"/>
                </a:solidFill>
                <a:latin typeface="Playfair Display" pitchFamily="34" charset="0"/>
                <a:ea typeface="Playfair Display" pitchFamily="34" charset="-122"/>
                <a:cs typeface="Playfair Display" pitchFamily="34" charset="-120"/>
              </a:rPr>
              <a:t>It touches real files.</a:t>
            </a:r>
            <a:endParaRPr lang="en-US" sz="4800" dirty="0"/>
          </a:p>
        </p:txBody>
      </p:sp>
      <p:sp>
        <p:nvSpPr>
          <p:cNvPr id="4" name="Text 2"/>
          <p:cNvSpPr/>
          <p:nvPr/>
        </p:nvSpPr>
        <p:spPr>
          <a:xfrm>
            <a:off x="1143000" y="2554560"/>
            <a:ext cx="7465981"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USE IT LIKE</a:t>
            </a:r>
            <a:endParaRPr lang="en-US" sz="1875" dirty="0"/>
          </a:p>
        </p:txBody>
      </p:sp>
      <p:sp>
        <p:nvSpPr>
          <p:cNvPr id="5" name="Text 3"/>
          <p:cNvSpPr/>
          <p:nvPr/>
        </p:nvSpPr>
        <p:spPr>
          <a:xfrm>
            <a:off x="1143000" y="3330848"/>
            <a:ext cx="7465981" cy="1927622"/>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2400" dirty="0">
                <a:solidFill>
                  <a:srgbClr val="000000"/>
                </a:solidFill>
                <a:latin typeface="Libre Baskerville" pitchFamily="34" charset="0"/>
                <a:ea typeface="Libre Baskerville" pitchFamily="34" charset="-122"/>
                <a:cs typeface="Libre Baskerville" pitchFamily="34" charset="-120"/>
              </a:rPr>
              <a:t>An ops assistant who can open a OneDrive folder, read every file inside, and produce a cleaned-up deliverable. Word docs. Excel sheets. Renamed files.</a:t>
            </a:r>
            <a:endParaRPr lang="en-US" sz="2400" dirty="0"/>
          </a:p>
        </p:txBody>
      </p:sp>
      <p:sp>
        <p:nvSpPr>
          <p:cNvPr id="6" name="Text 4"/>
          <p:cNvSpPr/>
          <p:nvPr/>
        </p:nvSpPr>
        <p:spPr>
          <a:xfrm>
            <a:off x="956310" y="5601370"/>
            <a:ext cx="7511415" cy="34861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000000"/>
                </a:solidFill>
                <a:latin typeface="Libre Baskerville" pitchFamily="34" charset="0"/>
                <a:ea typeface="Libre Baskerville" pitchFamily="34" charset="-122"/>
                <a:cs typeface="Libre Baskerville" pitchFamily="34" charset="-120"/>
              </a:rPr>
              <a:t>Read 40 airline invoices, output a reconciliation sheet</a:t>
            </a:r>
            <a:endParaRPr lang="en-US" sz="2100" dirty="0"/>
          </a:p>
          <a:p>
            <a:pPr marL="0" indent="0" algn="l">
              <a:lnSpc>
                <a:spcPct val="150000"/>
              </a:lnSpc>
              <a:buNone/>
            </a:pPr>
            <a:r>
              <a:rPr lang="en-US" sz="2100" dirty="0">
                <a:solidFill>
                  <a:srgbClr val="000000"/>
                </a:solidFill>
                <a:latin typeface="Libre Baskerville" pitchFamily="34" charset="0"/>
                <a:ea typeface="Libre Baskerville" pitchFamily="34" charset="-122"/>
                <a:cs typeface="Libre Baskerville" pitchFamily="34" charset="-120"/>
              </a:rPr>
              <a:t>Take 12 intake forms, generate 12 branded proposals</a:t>
            </a:r>
            <a:endParaRPr lang="en-US" sz="2100" dirty="0"/>
          </a:p>
          <a:p>
            <a:pPr marL="0" indent="0" algn="l">
              <a:lnSpc>
                <a:spcPct val="150000"/>
              </a:lnSpc>
              <a:buNone/>
            </a:pPr>
            <a:r>
              <a:rPr lang="en-US" sz="2100" dirty="0">
                <a:solidFill>
                  <a:srgbClr val="000000"/>
                </a:solidFill>
                <a:latin typeface="Libre Baskerville" pitchFamily="34" charset="0"/>
                <a:ea typeface="Libre Baskerville" pitchFamily="34" charset="-122"/>
                <a:cs typeface="Libre Baskerville" pitchFamily="34" charset="-120"/>
              </a:rPr>
              <a:t>Bulk-rename trip files to the Millennium convention</a:t>
            </a:r>
            <a:endParaRPr lang="en-US" sz="2100" dirty="0"/>
          </a:p>
        </p:txBody>
      </p:sp>
      <p:sp>
        <p:nvSpPr>
          <p:cNvPr id="7" name="Shape 5"/>
          <p:cNvSpPr/>
          <p:nvPr/>
        </p:nvSpPr>
        <p:spPr>
          <a:xfrm>
            <a:off x="8963025" y="2316435"/>
            <a:ext cx="8181975" cy="7018065"/>
          </a:xfrm>
          <a:prstGeom prst="rect">
            <a:avLst/>
          </a:prstGeom>
          <a:solidFill>
            <a:srgbClr val="EDFAF9"/>
          </a:solidFill>
          <a:ln w="9525">
            <a:solidFill>
              <a:srgbClr val="111111"/>
            </a:solidFill>
            <a:prstDash val="solid"/>
          </a:ln>
        </p:spPr>
        <p:txBody>
          <a:bodyPr/>
          <a:lstStyle/>
          <a:p>
            <a:endParaRPr lang="en-US"/>
          </a:p>
        </p:txBody>
      </p:sp>
      <p:sp>
        <p:nvSpPr>
          <p:cNvPr id="8" name="Text 6"/>
          <p:cNvSpPr/>
          <p:nvPr/>
        </p:nvSpPr>
        <p:spPr>
          <a:xfrm>
            <a:off x="9429750" y="3021285"/>
            <a:ext cx="7465981"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GROUND RULES</a:t>
            </a:r>
            <a:endParaRPr lang="en-US" sz="1875" dirty="0"/>
          </a:p>
        </p:txBody>
      </p:sp>
      <p:sp>
        <p:nvSpPr>
          <p:cNvPr id="9" name="Text 7"/>
          <p:cNvSpPr/>
          <p:nvPr/>
        </p:nvSpPr>
        <p:spPr>
          <a:xfrm>
            <a:off x="9429750" y="3797573"/>
            <a:ext cx="7465981"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Three things to know.</a:t>
            </a:r>
            <a:endParaRPr lang="en-US" sz="3300" dirty="0"/>
          </a:p>
        </p:txBody>
      </p:sp>
      <p:sp>
        <p:nvSpPr>
          <p:cNvPr id="10" name="Shape 8"/>
          <p:cNvSpPr/>
          <p:nvPr/>
        </p:nvSpPr>
        <p:spPr>
          <a:xfrm>
            <a:off x="9429750" y="5685383"/>
            <a:ext cx="7248525" cy="9525"/>
          </a:xfrm>
          <a:prstGeom prst="rect">
            <a:avLst/>
          </a:prstGeom>
          <a:solidFill>
            <a:srgbClr val="111111"/>
          </a:solidFill>
          <a:ln/>
        </p:spPr>
        <p:txBody>
          <a:bodyPr/>
          <a:lstStyle/>
          <a:p>
            <a:endParaRPr lang="en-US"/>
          </a:p>
        </p:txBody>
      </p:sp>
      <p:sp>
        <p:nvSpPr>
          <p:cNvPr id="11" name="Text 9"/>
          <p:cNvSpPr/>
          <p:nvPr/>
        </p:nvSpPr>
        <p:spPr>
          <a:xfrm>
            <a:off x="9429750" y="4713833"/>
            <a:ext cx="7465981"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029E90"/>
                </a:solidFill>
                <a:latin typeface="Libre Baskerville" pitchFamily="34" charset="0"/>
                <a:ea typeface="Libre Baskerville" pitchFamily="34" charset="-122"/>
                <a:cs typeface="Libre Baskerville" pitchFamily="34" charset="-120"/>
              </a:rPr>
              <a:t>Desktop app required. </a:t>
            </a:r>
            <a:r>
              <a:rPr lang="en-US" sz="2100" dirty="0">
                <a:solidFill>
                  <a:srgbClr val="000000"/>
                </a:solidFill>
                <a:latin typeface="Libre Baskerville" pitchFamily="34" charset="0"/>
                <a:ea typeface="Libre Baskerville" pitchFamily="34" charset="-122"/>
                <a:cs typeface="Libre Baskerville" pitchFamily="34" charset="-120"/>
              </a:rPr>
              <a:t>Cowork only works in the Mac / Windows Claude app, not the browser.</a:t>
            </a:r>
            <a:endParaRPr lang="en-US" sz="2100" dirty="0"/>
          </a:p>
        </p:txBody>
      </p:sp>
      <p:sp>
        <p:nvSpPr>
          <p:cNvPr id="12" name="Shape 10"/>
          <p:cNvSpPr/>
          <p:nvPr/>
        </p:nvSpPr>
        <p:spPr>
          <a:xfrm>
            <a:off x="9429750" y="6837908"/>
            <a:ext cx="7248525" cy="9525"/>
          </a:xfrm>
          <a:prstGeom prst="rect">
            <a:avLst/>
          </a:prstGeom>
          <a:solidFill>
            <a:srgbClr val="111111"/>
          </a:solidFill>
          <a:ln/>
        </p:spPr>
        <p:txBody>
          <a:bodyPr/>
          <a:lstStyle/>
          <a:p>
            <a:endParaRPr lang="en-US"/>
          </a:p>
        </p:txBody>
      </p:sp>
      <p:sp>
        <p:nvSpPr>
          <p:cNvPr id="13" name="Text 11"/>
          <p:cNvSpPr/>
          <p:nvPr/>
        </p:nvSpPr>
        <p:spPr>
          <a:xfrm>
            <a:off x="9429750" y="5866358"/>
            <a:ext cx="7465981"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029E90"/>
                </a:solidFill>
                <a:latin typeface="Libre Baskerville" pitchFamily="34" charset="0"/>
                <a:ea typeface="Libre Baskerville" pitchFamily="34" charset="-122"/>
                <a:cs typeface="Libre Baskerville" pitchFamily="34" charset="-120"/>
              </a:rPr>
              <a:t>It asks permission. </a:t>
            </a:r>
            <a:r>
              <a:rPr lang="en-US" sz="2100" dirty="0">
                <a:solidFill>
                  <a:srgbClr val="000000"/>
                </a:solidFill>
                <a:latin typeface="Libre Baskerville" pitchFamily="34" charset="0"/>
                <a:ea typeface="Libre Baskerville" pitchFamily="34" charset="-122"/>
                <a:cs typeface="Libre Baskerville" pitchFamily="34" charset="-120"/>
              </a:rPr>
              <a:t>Before writing or overwriting anything, Claude confirms with you.</a:t>
            </a:r>
            <a:endParaRPr lang="en-US" sz="2100" dirty="0"/>
          </a:p>
        </p:txBody>
      </p:sp>
      <p:sp>
        <p:nvSpPr>
          <p:cNvPr id="14" name="Text 12"/>
          <p:cNvSpPr/>
          <p:nvPr/>
        </p:nvSpPr>
        <p:spPr>
          <a:xfrm>
            <a:off x="9429750" y="7018883"/>
            <a:ext cx="7465981"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029E90"/>
                </a:solidFill>
                <a:latin typeface="Libre Baskerville" pitchFamily="34" charset="0"/>
                <a:ea typeface="Libre Baskerville" pitchFamily="34" charset="-122"/>
                <a:cs typeface="Libre Baskerville" pitchFamily="34" charset="-120"/>
              </a:rPr>
              <a:t>Start small. </a:t>
            </a:r>
            <a:r>
              <a:rPr lang="en-US" sz="2100" dirty="0">
                <a:solidFill>
                  <a:srgbClr val="000000"/>
                </a:solidFill>
                <a:latin typeface="Libre Baskerville" pitchFamily="34" charset="0"/>
                <a:ea typeface="Libre Baskerville" pitchFamily="34" charset="-122"/>
                <a:cs typeface="Libre Baskerville" pitchFamily="34" charset="-120"/>
              </a:rPr>
              <a:t>Point it at one folder, one task. Not your whole drive.</a:t>
            </a:r>
            <a:endParaRPr lang="en-US" sz="2100" dirty="0"/>
          </a:p>
        </p:txBody>
      </p:sp>
      <p:sp>
        <p:nvSpPr>
          <p:cNvPr id="15" name="Text 13"/>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DCB4342A-D10E-594E-AE97-A711F6D66133}"/>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17 / 23</a:t>
            </a:r>
          </a:p>
        </p:txBody>
      </p:sp>
    </p:spTree>
    <p:extLst>
      <p:ext uri="{BB962C8B-B14F-4D97-AF65-F5344CB8AC3E}">
        <p14:creationId xmlns:p14="http://schemas.microsoft.com/office/powerpoint/2010/main" val="3089918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Slide 13">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 Project is a </a:t>
            </a:r>
            <a:r>
              <a:rPr lang="en-US" sz="4800" b="1" i="1" kern="0" spc="-112" dirty="0">
                <a:solidFill>
                  <a:srgbClr val="04CCBA"/>
                </a:solidFill>
                <a:latin typeface="Playfair Display" pitchFamily="34" charset="0"/>
                <a:ea typeface="Playfair Display" pitchFamily="34" charset="-122"/>
                <a:cs typeface="Playfair Display" pitchFamily="34" charset="-120"/>
              </a:rPr>
              <a:t>folder with a brain.</a:t>
            </a:r>
            <a:endParaRPr lang="en-US" sz="4800" dirty="0"/>
          </a:p>
        </p:txBody>
      </p:sp>
      <p:sp>
        <p:nvSpPr>
          <p:cNvPr id="4" name="Text 2"/>
          <p:cNvSpPr/>
          <p:nvPr/>
        </p:nvSpPr>
        <p:spPr>
          <a:xfrm>
            <a:off x="1143000" y="2087835"/>
            <a:ext cx="13735050" cy="160972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3300" i="1" dirty="0">
                <a:solidFill>
                  <a:srgbClr val="000000"/>
                </a:solidFill>
                <a:latin typeface="Libre Baskerville" pitchFamily="34" charset="0"/>
                <a:ea typeface="Libre Baskerville" pitchFamily="34" charset="-122"/>
                <a:cs typeface="Libre Baskerville" pitchFamily="34" charset="-120"/>
              </a:rPr>
              <a:t>A workspace where Claude remembers everything about one area of your job: files, instructions, and shared context across every chat inside it.</a:t>
            </a:r>
            <a:endParaRPr lang="en-US" sz="3300" dirty="0"/>
          </a:p>
        </p:txBody>
      </p:sp>
      <p:sp>
        <p:nvSpPr>
          <p:cNvPr id="5" name="Shape 3"/>
          <p:cNvSpPr/>
          <p:nvPr/>
        </p:nvSpPr>
        <p:spPr>
          <a:xfrm>
            <a:off x="1143000" y="4497660"/>
            <a:ext cx="16002000" cy="3594869"/>
          </a:xfrm>
          <a:prstGeom prst="rect">
            <a:avLst/>
          </a:prstGeom>
          <a:solidFill>
            <a:srgbClr val="111111"/>
          </a:solidFill>
          <a:ln w="9525">
            <a:solidFill>
              <a:srgbClr val="111111"/>
            </a:solidFill>
            <a:prstDash val="solid"/>
          </a:ln>
        </p:spPr>
        <p:txBody>
          <a:bodyPr/>
          <a:lstStyle/>
          <a:p>
            <a:endParaRPr lang="en-US"/>
          </a:p>
        </p:txBody>
      </p:sp>
      <p:sp>
        <p:nvSpPr>
          <p:cNvPr id="6" name="Shape 4"/>
          <p:cNvSpPr/>
          <p:nvPr/>
        </p:nvSpPr>
        <p:spPr>
          <a:xfrm>
            <a:off x="1152525" y="4507185"/>
            <a:ext cx="5321275" cy="3575819"/>
          </a:xfrm>
          <a:prstGeom prst="rect">
            <a:avLst/>
          </a:prstGeom>
          <a:solidFill>
            <a:srgbClr val="FFFFFF"/>
          </a:solidFill>
          <a:ln/>
        </p:spPr>
        <p:txBody>
          <a:bodyPr/>
          <a:lstStyle/>
          <a:p>
            <a:endParaRPr lang="en-US"/>
          </a:p>
        </p:txBody>
      </p:sp>
      <p:sp>
        <p:nvSpPr>
          <p:cNvPr id="7" name="Text 5"/>
          <p:cNvSpPr/>
          <p:nvPr/>
        </p:nvSpPr>
        <p:spPr>
          <a:xfrm>
            <a:off x="1533525" y="488818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HOLDS FILES</a:t>
            </a:r>
            <a:endParaRPr lang="en-US" sz="1875" dirty="0"/>
          </a:p>
        </p:txBody>
      </p:sp>
      <p:sp>
        <p:nvSpPr>
          <p:cNvPr id="8" name="Text 6"/>
          <p:cNvSpPr/>
          <p:nvPr/>
        </p:nvSpPr>
        <p:spPr>
          <a:xfrm>
            <a:off x="1533525" y="5426348"/>
            <a:ext cx="4696053" cy="91812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Reference docs stay loaded.</a:t>
            </a:r>
            <a:endParaRPr lang="en-US" sz="3300" dirty="0"/>
          </a:p>
        </p:txBody>
      </p:sp>
      <p:sp>
        <p:nvSpPr>
          <p:cNvPr id="9" name="Text 7"/>
          <p:cNvSpPr/>
          <p:nvPr/>
        </p:nvSpPr>
        <p:spPr>
          <a:xfrm>
            <a:off x="1533525" y="6496869"/>
            <a:ext cx="4696053" cy="15240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Vendor lists, templates, contact sheets, and contracts live inside the project. Always available, never re-uploaded.</a:t>
            </a:r>
            <a:endParaRPr lang="en-US" sz="1950" dirty="0"/>
          </a:p>
        </p:txBody>
      </p:sp>
      <p:sp>
        <p:nvSpPr>
          <p:cNvPr id="10" name="Shape 8"/>
          <p:cNvSpPr/>
          <p:nvPr/>
        </p:nvSpPr>
        <p:spPr>
          <a:xfrm>
            <a:off x="6483325" y="4507185"/>
            <a:ext cx="5321275" cy="3575819"/>
          </a:xfrm>
          <a:prstGeom prst="rect">
            <a:avLst/>
          </a:prstGeom>
          <a:solidFill>
            <a:srgbClr val="FFFFFF"/>
          </a:solidFill>
          <a:ln/>
        </p:spPr>
        <p:txBody>
          <a:bodyPr/>
          <a:lstStyle/>
          <a:p>
            <a:endParaRPr lang="en-US"/>
          </a:p>
        </p:txBody>
      </p:sp>
      <p:sp>
        <p:nvSpPr>
          <p:cNvPr id="11" name="Text 9"/>
          <p:cNvSpPr/>
          <p:nvPr/>
        </p:nvSpPr>
        <p:spPr>
          <a:xfrm>
            <a:off x="6864325" y="488818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CUSTOM INSTRUCTIONS</a:t>
            </a:r>
            <a:endParaRPr lang="en-US" sz="1875" dirty="0"/>
          </a:p>
        </p:txBody>
      </p:sp>
      <p:sp>
        <p:nvSpPr>
          <p:cNvPr id="12" name="Text 10"/>
          <p:cNvSpPr/>
          <p:nvPr/>
        </p:nvSpPr>
        <p:spPr>
          <a:xfrm>
            <a:off x="6864325" y="5426348"/>
            <a:ext cx="4696053"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Rules for this work.</a:t>
            </a:r>
            <a:endParaRPr lang="en-US" sz="3300" dirty="0"/>
          </a:p>
        </p:txBody>
      </p:sp>
      <p:sp>
        <p:nvSpPr>
          <p:cNvPr id="13" name="Text 11"/>
          <p:cNvSpPr/>
          <p:nvPr/>
        </p:nvSpPr>
        <p:spPr>
          <a:xfrm>
            <a:off x="6864325" y="6056858"/>
            <a:ext cx="4696053" cy="15240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"Always use our preferred Jordan vendors." "Voice is warm but precise." Claude follows them in every chat inside the project.</a:t>
            </a:r>
            <a:endParaRPr lang="en-US" sz="1950" dirty="0"/>
          </a:p>
        </p:txBody>
      </p:sp>
      <p:sp>
        <p:nvSpPr>
          <p:cNvPr id="14" name="Shape 12"/>
          <p:cNvSpPr/>
          <p:nvPr/>
        </p:nvSpPr>
        <p:spPr>
          <a:xfrm>
            <a:off x="11814125" y="4507185"/>
            <a:ext cx="5321350" cy="3575819"/>
          </a:xfrm>
          <a:prstGeom prst="rect">
            <a:avLst/>
          </a:prstGeom>
          <a:solidFill>
            <a:srgbClr val="FFFFFF"/>
          </a:solidFill>
          <a:ln/>
        </p:spPr>
        <p:txBody>
          <a:bodyPr/>
          <a:lstStyle/>
          <a:p>
            <a:endParaRPr lang="en-US"/>
          </a:p>
        </p:txBody>
      </p:sp>
      <p:sp>
        <p:nvSpPr>
          <p:cNvPr id="15" name="Text 13"/>
          <p:cNvSpPr/>
          <p:nvPr/>
        </p:nvSpPr>
        <p:spPr>
          <a:xfrm>
            <a:off x="12195125" y="4888185"/>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SHARED CONTEXT</a:t>
            </a:r>
            <a:endParaRPr lang="en-US" sz="1875" dirty="0"/>
          </a:p>
        </p:txBody>
      </p:sp>
      <p:sp>
        <p:nvSpPr>
          <p:cNvPr id="16" name="Text 14"/>
          <p:cNvSpPr/>
          <p:nvPr/>
        </p:nvSpPr>
        <p:spPr>
          <a:xfrm>
            <a:off x="12195125" y="5426348"/>
            <a:ext cx="4696130" cy="91812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New chats start informed.</a:t>
            </a:r>
            <a:endParaRPr lang="en-US" sz="3300" dirty="0"/>
          </a:p>
        </p:txBody>
      </p:sp>
      <p:sp>
        <p:nvSpPr>
          <p:cNvPr id="17" name="Text 15"/>
          <p:cNvSpPr/>
          <p:nvPr/>
        </p:nvSpPr>
        <p:spPr>
          <a:xfrm>
            <a:off x="12195125" y="6496869"/>
            <a:ext cx="4696130" cy="15240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Open a fresh conversation in the project — Claude already knows the background. No re-briefing every time.</a:t>
            </a:r>
            <a:endParaRPr lang="en-US" sz="1950" dirty="0"/>
          </a:p>
        </p:txBody>
      </p:sp>
      <p:sp>
        <p:nvSpPr>
          <p:cNvPr id="18" name="Text 16"/>
          <p:cNvSpPr/>
          <p:nvPr/>
        </p:nvSpPr>
        <p:spPr>
          <a:xfrm>
            <a:off x="1143000" y="8397329"/>
            <a:ext cx="16482060" cy="746671"/>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b="1" dirty="0">
                <a:solidFill>
                  <a:srgbClr val="000000">
                    <a:alpha val="70000"/>
                  </a:srgbClr>
                </a:solidFill>
                <a:latin typeface="Libre Baskerville" pitchFamily="34" charset="0"/>
                <a:ea typeface="Libre Baskerville" pitchFamily="34" charset="-122"/>
                <a:cs typeface="Libre Baskerville" pitchFamily="34" charset="-120"/>
              </a:rPr>
              <a:t>At Millennium: </a:t>
            </a:r>
            <a:r>
              <a:rPr lang="en-US" sz="1800" dirty="0">
                <a:solidFill>
                  <a:srgbClr val="000000">
                    <a:alpha val="70000"/>
                  </a:srgbClr>
                </a:solidFill>
                <a:latin typeface="Libre Baskerville" pitchFamily="34" charset="0"/>
                <a:ea typeface="Libre Baskerville" pitchFamily="34" charset="-122"/>
                <a:cs typeface="Libre Baskerville" pitchFamily="34" charset="-120"/>
              </a:rPr>
              <a:t>create a "University Programs" project with the contact list, itinerary templates, and "use preferred vendors in Jordan" as instructions. Anyone opening a new chat in it already has the full picture.</a:t>
            </a:r>
            <a:endParaRPr lang="en-US" sz="1800" dirty="0"/>
          </a:p>
        </p:txBody>
      </p:sp>
      <p:sp>
        <p:nvSpPr>
          <p:cNvPr id="19" name="Text 1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1991013A-0FA5-9C45-B5DD-D5B83AFD781C}"/>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18 / 23</a:t>
            </a:r>
          </a:p>
        </p:txBody>
      </p:sp>
    </p:spTree>
    <p:extLst>
      <p:ext uri="{BB962C8B-B14F-4D97-AF65-F5344CB8AC3E}">
        <p14:creationId xmlns:p14="http://schemas.microsoft.com/office/powerpoint/2010/main" val="86801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name="Slide 14">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A Skill is a </a:t>
            </a:r>
            <a:r>
              <a:rPr lang="en-US" sz="4800" b="1" i="1" kern="0" spc="-112" dirty="0">
                <a:solidFill>
                  <a:srgbClr val="04CCBA"/>
                </a:solidFill>
                <a:latin typeface="Playfair Display" pitchFamily="34" charset="0"/>
                <a:ea typeface="Playfair Display" pitchFamily="34" charset="-122"/>
                <a:cs typeface="Playfair Display" pitchFamily="34" charset="-120"/>
              </a:rPr>
              <a:t>recipe card.</a:t>
            </a:r>
            <a:endParaRPr lang="en-US" sz="4800" dirty="0"/>
          </a:p>
        </p:txBody>
      </p:sp>
      <p:sp>
        <p:nvSpPr>
          <p:cNvPr id="4" name="Text 2"/>
          <p:cNvSpPr/>
          <p:nvPr/>
        </p:nvSpPr>
        <p:spPr>
          <a:xfrm>
            <a:off x="1143000" y="2087835"/>
            <a:ext cx="13735050" cy="160972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000000"/>
                </a:solidFill>
                <a:latin typeface="Libre Baskerville" pitchFamily="34" charset="0"/>
                <a:ea typeface="Libre Baskerville" pitchFamily="34" charset="-122"/>
                <a:cs typeface="Libre Baskerville" pitchFamily="34" charset="-120"/>
              </a:rPr>
              <a:t>A reusable instruction that produces the same kind of output, every time — invoice, follow-up email, manifest — regardless of which project you trigger it from.</a:t>
            </a:r>
            <a:endParaRPr lang="en-US" sz="3300" dirty="0"/>
          </a:p>
        </p:txBody>
      </p:sp>
      <p:sp>
        <p:nvSpPr>
          <p:cNvPr id="5" name="Shape 3"/>
          <p:cNvSpPr/>
          <p:nvPr/>
        </p:nvSpPr>
        <p:spPr>
          <a:xfrm>
            <a:off x="1143000" y="4497660"/>
            <a:ext cx="16002000" cy="3594869"/>
          </a:xfrm>
          <a:prstGeom prst="rect">
            <a:avLst/>
          </a:prstGeom>
          <a:solidFill>
            <a:srgbClr val="111111"/>
          </a:solidFill>
          <a:ln w="9525">
            <a:solidFill>
              <a:srgbClr val="111111"/>
            </a:solidFill>
            <a:prstDash val="solid"/>
          </a:ln>
        </p:spPr>
        <p:txBody>
          <a:bodyPr/>
          <a:lstStyle/>
          <a:p>
            <a:endParaRPr lang="en-US"/>
          </a:p>
        </p:txBody>
      </p:sp>
      <p:sp>
        <p:nvSpPr>
          <p:cNvPr id="6" name="Shape 4"/>
          <p:cNvSpPr/>
          <p:nvPr/>
        </p:nvSpPr>
        <p:spPr>
          <a:xfrm>
            <a:off x="1152525" y="4507185"/>
            <a:ext cx="5321275" cy="3575819"/>
          </a:xfrm>
          <a:prstGeom prst="rect">
            <a:avLst/>
          </a:prstGeom>
          <a:solidFill>
            <a:srgbClr val="FFFFFF"/>
          </a:solidFill>
          <a:ln/>
        </p:spPr>
        <p:txBody>
          <a:bodyPr/>
          <a:lstStyle/>
          <a:p>
            <a:endParaRPr lang="en-US"/>
          </a:p>
        </p:txBody>
      </p:sp>
      <p:sp>
        <p:nvSpPr>
          <p:cNvPr id="7" name="Text 5"/>
          <p:cNvSpPr/>
          <p:nvPr/>
        </p:nvSpPr>
        <p:spPr>
          <a:xfrm>
            <a:off x="1533525" y="488818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REPEATABLE</a:t>
            </a:r>
            <a:endParaRPr lang="en-US" sz="1875" dirty="0"/>
          </a:p>
        </p:txBody>
      </p:sp>
      <p:sp>
        <p:nvSpPr>
          <p:cNvPr id="8" name="Text 6"/>
          <p:cNvSpPr/>
          <p:nvPr/>
        </p:nvSpPr>
        <p:spPr>
          <a:xfrm>
            <a:off x="1533525" y="5426348"/>
            <a:ext cx="4696053" cy="91812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Same process. Same quality.</a:t>
            </a:r>
            <a:endParaRPr lang="en-US" sz="3300" dirty="0"/>
          </a:p>
        </p:txBody>
      </p:sp>
      <p:sp>
        <p:nvSpPr>
          <p:cNvPr id="9" name="Text 7"/>
          <p:cNvSpPr/>
          <p:nvPr/>
        </p:nvSpPr>
        <p:spPr>
          <a:xfrm>
            <a:off x="1533525" y="6496869"/>
            <a:ext cx="4696053"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A defined recipe means the output looks the same whether it ran on Tuesday or six months from now.</a:t>
            </a:r>
            <a:endParaRPr lang="en-US" sz="1950" dirty="0"/>
          </a:p>
        </p:txBody>
      </p:sp>
      <p:sp>
        <p:nvSpPr>
          <p:cNvPr id="10" name="Shape 8"/>
          <p:cNvSpPr/>
          <p:nvPr/>
        </p:nvSpPr>
        <p:spPr>
          <a:xfrm>
            <a:off x="6483325" y="4507185"/>
            <a:ext cx="5321275" cy="3575819"/>
          </a:xfrm>
          <a:prstGeom prst="rect">
            <a:avLst/>
          </a:prstGeom>
          <a:solidFill>
            <a:srgbClr val="FFFFFF"/>
          </a:solidFill>
          <a:ln/>
        </p:spPr>
        <p:txBody>
          <a:bodyPr/>
          <a:lstStyle/>
          <a:p>
            <a:endParaRPr lang="en-US"/>
          </a:p>
        </p:txBody>
      </p:sp>
      <p:sp>
        <p:nvSpPr>
          <p:cNvPr id="11" name="Text 9"/>
          <p:cNvSpPr/>
          <p:nvPr/>
        </p:nvSpPr>
        <p:spPr>
          <a:xfrm>
            <a:off x="6864325" y="4888185"/>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PORTABLE</a:t>
            </a:r>
            <a:endParaRPr lang="en-US" sz="1875" dirty="0"/>
          </a:p>
        </p:txBody>
      </p:sp>
      <p:sp>
        <p:nvSpPr>
          <p:cNvPr id="12" name="Text 10"/>
          <p:cNvSpPr/>
          <p:nvPr/>
        </p:nvSpPr>
        <p:spPr>
          <a:xfrm>
            <a:off x="6864325" y="5426348"/>
            <a:ext cx="4696053"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Works anywhere.</a:t>
            </a:r>
            <a:endParaRPr lang="en-US" sz="3300" dirty="0"/>
          </a:p>
        </p:txBody>
      </p:sp>
      <p:sp>
        <p:nvSpPr>
          <p:cNvPr id="13" name="Text 11"/>
          <p:cNvSpPr/>
          <p:nvPr/>
        </p:nvSpPr>
        <p:spPr>
          <a:xfrm>
            <a:off x="6864325" y="6056858"/>
            <a:ext cx="4696053"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Inside any project. Outside any project. The skill goes wherever the work is — that's the point.</a:t>
            </a:r>
            <a:endParaRPr lang="en-US" sz="1950" dirty="0"/>
          </a:p>
        </p:txBody>
      </p:sp>
      <p:sp>
        <p:nvSpPr>
          <p:cNvPr id="14" name="Shape 12"/>
          <p:cNvSpPr/>
          <p:nvPr/>
        </p:nvSpPr>
        <p:spPr>
          <a:xfrm>
            <a:off x="11814125" y="4507185"/>
            <a:ext cx="5321350" cy="3575819"/>
          </a:xfrm>
          <a:prstGeom prst="rect">
            <a:avLst/>
          </a:prstGeom>
          <a:solidFill>
            <a:srgbClr val="FFFFFF"/>
          </a:solidFill>
          <a:ln/>
        </p:spPr>
        <p:txBody>
          <a:bodyPr/>
          <a:lstStyle/>
          <a:p>
            <a:endParaRPr lang="en-US"/>
          </a:p>
        </p:txBody>
      </p:sp>
      <p:sp>
        <p:nvSpPr>
          <p:cNvPr id="15" name="Text 13"/>
          <p:cNvSpPr/>
          <p:nvPr/>
        </p:nvSpPr>
        <p:spPr>
          <a:xfrm>
            <a:off x="12195125" y="4888185"/>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TASK-SPECIFIC</a:t>
            </a:r>
            <a:endParaRPr lang="en-US" sz="1875" dirty="0"/>
          </a:p>
        </p:txBody>
      </p:sp>
      <p:sp>
        <p:nvSpPr>
          <p:cNvPr id="16" name="Text 14"/>
          <p:cNvSpPr/>
          <p:nvPr/>
        </p:nvSpPr>
        <p:spPr>
          <a:xfrm>
            <a:off x="12195125" y="5426348"/>
            <a:ext cx="4696130"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Does one thing well.</a:t>
            </a:r>
            <a:endParaRPr lang="en-US" sz="3300" dirty="0"/>
          </a:p>
        </p:txBody>
      </p:sp>
      <p:sp>
        <p:nvSpPr>
          <p:cNvPr id="17" name="Text 15"/>
          <p:cNvSpPr/>
          <p:nvPr/>
        </p:nvSpPr>
        <p:spPr>
          <a:xfrm>
            <a:off x="12195125" y="6056858"/>
            <a:ext cx="4696130"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000000"/>
                </a:solidFill>
                <a:latin typeface="Libre Baskerville" pitchFamily="34" charset="0"/>
                <a:ea typeface="Libre Baskerville" pitchFamily="34" charset="-122"/>
                <a:cs typeface="Libre Baskerville" pitchFamily="34" charset="-120"/>
              </a:rPr>
              <a:t>An invoice. An email. A manifest. A skill is narrow on purpose — that's what makes it dependable.</a:t>
            </a:r>
            <a:endParaRPr lang="en-US" sz="1950" dirty="0"/>
          </a:p>
        </p:txBody>
      </p:sp>
      <p:sp>
        <p:nvSpPr>
          <p:cNvPr id="18" name="Text 16"/>
          <p:cNvSpPr/>
          <p:nvPr/>
        </p:nvSpPr>
        <p:spPr>
          <a:xfrm>
            <a:off x="1143000" y="8397329"/>
            <a:ext cx="16482060" cy="746671"/>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b="1" dirty="0">
                <a:solidFill>
                  <a:srgbClr val="000000">
                    <a:alpha val="70000"/>
                  </a:srgbClr>
                </a:solidFill>
                <a:latin typeface="Libre Baskerville" pitchFamily="34" charset="0"/>
                <a:ea typeface="Libre Baskerville" pitchFamily="34" charset="-122"/>
                <a:cs typeface="Libre Baskerville" pitchFamily="34" charset="-120"/>
              </a:rPr>
              <a:t>At Millennium: </a:t>
            </a:r>
            <a:r>
              <a:rPr lang="en-US" sz="1800" dirty="0">
                <a:solidFill>
                  <a:srgbClr val="000000">
                    <a:alpha val="70000"/>
                  </a:srgbClr>
                </a:solidFill>
                <a:latin typeface="Libre Baskerville" pitchFamily="34" charset="0"/>
                <a:ea typeface="Libre Baskerville" pitchFamily="34" charset="-122"/>
                <a:cs typeface="Libre Baskerville" pitchFamily="34" charset="-120"/>
              </a:rPr>
              <a:t>build an "Invoice Generator" skill that takes a client name, trip details, and line items and returns a formatted Word doc. Trigger it from University Programs, Corporate Travel, or no project at all — same result.</a:t>
            </a:r>
            <a:endParaRPr lang="en-US" sz="1800" dirty="0"/>
          </a:p>
        </p:txBody>
      </p:sp>
      <p:sp>
        <p:nvSpPr>
          <p:cNvPr id="19" name="Text 1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A9AFA218-889B-CA40-A703-E90AC9FC8C4C}"/>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19 / 23</a:t>
            </a:r>
          </a:p>
        </p:txBody>
      </p:sp>
    </p:spTree>
    <p:extLst>
      <p:ext uri="{BB962C8B-B14F-4D97-AF65-F5344CB8AC3E}">
        <p14:creationId xmlns:p14="http://schemas.microsoft.com/office/powerpoint/2010/main" val="610355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name="Slide 15">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Side by side. Two tools, two jobs.</a:t>
            </a:r>
            <a:endParaRPr lang="en-US" sz="4800" dirty="0"/>
          </a:p>
        </p:txBody>
      </p:sp>
      <p:sp>
        <p:nvSpPr>
          <p:cNvPr id="4" name="Shape 2"/>
          <p:cNvSpPr/>
          <p:nvPr/>
        </p:nvSpPr>
        <p:spPr>
          <a:xfrm>
            <a:off x="1143000" y="2640732"/>
            <a:ext cx="4160490" cy="19050"/>
          </a:xfrm>
          <a:prstGeom prst="rect">
            <a:avLst/>
          </a:prstGeom>
          <a:solidFill>
            <a:srgbClr val="111111"/>
          </a:solidFill>
          <a:ln/>
        </p:spPr>
        <p:txBody>
          <a:bodyPr/>
          <a:lstStyle/>
          <a:p>
            <a:endParaRPr lang="en-US"/>
          </a:p>
        </p:txBody>
      </p:sp>
      <p:sp>
        <p:nvSpPr>
          <p:cNvPr id="5" name="Shape 3"/>
          <p:cNvSpPr/>
          <p:nvPr/>
        </p:nvSpPr>
        <p:spPr>
          <a:xfrm>
            <a:off x="5303490" y="2640732"/>
            <a:ext cx="5920680" cy="19050"/>
          </a:xfrm>
          <a:prstGeom prst="rect">
            <a:avLst/>
          </a:prstGeom>
          <a:solidFill>
            <a:srgbClr val="111111"/>
          </a:solidFill>
          <a:ln/>
        </p:spPr>
        <p:txBody>
          <a:bodyPr/>
          <a:lstStyle/>
          <a:p>
            <a:endParaRPr lang="en-US"/>
          </a:p>
        </p:txBody>
      </p:sp>
      <p:sp>
        <p:nvSpPr>
          <p:cNvPr id="6" name="Text 4"/>
          <p:cNvSpPr/>
          <p:nvPr/>
        </p:nvSpPr>
        <p:spPr>
          <a:xfrm>
            <a:off x="5532090" y="2183085"/>
            <a:ext cx="5641101" cy="324296"/>
          </a:xfrm>
          <a:prstGeom prst="rect">
            <a:avLst/>
          </a:prstGeom>
          <a:noFill/>
          <a:ln/>
        </p:spPr>
        <p:txBody>
          <a:bodyPr wrap="square" lIns="25400" tIns="25400" rIns="25400" bIns="25400" rtlCol="0" anchor="t">
            <a:noAutofit/>
          </a:bodyPr>
          <a:lstStyle/>
          <a:p>
            <a:pPr marL="0" indent="0" algn="l">
              <a:lnSpc>
                <a:spcPct val="135000"/>
              </a:lnSpc>
              <a:buNone/>
            </a:pPr>
            <a:r>
              <a:rPr lang="en-US" sz="2000" b="1" kern="0" spc="150" dirty="0">
                <a:solidFill>
                  <a:srgbClr val="029E90"/>
                </a:solidFill>
                <a:latin typeface="IBM Plex Mono" pitchFamily="34" charset="0"/>
                <a:ea typeface="IBM Plex Mono" pitchFamily="34" charset="-122"/>
                <a:cs typeface="IBM Plex Mono" pitchFamily="34" charset="-120"/>
              </a:rPr>
              <a:t>PROJECT</a:t>
            </a:r>
            <a:endParaRPr lang="en-US" sz="2000" dirty="0"/>
          </a:p>
        </p:txBody>
      </p:sp>
      <p:sp>
        <p:nvSpPr>
          <p:cNvPr id="7" name="Shape 5"/>
          <p:cNvSpPr/>
          <p:nvPr/>
        </p:nvSpPr>
        <p:spPr>
          <a:xfrm>
            <a:off x="11224171" y="2640732"/>
            <a:ext cx="5920829" cy="19050"/>
          </a:xfrm>
          <a:prstGeom prst="rect">
            <a:avLst/>
          </a:prstGeom>
          <a:solidFill>
            <a:srgbClr val="111111"/>
          </a:solidFill>
          <a:ln/>
        </p:spPr>
        <p:txBody>
          <a:bodyPr/>
          <a:lstStyle/>
          <a:p>
            <a:endParaRPr lang="en-US"/>
          </a:p>
        </p:txBody>
      </p:sp>
      <p:sp>
        <p:nvSpPr>
          <p:cNvPr id="8" name="Text 6"/>
          <p:cNvSpPr/>
          <p:nvPr/>
        </p:nvSpPr>
        <p:spPr>
          <a:xfrm>
            <a:off x="11452771" y="2183085"/>
            <a:ext cx="5641254" cy="324296"/>
          </a:xfrm>
          <a:prstGeom prst="rect">
            <a:avLst/>
          </a:prstGeom>
          <a:noFill/>
          <a:ln/>
        </p:spPr>
        <p:txBody>
          <a:bodyPr wrap="square" lIns="25400" tIns="25400" rIns="25400" bIns="25400" rtlCol="0" anchor="t">
            <a:noAutofit/>
          </a:bodyPr>
          <a:lstStyle/>
          <a:p>
            <a:pPr marL="0" indent="0" algn="l">
              <a:lnSpc>
                <a:spcPct val="135000"/>
              </a:lnSpc>
              <a:buNone/>
            </a:pPr>
            <a:r>
              <a:rPr lang="en-US" sz="2000" b="1" kern="0" spc="150" dirty="0">
                <a:solidFill>
                  <a:srgbClr val="029E90"/>
                </a:solidFill>
                <a:latin typeface="IBM Plex Mono" pitchFamily="34" charset="0"/>
                <a:ea typeface="IBM Plex Mono" pitchFamily="34" charset="-122"/>
                <a:cs typeface="IBM Plex Mono" pitchFamily="34" charset="-120"/>
              </a:rPr>
              <a:t>SKILL</a:t>
            </a:r>
            <a:endParaRPr lang="en-US" sz="2000" dirty="0"/>
          </a:p>
        </p:txBody>
      </p:sp>
      <p:sp>
        <p:nvSpPr>
          <p:cNvPr id="9" name="Shape 7"/>
          <p:cNvSpPr/>
          <p:nvPr/>
        </p:nvSpPr>
        <p:spPr>
          <a:xfrm>
            <a:off x="1143000" y="3455119"/>
            <a:ext cx="4160490" cy="9525"/>
          </a:xfrm>
          <a:prstGeom prst="rect">
            <a:avLst/>
          </a:prstGeom>
          <a:solidFill>
            <a:srgbClr val="111111"/>
          </a:solidFill>
          <a:ln/>
        </p:spPr>
        <p:txBody>
          <a:bodyPr/>
          <a:lstStyle/>
          <a:p>
            <a:endParaRPr lang="en-US"/>
          </a:p>
        </p:txBody>
      </p:sp>
      <p:sp>
        <p:nvSpPr>
          <p:cNvPr id="10" name="Text 8"/>
          <p:cNvSpPr/>
          <p:nvPr/>
        </p:nvSpPr>
        <p:spPr>
          <a:xfrm>
            <a:off x="1371600" y="2964582"/>
            <a:ext cx="3828105" cy="3571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Think of it as</a:t>
            </a:r>
            <a:endParaRPr lang="en-US" sz="2250" dirty="0"/>
          </a:p>
        </p:txBody>
      </p:sp>
      <p:sp>
        <p:nvSpPr>
          <p:cNvPr id="11" name="Shape 9"/>
          <p:cNvSpPr/>
          <p:nvPr/>
        </p:nvSpPr>
        <p:spPr>
          <a:xfrm>
            <a:off x="5303490" y="3455119"/>
            <a:ext cx="5920680" cy="9525"/>
          </a:xfrm>
          <a:prstGeom prst="rect">
            <a:avLst/>
          </a:prstGeom>
          <a:solidFill>
            <a:srgbClr val="111111"/>
          </a:solidFill>
          <a:ln/>
        </p:spPr>
        <p:txBody>
          <a:bodyPr/>
          <a:lstStyle/>
          <a:p>
            <a:endParaRPr lang="en-US"/>
          </a:p>
        </p:txBody>
      </p:sp>
      <p:sp>
        <p:nvSpPr>
          <p:cNvPr id="12" name="Text 10"/>
          <p:cNvSpPr/>
          <p:nvPr/>
        </p:nvSpPr>
        <p:spPr>
          <a:xfrm>
            <a:off x="5532090" y="2831232"/>
            <a:ext cx="5641101" cy="4905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A folder with a brain</a:t>
            </a:r>
            <a:endParaRPr lang="en-US" sz="1875" dirty="0"/>
          </a:p>
        </p:txBody>
      </p:sp>
      <p:sp>
        <p:nvSpPr>
          <p:cNvPr id="13" name="Shape 11"/>
          <p:cNvSpPr/>
          <p:nvPr/>
        </p:nvSpPr>
        <p:spPr>
          <a:xfrm>
            <a:off x="11224171" y="3455119"/>
            <a:ext cx="5920829" cy="9525"/>
          </a:xfrm>
          <a:prstGeom prst="rect">
            <a:avLst/>
          </a:prstGeom>
          <a:solidFill>
            <a:srgbClr val="111111"/>
          </a:solidFill>
          <a:ln/>
        </p:spPr>
        <p:txBody>
          <a:bodyPr/>
          <a:lstStyle/>
          <a:p>
            <a:endParaRPr lang="en-US"/>
          </a:p>
        </p:txBody>
      </p:sp>
      <p:sp>
        <p:nvSpPr>
          <p:cNvPr id="14" name="Text 12"/>
          <p:cNvSpPr/>
          <p:nvPr/>
        </p:nvSpPr>
        <p:spPr>
          <a:xfrm>
            <a:off x="11452771" y="2831232"/>
            <a:ext cx="5641254" cy="4905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A recipe card</a:t>
            </a:r>
            <a:endParaRPr lang="en-US" sz="1875" dirty="0"/>
          </a:p>
        </p:txBody>
      </p:sp>
      <p:sp>
        <p:nvSpPr>
          <p:cNvPr id="15" name="Shape 13"/>
          <p:cNvSpPr/>
          <p:nvPr/>
        </p:nvSpPr>
        <p:spPr>
          <a:xfrm>
            <a:off x="1143000" y="4255219"/>
            <a:ext cx="4160490" cy="9525"/>
          </a:xfrm>
          <a:prstGeom prst="rect">
            <a:avLst/>
          </a:prstGeom>
          <a:solidFill>
            <a:srgbClr val="111111"/>
          </a:solidFill>
          <a:ln/>
        </p:spPr>
        <p:txBody>
          <a:bodyPr/>
          <a:lstStyle/>
          <a:p>
            <a:endParaRPr lang="en-US"/>
          </a:p>
        </p:txBody>
      </p:sp>
      <p:sp>
        <p:nvSpPr>
          <p:cNvPr id="16" name="Text 14"/>
          <p:cNvSpPr/>
          <p:nvPr/>
        </p:nvSpPr>
        <p:spPr>
          <a:xfrm>
            <a:off x="1371600" y="3769444"/>
            <a:ext cx="382810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Purpose</a:t>
            </a:r>
            <a:endParaRPr lang="en-US" sz="2250" dirty="0"/>
          </a:p>
        </p:txBody>
      </p:sp>
      <p:sp>
        <p:nvSpPr>
          <p:cNvPr id="17" name="Shape 15"/>
          <p:cNvSpPr/>
          <p:nvPr/>
        </p:nvSpPr>
        <p:spPr>
          <a:xfrm>
            <a:off x="5303490" y="4255219"/>
            <a:ext cx="5920680" cy="9525"/>
          </a:xfrm>
          <a:prstGeom prst="rect">
            <a:avLst/>
          </a:prstGeom>
          <a:solidFill>
            <a:srgbClr val="111111"/>
          </a:solidFill>
          <a:ln/>
        </p:spPr>
        <p:txBody>
          <a:bodyPr/>
          <a:lstStyle/>
          <a:p>
            <a:endParaRPr lang="en-US"/>
          </a:p>
        </p:txBody>
      </p:sp>
      <p:sp>
        <p:nvSpPr>
          <p:cNvPr id="18" name="Text 16"/>
          <p:cNvSpPr/>
          <p:nvPr/>
        </p:nvSpPr>
        <p:spPr>
          <a:xfrm>
            <a:off x="5532090" y="3636094"/>
            <a:ext cx="5641101"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Memory across one area of work</a:t>
            </a:r>
            <a:endParaRPr lang="en-US" sz="1875" dirty="0"/>
          </a:p>
        </p:txBody>
      </p:sp>
      <p:sp>
        <p:nvSpPr>
          <p:cNvPr id="19" name="Shape 17"/>
          <p:cNvSpPr/>
          <p:nvPr/>
        </p:nvSpPr>
        <p:spPr>
          <a:xfrm>
            <a:off x="11224171" y="4255219"/>
            <a:ext cx="5920829" cy="9525"/>
          </a:xfrm>
          <a:prstGeom prst="rect">
            <a:avLst/>
          </a:prstGeom>
          <a:solidFill>
            <a:srgbClr val="111111"/>
          </a:solidFill>
          <a:ln/>
        </p:spPr>
        <p:txBody>
          <a:bodyPr/>
          <a:lstStyle/>
          <a:p>
            <a:endParaRPr lang="en-US"/>
          </a:p>
        </p:txBody>
      </p:sp>
      <p:sp>
        <p:nvSpPr>
          <p:cNvPr id="20" name="Text 18"/>
          <p:cNvSpPr/>
          <p:nvPr/>
        </p:nvSpPr>
        <p:spPr>
          <a:xfrm>
            <a:off x="11452771" y="3636094"/>
            <a:ext cx="5641254"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Instructions for one repeatable task</a:t>
            </a:r>
            <a:endParaRPr lang="en-US" sz="1875" dirty="0"/>
          </a:p>
        </p:txBody>
      </p:sp>
      <p:sp>
        <p:nvSpPr>
          <p:cNvPr id="21" name="Shape 19"/>
          <p:cNvSpPr/>
          <p:nvPr/>
        </p:nvSpPr>
        <p:spPr>
          <a:xfrm>
            <a:off x="1143000" y="5055319"/>
            <a:ext cx="4160490" cy="9525"/>
          </a:xfrm>
          <a:prstGeom prst="rect">
            <a:avLst/>
          </a:prstGeom>
          <a:solidFill>
            <a:srgbClr val="111111"/>
          </a:solidFill>
          <a:ln/>
        </p:spPr>
        <p:txBody>
          <a:bodyPr/>
          <a:lstStyle/>
          <a:p>
            <a:endParaRPr lang="en-US"/>
          </a:p>
        </p:txBody>
      </p:sp>
      <p:sp>
        <p:nvSpPr>
          <p:cNvPr id="22" name="Text 20"/>
          <p:cNvSpPr/>
          <p:nvPr/>
        </p:nvSpPr>
        <p:spPr>
          <a:xfrm>
            <a:off x="1371600" y="4569544"/>
            <a:ext cx="382810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Scope</a:t>
            </a:r>
            <a:endParaRPr lang="en-US" sz="2250" dirty="0"/>
          </a:p>
        </p:txBody>
      </p:sp>
      <p:sp>
        <p:nvSpPr>
          <p:cNvPr id="23" name="Shape 21"/>
          <p:cNvSpPr/>
          <p:nvPr/>
        </p:nvSpPr>
        <p:spPr>
          <a:xfrm>
            <a:off x="5303490" y="5055319"/>
            <a:ext cx="5920680" cy="9525"/>
          </a:xfrm>
          <a:prstGeom prst="rect">
            <a:avLst/>
          </a:prstGeom>
          <a:solidFill>
            <a:srgbClr val="111111"/>
          </a:solidFill>
          <a:ln/>
        </p:spPr>
        <p:txBody>
          <a:bodyPr/>
          <a:lstStyle/>
          <a:p>
            <a:endParaRPr lang="en-US"/>
          </a:p>
        </p:txBody>
      </p:sp>
      <p:sp>
        <p:nvSpPr>
          <p:cNvPr id="24" name="Text 22"/>
          <p:cNvSpPr/>
          <p:nvPr/>
        </p:nvSpPr>
        <p:spPr>
          <a:xfrm>
            <a:off x="5532090" y="4436194"/>
            <a:ext cx="5641101"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Broad — an entire function or department</a:t>
            </a:r>
            <a:endParaRPr lang="en-US" sz="1875" dirty="0"/>
          </a:p>
        </p:txBody>
      </p:sp>
      <p:sp>
        <p:nvSpPr>
          <p:cNvPr id="25" name="Shape 23"/>
          <p:cNvSpPr/>
          <p:nvPr/>
        </p:nvSpPr>
        <p:spPr>
          <a:xfrm>
            <a:off x="11224171" y="5055319"/>
            <a:ext cx="5920829" cy="9525"/>
          </a:xfrm>
          <a:prstGeom prst="rect">
            <a:avLst/>
          </a:prstGeom>
          <a:solidFill>
            <a:srgbClr val="111111"/>
          </a:solidFill>
          <a:ln/>
        </p:spPr>
        <p:txBody>
          <a:bodyPr/>
          <a:lstStyle/>
          <a:p>
            <a:endParaRPr lang="en-US"/>
          </a:p>
        </p:txBody>
      </p:sp>
      <p:sp>
        <p:nvSpPr>
          <p:cNvPr id="26" name="Text 24"/>
          <p:cNvSpPr/>
          <p:nvPr/>
        </p:nvSpPr>
        <p:spPr>
          <a:xfrm>
            <a:off x="11452771" y="4436194"/>
            <a:ext cx="5641254"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Narrow — one specific output or process</a:t>
            </a:r>
            <a:endParaRPr lang="en-US" sz="1875" dirty="0"/>
          </a:p>
        </p:txBody>
      </p:sp>
      <p:sp>
        <p:nvSpPr>
          <p:cNvPr id="27" name="Shape 25"/>
          <p:cNvSpPr/>
          <p:nvPr/>
        </p:nvSpPr>
        <p:spPr>
          <a:xfrm>
            <a:off x="1143000" y="5855419"/>
            <a:ext cx="4160490" cy="9525"/>
          </a:xfrm>
          <a:prstGeom prst="rect">
            <a:avLst/>
          </a:prstGeom>
          <a:solidFill>
            <a:srgbClr val="111111"/>
          </a:solidFill>
          <a:ln/>
        </p:spPr>
        <p:txBody>
          <a:bodyPr/>
          <a:lstStyle/>
          <a:p>
            <a:endParaRPr lang="en-US"/>
          </a:p>
        </p:txBody>
      </p:sp>
      <p:sp>
        <p:nvSpPr>
          <p:cNvPr id="28" name="Text 26"/>
          <p:cNvSpPr/>
          <p:nvPr/>
        </p:nvSpPr>
        <p:spPr>
          <a:xfrm>
            <a:off x="1371600" y="5369644"/>
            <a:ext cx="382810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Portability</a:t>
            </a:r>
            <a:endParaRPr lang="en-US" sz="2250" dirty="0"/>
          </a:p>
        </p:txBody>
      </p:sp>
      <p:sp>
        <p:nvSpPr>
          <p:cNvPr id="29" name="Shape 27"/>
          <p:cNvSpPr/>
          <p:nvPr/>
        </p:nvSpPr>
        <p:spPr>
          <a:xfrm>
            <a:off x="5303490" y="5855419"/>
            <a:ext cx="5920680" cy="9525"/>
          </a:xfrm>
          <a:prstGeom prst="rect">
            <a:avLst/>
          </a:prstGeom>
          <a:solidFill>
            <a:srgbClr val="111111"/>
          </a:solidFill>
          <a:ln/>
        </p:spPr>
        <p:txBody>
          <a:bodyPr/>
          <a:lstStyle/>
          <a:p>
            <a:endParaRPr lang="en-US"/>
          </a:p>
        </p:txBody>
      </p:sp>
      <p:sp>
        <p:nvSpPr>
          <p:cNvPr id="30" name="Text 28"/>
          <p:cNvSpPr/>
          <p:nvPr/>
        </p:nvSpPr>
        <p:spPr>
          <a:xfrm>
            <a:off x="5532090" y="5236294"/>
            <a:ext cx="5641101"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Stays put. Context is the point.</a:t>
            </a:r>
            <a:endParaRPr lang="en-US" sz="1875" dirty="0"/>
          </a:p>
        </p:txBody>
      </p:sp>
      <p:sp>
        <p:nvSpPr>
          <p:cNvPr id="31" name="Shape 29"/>
          <p:cNvSpPr/>
          <p:nvPr/>
        </p:nvSpPr>
        <p:spPr>
          <a:xfrm>
            <a:off x="11224171" y="5855419"/>
            <a:ext cx="5920829" cy="9525"/>
          </a:xfrm>
          <a:prstGeom prst="rect">
            <a:avLst/>
          </a:prstGeom>
          <a:solidFill>
            <a:srgbClr val="111111"/>
          </a:solidFill>
          <a:ln/>
        </p:spPr>
        <p:txBody>
          <a:bodyPr/>
          <a:lstStyle/>
          <a:p>
            <a:endParaRPr lang="en-US"/>
          </a:p>
        </p:txBody>
      </p:sp>
      <p:sp>
        <p:nvSpPr>
          <p:cNvPr id="32" name="Text 30"/>
          <p:cNvSpPr/>
          <p:nvPr/>
        </p:nvSpPr>
        <p:spPr>
          <a:xfrm>
            <a:off x="11452771" y="5236294"/>
            <a:ext cx="5641254"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Goes anywhere. Portability is the point.</a:t>
            </a:r>
            <a:endParaRPr lang="en-US" sz="1875" dirty="0"/>
          </a:p>
        </p:txBody>
      </p:sp>
      <p:sp>
        <p:nvSpPr>
          <p:cNvPr id="33" name="Shape 31"/>
          <p:cNvSpPr/>
          <p:nvPr/>
        </p:nvSpPr>
        <p:spPr>
          <a:xfrm>
            <a:off x="1143000" y="6655519"/>
            <a:ext cx="4160490" cy="9525"/>
          </a:xfrm>
          <a:prstGeom prst="rect">
            <a:avLst/>
          </a:prstGeom>
          <a:solidFill>
            <a:srgbClr val="111111"/>
          </a:solidFill>
          <a:ln/>
        </p:spPr>
        <p:txBody>
          <a:bodyPr/>
          <a:lstStyle/>
          <a:p>
            <a:endParaRPr lang="en-US"/>
          </a:p>
        </p:txBody>
      </p:sp>
      <p:sp>
        <p:nvSpPr>
          <p:cNvPr id="34" name="Text 32"/>
          <p:cNvSpPr/>
          <p:nvPr/>
        </p:nvSpPr>
        <p:spPr>
          <a:xfrm>
            <a:off x="1371600" y="6169744"/>
            <a:ext cx="382810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000000"/>
                </a:solidFill>
                <a:latin typeface="Playfair Display" pitchFamily="34" charset="0"/>
                <a:ea typeface="Playfair Display" pitchFamily="34" charset="-122"/>
                <a:cs typeface="Playfair Display" pitchFamily="34" charset="-120"/>
              </a:rPr>
              <a:t>Lifespan</a:t>
            </a:r>
            <a:endParaRPr lang="en-US" sz="2250" dirty="0"/>
          </a:p>
        </p:txBody>
      </p:sp>
      <p:sp>
        <p:nvSpPr>
          <p:cNvPr id="35" name="Shape 33"/>
          <p:cNvSpPr/>
          <p:nvPr/>
        </p:nvSpPr>
        <p:spPr>
          <a:xfrm>
            <a:off x="5303490" y="6655519"/>
            <a:ext cx="5920680" cy="9525"/>
          </a:xfrm>
          <a:prstGeom prst="rect">
            <a:avLst/>
          </a:prstGeom>
          <a:solidFill>
            <a:srgbClr val="111111"/>
          </a:solidFill>
          <a:ln/>
        </p:spPr>
        <p:txBody>
          <a:bodyPr/>
          <a:lstStyle/>
          <a:p>
            <a:endParaRPr lang="en-US"/>
          </a:p>
        </p:txBody>
      </p:sp>
      <p:sp>
        <p:nvSpPr>
          <p:cNvPr id="36" name="Text 34"/>
          <p:cNvSpPr/>
          <p:nvPr/>
        </p:nvSpPr>
        <p:spPr>
          <a:xfrm>
            <a:off x="5532090" y="6036394"/>
            <a:ext cx="5641101"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Always on. Grows over time.</a:t>
            </a:r>
            <a:endParaRPr lang="en-US" sz="1875" dirty="0"/>
          </a:p>
        </p:txBody>
      </p:sp>
      <p:sp>
        <p:nvSpPr>
          <p:cNvPr id="37" name="Shape 35"/>
          <p:cNvSpPr/>
          <p:nvPr/>
        </p:nvSpPr>
        <p:spPr>
          <a:xfrm>
            <a:off x="11224171" y="6655519"/>
            <a:ext cx="5920829" cy="9525"/>
          </a:xfrm>
          <a:prstGeom prst="rect">
            <a:avLst/>
          </a:prstGeom>
          <a:solidFill>
            <a:srgbClr val="111111"/>
          </a:solidFill>
          <a:ln/>
        </p:spPr>
        <p:txBody>
          <a:bodyPr/>
          <a:lstStyle/>
          <a:p>
            <a:endParaRPr lang="en-US"/>
          </a:p>
        </p:txBody>
      </p:sp>
      <p:sp>
        <p:nvSpPr>
          <p:cNvPr id="38" name="Text 36"/>
          <p:cNvSpPr/>
          <p:nvPr/>
        </p:nvSpPr>
        <p:spPr>
          <a:xfrm>
            <a:off x="11452771" y="6036394"/>
            <a:ext cx="5641254" cy="485775"/>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000000"/>
                </a:solidFill>
                <a:latin typeface="Libre Baskerville" pitchFamily="34" charset="0"/>
                <a:ea typeface="Libre Baskerville" pitchFamily="34" charset="-122"/>
                <a:cs typeface="Libre Baskerville" pitchFamily="34" charset="-120"/>
              </a:rPr>
              <a:t>Triggered on demand. Stays the same.</a:t>
            </a:r>
            <a:endParaRPr lang="en-US" sz="1875" dirty="0"/>
          </a:p>
        </p:txBody>
      </p:sp>
      <p:sp>
        <p:nvSpPr>
          <p:cNvPr id="39" name="Text 3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C61E5131-CF4F-5D49-92CF-6E84858ECF8E}"/>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20 / 23</a:t>
            </a:r>
          </a:p>
        </p:txBody>
      </p:sp>
    </p:spTree>
    <p:extLst>
      <p:ext uri="{BB962C8B-B14F-4D97-AF65-F5344CB8AC3E}">
        <p14:creationId xmlns:p14="http://schemas.microsoft.com/office/powerpoint/2010/main" val="1010763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name="Slide 16">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Five functions. Five </a:t>
            </a:r>
            <a:r>
              <a:rPr lang="en-US" sz="4800" b="1" i="1" kern="0" spc="-112" dirty="0">
                <a:solidFill>
                  <a:srgbClr val="04CCBA"/>
                </a:solidFill>
                <a:latin typeface="Playfair Display" pitchFamily="34" charset="0"/>
                <a:ea typeface="Playfair Display" pitchFamily="34" charset="-122"/>
                <a:cs typeface="Playfair Display" pitchFamily="34" charset="-120"/>
              </a:rPr>
              <a:t>brains.</a:t>
            </a:r>
            <a:endParaRPr lang="en-US" sz="4800" dirty="0"/>
          </a:p>
        </p:txBody>
      </p:sp>
      <p:sp>
        <p:nvSpPr>
          <p:cNvPr id="4" name="Text 2"/>
          <p:cNvSpPr/>
          <p:nvPr/>
        </p:nvSpPr>
        <p:spPr>
          <a:xfrm>
            <a:off x="1143000" y="1893872"/>
            <a:ext cx="13735050" cy="1085850"/>
          </a:xfrm>
          <a:prstGeom prst="rect">
            <a:avLst/>
          </a:prstGeom>
          <a:noFill/>
          <a:ln/>
        </p:spPr>
        <p:txBody>
          <a:bodyPr wrap="square" lIns="25400" tIns="25400" rIns="25400" bIns="25400" rtlCol="0" anchor="t">
            <a:normAutofit/>
          </a:bodyPr>
          <a:lstStyle/>
          <a:p>
            <a:pPr marL="0" indent="0" algn="l">
              <a:lnSpc>
                <a:spcPct val="125000"/>
              </a:lnSpc>
              <a:buNone/>
            </a:pPr>
            <a:r>
              <a:rPr lang="en-US" sz="3300" i="1" dirty="0">
                <a:solidFill>
                  <a:srgbClr val="000000"/>
                </a:solidFill>
                <a:latin typeface="Libre Baskerville" pitchFamily="34" charset="0"/>
                <a:ea typeface="Libre Baskerville" pitchFamily="34" charset="-122"/>
                <a:cs typeface="Libre Baskerville" pitchFamily="34" charset="-120"/>
              </a:rPr>
              <a:t>Each project has its own files, instructions, and owner. </a:t>
            </a:r>
            <a:endParaRPr lang="en-US" sz="3300" dirty="0"/>
          </a:p>
        </p:txBody>
      </p:sp>
      <p:sp>
        <p:nvSpPr>
          <p:cNvPr id="5" name="Shape 3"/>
          <p:cNvSpPr/>
          <p:nvPr/>
        </p:nvSpPr>
        <p:spPr>
          <a:xfrm>
            <a:off x="1143000" y="4398847"/>
            <a:ext cx="16002000" cy="9525"/>
          </a:xfrm>
          <a:prstGeom prst="rect">
            <a:avLst/>
          </a:prstGeom>
          <a:solidFill>
            <a:srgbClr val="111111"/>
          </a:solidFill>
          <a:ln/>
        </p:spPr>
        <p:txBody>
          <a:bodyPr/>
          <a:lstStyle/>
          <a:p>
            <a:endParaRPr lang="en-US" sz="2000"/>
          </a:p>
        </p:txBody>
      </p:sp>
      <p:sp>
        <p:nvSpPr>
          <p:cNvPr id="6" name="Text 4"/>
          <p:cNvSpPr/>
          <p:nvPr/>
        </p:nvSpPr>
        <p:spPr>
          <a:xfrm>
            <a:off x="1143000" y="3714014"/>
            <a:ext cx="4316730" cy="400050"/>
          </a:xfrm>
          <a:prstGeom prst="rect">
            <a:avLst/>
          </a:prstGeom>
          <a:noFill/>
          <a:ln/>
        </p:spPr>
        <p:txBody>
          <a:bodyPr wrap="square" lIns="25400" tIns="25400" rIns="25400" bIns="25400" rtlCol="0" anchor="t">
            <a:noAutofit/>
          </a:bodyPr>
          <a:lstStyle/>
          <a:p>
            <a:pPr marL="0" indent="0" algn="l">
              <a:lnSpc>
                <a:spcPct val="100000"/>
              </a:lnSpc>
              <a:buNone/>
            </a:pPr>
            <a:r>
              <a:rPr lang="en-US" sz="2800" b="1" dirty="0">
                <a:solidFill>
                  <a:srgbClr val="000000"/>
                </a:solidFill>
                <a:latin typeface="Playfair Display" pitchFamily="34" charset="0"/>
                <a:ea typeface="Playfair Display" pitchFamily="34" charset="-122"/>
                <a:cs typeface="Playfair Display" pitchFamily="34" charset="-120"/>
              </a:rPr>
              <a:t>Land Operations</a:t>
            </a:r>
            <a:endParaRPr lang="en-US" sz="2800" dirty="0"/>
          </a:p>
        </p:txBody>
      </p:sp>
      <p:sp>
        <p:nvSpPr>
          <p:cNvPr id="7" name="Text 5"/>
          <p:cNvSpPr/>
          <p:nvPr/>
        </p:nvSpPr>
        <p:spPr>
          <a:xfrm>
            <a:off x="5715000" y="3702325"/>
            <a:ext cx="11772900" cy="384795"/>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000000"/>
                </a:solidFill>
                <a:latin typeface="Libre Baskerville" pitchFamily="34" charset="0"/>
                <a:ea typeface="Libre Baskerville" pitchFamily="34" charset="-122"/>
                <a:cs typeface="Libre Baskerville" pitchFamily="34" charset="-120"/>
              </a:rPr>
              <a:t>Hotel contracts, ground transport, local guides.</a:t>
            </a:r>
            <a:endParaRPr lang="en-US" sz="2000" dirty="0"/>
          </a:p>
        </p:txBody>
      </p:sp>
      <p:sp>
        <p:nvSpPr>
          <p:cNvPr id="8" name="Shape 6"/>
          <p:cNvSpPr/>
          <p:nvPr/>
        </p:nvSpPr>
        <p:spPr>
          <a:xfrm>
            <a:off x="1143000" y="5359905"/>
            <a:ext cx="16002000" cy="9525"/>
          </a:xfrm>
          <a:prstGeom prst="rect">
            <a:avLst/>
          </a:prstGeom>
          <a:solidFill>
            <a:srgbClr val="111111"/>
          </a:solidFill>
          <a:ln/>
        </p:spPr>
        <p:txBody>
          <a:bodyPr/>
          <a:lstStyle/>
          <a:p>
            <a:endParaRPr lang="en-US" sz="2000"/>
          </a:p>
        </p:txBody>
      </p:sp>
      <p:sp>
        <p:nvSpPr>
          <p:cNvPr id="9" name="Text 7"/>
          <p:cNvSpPr/>
          <p:nvPr/>
        </p:nvSpPr>
        <p:spPr>
          <a:xfrm>
            <a:off x="1143000" y="4675072"/>
            <a:ext cx="4316730" cy="400050"/>
          </a:xfrm>
          <a:prstGeom prst="rect">
            <a:avLst/>
          </a:prstGeom>
          <a:noFill/>
          <a:ln/>
        </p:spPr>
        <p:txBody>
          <a:bodyPr wrap="square" lIns="25400" tIns="25400" rIns="25400" bIns="25400" rtlCol="0" anchor="t">
            <a:noAutofit/>
          </a:bodyPr>
          <a:lstStyle/>
          <a:p>
            <a:pPr marL="0" indent="0" algn="l">
              <a:lnSpc>
                <a:spcPct val="100000"/>
              </a:lnSpc>
              <a:buNone/>
            </a:pPr>
            <a:r>
              <a:rPr lang="en-US" sz="2800" b="1" dirty="0">
                <a:solidFill>
                  <a:srgbClr val="000000"/>
                </a:solidFill>
                <a:latin typeface="Playfair Display" pitchFamily="34" charset="0"/>
                <a:ea typeface="Playfair Display" pitchFamily="34" charset="-122"/>
                <a:cs typeface="Playfair Display" pitchFamily="34" charset="-120"/>
              </a:rPr>
              <a:t>Airline Operations</a:t>
            </a:r>
            <a:endParaRPr lang="en-US" sz="2800" dirty="0"/>
          </a:p>
        </p:txBody>
      </p:sp>
      <p:sp>
        <p:nvSpPr>
          <p:cNvPr id="10" name="Text 8"/>
          <p:cNvSpPr/>
          <p:nvPr/>
        </p:nvSpPr>
        <p:spPr>
          <a:xfrm>
            <a:off x="5715000" y="4663382"/>
            <a:ext cx="11772900" cy="384795"/>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000000"/>
                </a:solidFill>
                <a:latin typeface="Libre Baskerville" pitchFamily="34" charset="0"/>
                <a:ea typeface="Libre Baskerville" pitchFamily="34" charset="-122"/>
                <a:cs typeface="Libre Baskerville" pitchFamily="34" charset="-120"/>
              </a:rPr>
              <a:t>Fare rules, group bookings, airline contacts.</a:t>
            </a:r>
            <a:endParaRPr lang="en-US" sz="2000" dirty="0"/>
          </a:p>
        </p:txBody>
      </p:sp>
      <p:sp>
        <p:nvSpPr>
          <p:cNvPr id="11" name="Shape 9"/>
          <p:cNvSpPr/>
          <p:nvPr/>
        </p:nvSpPr>
        <p:spPr>
          <a:xfrm>
            <a:off x="1143000" y="6320962"/>
            <a:ext cx="16002000" cy="9525"/>
          </a:xfrm>
          <a:prstGeom prst="rect">
            <a:avLst/>
          </a:prstGeom>
          <a:solidFill>
            <a:srgbClr val="111111"/>
          </a:solidFill>
          <a:ln/>
        </p:spPr>
        <p:txBody>
          <a:bodyPr/>
          <a:lstStyle/>
          <a:p>
            <a:endParaRPr lang="en-US" sz="2000"/>
          </a:p>
        </p:txBody>
      </p:sp>
      <p:sp>
        <p:nvSpPr>
          <p:cNvPr id="12" name="Text 10"/>
          <p:cNvSpPr/>
          <p:nvPr/>
        </p:nvSpPr>
        <p:spPr>
          <a:xfrm>
            <a:off x="1143000" y="5636130"/>
            <a:ext cx="4316730" cy="400050"/>
          </a:xfrm>
          <a:prstGeom prst="rect">
            <a:avLst/>
          </a:prstGeom>
          <a:noFill/>
          <a:ln/>
        </p:spPr>
        <p:txBody>
          <a:bodyPr wrap="square" lIns="25400" tIns="25400" rIns="25400" bIns="25400" rtlCol="0" anchor="t">
            <a:noAutofit/>
          </a:bodyPr>
          <a:lstStyle/>
          <a:p>
            <a:pPr marL="0" indent="0" algn="l">
              <a:lnSpc>
                <a:spcPct val="100000"/>
              </a:lnSpc>
              <a:buNone/>
            </a:pPr>
            <a:r>
              <a:rPr lang="en-US" sz="2800" b="1" dirty="0">
                <a:solidFill>
                  <a:srgbClr val="000000"/>
                </a:solidFill>
                <a:latin typeface="Playfair Display" pitchFamily="34" charset="0"/>
                <a:ea typeface="Playfair Display" pitchFamily="34" charset="-122"/>
                <a:cs typeface="Playfair Display" pitchFamily="34" charset="-120"/>
              </a:rPr>
              <a:t>University Programs</a:t>
            </a:r>
            <a:endParaRPr lang="en-US" sz="2800" dirty="0"/>
          </a:p>
        </p:txBody>
      </p:sp>
      <p:sp>
        <p:nvSpPr>
          <p:cNvPr id="13" name="Text 11"/>
          <p:cNvSpPr/>
          <p:nvPr/>
        </p:nvSpPr>
        <p:spPr>
          <a:xfrm>
            <a:off x="5715000" y="5624440"/>
            <a:ext cx="11772900" cy="384795"/>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000000"/>
                </a:solidFill>
                <a:latin typeface="Libre Baskerville" pitchFamily="34" charset="0"/>
                <a:ea typeface="Libre Baskerville" pitchFamily="34" charset="-122"/>
                <a:cs typeface="Libre Baskerville" pitchFamily="34" charset="-120"/>
              </a:rPr>
              <a:t>University contacts, academic calendars, templates.</a:t>
            </a:r>
            <a:endParaRPr lang="en-US" sz="2000" dirty="0"/>
          </a:p>
        </p:txBody>
      </p:sp>
      <p:sp>
        <p:nvSpPr>
          <p:cNvPr id="14" name="Shape 12"/>
          <p:cNvSpPr/>
          <p:nvPr/>
        </p:nvSpPr>
        <p:spPr>
          <a:xfrm>
            <a:off x="1143000" y="7282020"/>
            <a:ext cx="16002000" cy="9525"/>
          </a:xfrm>
          <a:prstGeom prst="rect">
            <a:avLst/>
          </a:prstGeom>
          <a:solidFill>
            <a:srgbClr val="111111"/>
          </a:solidFill>
          <a:ln/>
        </p:spPr>
        <p:txBody>
          <a:bodyPr/>
          <a:lstStyle/>
          <a:p>
            <a:endParaRPr lang="en-US" sz="2000"/>
          </a:p>
        </p:txBody>
      </p:sp>
      <p:sp>
        <p:nvSpPr>
          <p:cNvPr id="15" name="Text 13"/>
          <p:cNvSpPr/>
          <p:nvPr/>
        </p:nvSpPr>
        <p:spPr>
          <a:xfrm>
            <a:off x="1143000" y="6597187"/>
            <a:ext cx="4316730" cy="400050"/>
          </a:xfrm>
          <a:prstGeom prst="rect">
            <a:avLst/>
          </a:prstGeom>
          <a:noFill/>
          <a:ln/>
        </p:spPr>
        <p:txBody>
          <a:bodyPr wrap="square" lIns="25400" tIns="25400" rIns="25400" bIns="25400" rtlCol="0" anchor="t">
            <a:noAutofit/>
          </a:bodyPr>
          <a:lstStyle/>
          <a:p>
            <a:pPr marL="0" indent="0" algn="l">
              <a:lnSpc>
                <a:spcPct val="100000"/>
              </a:lnSpc>
              <a:buNone/>
            </a:pPr>
            <a:r>
              <a:rPr lang="en-US" sz="2800" b="1" dirty="0">
                <a:solidFill>
                  <a:srgbClr val="000000"/>
                </a:solidFill>
                <a:latin typeface="Playfair Display" pitchFamily="34" charset="0"/>
                <a:ea typeface="Playfair Display" pitchFamily="34" charset="-122"/>
                <a:cs typeface="Playfair Display" pitchFamily="34" charset="-120"/>
              </a:rPr>
              <a:t>Corporate Travel</a:t>
            </a:r>
            <a:endParaRPr lang="en-US" sz="2800" dirty="0"/>
          </a:p>
        </p:txBody>
      </p:sp>
      <p:sp>
        <p:nvSpPr>
          <p:cNvPr id="16" name="Text 14"/>
          <p:cNvSpPr/>
          <p:nvPr/>
        </p:nvSpPr>
        <p:spPr>
          <a:xfrm>
            <a:off x="5715000" y="6585498"/>
            <a:ext cx="11772900" cy="384795"/>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000000"/>
                </a:solidFill>
                <a:latin typeface="Libre Baskerville" pitchFamily="34" charset="0"/>
                <a:ea typeface="Libre Baskerville" pitchFamily="34" charset="-122"/>
                <a:cs typeface="Libre Baskerville" pitchFamily="34" charset="-120"/>
              </a:rPr>
              <a:t>Energy company clients, policies, billing.</a:t>
            </a:r>
            <a:endParaRPr lang="en-US" sz="2000" dirty="0"/>
          </a:p>
        </p:txBody>
      </p:sp>
      <p:sp>
        <p:nvSpPr>
          <p:cNvPr id="17" name="Text 15"/>
          <p:cNvSpPr/>
          <p:nvPr/>
        </p:nvSpPr>
        <p:spPr>
          <a:xfrm>
            <a:off x="1143000" y="7558245"/>
            <a:ext cx="4316730" cy="400050"/>
          </a:xfrm>
          <a:prstGeom prst="rect">
            <a:avLst/>
          </a:prstGeom>
          <a:noFill/>
          <a:ln/>
        </p:spPr>
        <p:txBody>
          <a:bodyPr wrap="square" lIns="25400" tIns="25400" rIns="25400" bIns="25400" rtlCol="0" anchor="t">
            <a:noAutofit/>
          </a:bodyPr>
          <a:lstStyle/>
          <a:p>
            <a:pPr marL="0" indent="0" algn="l">
              <a:lnSpc>
                <a:spcPct val="100000"/>
              </a:lnSpc>
              <a:buNone/>
            </a:pPr>
            <a:r>
              <a:rPr lang="en-US" sz="2800" b="1" dirty="0">
                <a:solidFill>
                  <a:srgbClr val="000000"/>
                </a:solidFill>
                <a:latin typeface="Playfair Display" pitchFamily="34" charset="0"/>
                <a:ea typeface="Playfair Display" pitchFamily="34" charset="-122"/>
                <a:cs typeface="Playfair Display" pitchFamily="34" charset="-120"/>
              </a:rPr>
              <a:t>Finance &amp; Admin</a:t>
            </a:r>
            <a:endParaRPr lang="en-US" sz="2800" dirty="0"/>
          </a:p>
        </p:txBody>
      </p:sp>
      <p:sp>
        <p:nvSpPr>
          <p:cNvPr id="18" name="Text 16"/>
          <p:cNvSpPr/>
          <p:nvPr/>
        </p:nvSpPr>
        <p:spPr>
          <a:xfrm>
            <a:off x="5715000" y="7629682"/>
            <a:ext cx="11772900" cy="38479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000" dirty="0">
                <a:solidFill>
                  <a:srgbClr val="000000"/>
                </a:solidFill>
                <a:latin typeface="Libre Baskerville" pitchFamily="34" charset="0"/>
                <a:ea typeface="Libre Baskerville" pitchFamily="34" charset="-122"/>
                <a:cs typeface="Libre Baskerville" pitchFamily="34" charset="-120"/>
              </a:rPr>
              <a:t>Invoicing, QuickBooks, internal operations.</a:t>
            </a:r>
            <a:endParaRPr lang="en-US" sz="2000" dirty="0"/>
          </a:p>
        </p:txBody>
      </p:sp>
      <p:sp>
        <p:nvSpPr>
          <p:cNvPr id="19" name="Text 17"/>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DDE10631-8782-C346-80CF-C3C350BAB707}"/>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21 / 23</a:t>
            </a:r>
          </a:p>
        </p:txBody>
      </p:sp>
    </p:spTree>
    <p:extLst>
      <p:ext uri="{BB962C8B-B14F-4D97-AF65-F5344CB8AC3E}">
        <p14:creationId xmlns:p14="http://schemas.microsoft.com/office/powerpoint/2010/main" val="1241425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name="Slide 17">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Project, Skill, or just a </a:t>
            </a:r>
            <a:r>
              <a:rPr lang="en-US" sz="4800" b="1" i="1" kern="0" spc="-112" dirty="0">
                <a:solidFill>
                  <a:srgbClr val="04CCBA"/>
                </a:solidFill>
                <a:latin typeface="Playfair Display" pitchFamily="34" charset="0"/>
                <a:ea typeface="Playfair Display" pitchFamily="34" charset="-122"/>
                <a:cs typeface="Playfair Display" pitchFamily="34" charset="-120"/>
              </a:rPr>
              <a:t>chat?</a:t>
            </a:r>
            <a:endParaRPr lang="en-US" sz="4800" dirty="0"/>
          </a:p>
        </p:txBody>
      </p:sp>
      <p:sp>
        <p:nvSpPr>
          <p:cNvPr id="4" name="Shape 2"/>
          <p:cNvSpPr/>
          <p:nvPr/>
        </p:nvSpPr>
        <p:spPr>
          <a:xfrm>
            <a:off x="1143000" y="8475390"/>
            <a:ext cx="16002000" cy="9525"/>
          </a:xfrm>
          <a:prstGeom prst="rect">
            <a:avLst/>
          </a:prstGeom>
          <a:solidFill>
            <a:srgbClr val="111111"/>
          </a:solidFill>
          <a:ln/>
        </p:spPr>
        <p:txBody>
          <a:bodyPr/>
          <a:lstStyle/>
          <a:p>
            <a:endParaRPr lang="en-US"/>
          </a:p>
        </p:txBody>
      </p:sp>
      <p:sp>
        <p:nvSpPr>
          <p:cNvPr id="5" name="Shape 3"/>
          <p:cNvSpPr/>
          <p:nvPr/>
        </p:nvSpPr>
        <p:spPr>
          <a:xfrm>
            <a:off x="1143000" y="2392635"/>
            <a:ext cx="16002000" cy="9525"/>
          </a:xfrm>
          <a:prstGeom prst="rect">
            <a:avLst/>
          </a:prstGeom>
          <a:solidFill>
            <a:srgbClr val="111111"/>
          </a:solidFill>
          <a:ln/>
        </p:spPr>
        <p:txBody>
          <a:bodyPr/>
          <a:lstStyle/>
          <a:p>
            <a:endParaRPr lang="en-US"/>
          </a:p>
        </p:txBody>
      </p:sp>
      <p:sp>
        <p:nvSpPr>
          <p:cNvPr id="6" name="Shape 4"/>
          <p:cNvSpPr/>
          <p:nvPr/>
        </p:nvSpPr>
        <p:spPr>
          <a:xfrm>
            <a:off x="1143000" y="2402160"/>
            <a:ext cx="5334000" cy="6073229"/>
          </a:xfrm>
          <a:prstGeom prst="rect">
            <a:avLst/>
          </a:prstGeom>
          <a:solidFill>
            <a:srgbClr val="EDFAF9"/>
          </a:solidFill>
          <a:ln/>
        </p:spPr>
        <p:txBody>
          <a:bodyPr/>
          <a:lstStyle/>
          <a:p>
            <a:endParaRPr lang="en-US"/>
          </a:p>
        </p:txBody>
      </p:sp>
      <p:sp>
        <p:nvSpPr>
          <p:cNvPr id="7" name="Shape 5"/>
          <p:cNvSpPr/>
          <p:nvPr/>
        </p:nvSpPr>
        <p:spPr>
          <a:xfrm>
            <a:off x="6467475" y="2402160"/>
            <a:ext cx="9525" cy="6073229"/>
          </a:xfrm>
          <a:prstGeom prst="rect">
            <a:avLst/>
          </a:prstGeom>
          <a:solidFill>
            <a:srgbClr val="111111"/>
          </a:solidFill>
          <a:ln/>
        </p:spPr>
        <p:txBody>
          <a:bodyPr/>
          <a:lstStyle/>
          <a:p>
            <a:endParaRPr lang="en-US"/>
          </a:p>
        </p:txBody>
      </p:sp>
      <p:sp>
        <p:nvSpPr>
          <p:cNvPr id="8" name="Text 6"/>
          <p:cNvSpPr/>
          <p:nvPr/>
        </p:nvSpPr>
        <p:spPr>
          <a:xfrm>
            <a:off x="1600200" y="2821260"/>
            <a:ext cx="4542377"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b="1" dirty="0">
                <a:solidFill>
                  <a:srgbClr val="000000"/>
                </a:solidFill>
                <a:latin typeface="Playfair Display" pitchFamily="34" charset="0"/>
                <a:ea typeface="Playfair Display" pitchFamily="34" charset="-122"/>
                <a:cs typeface="Playfair Display" pitchFamily="34" charset="-120"/>
              </a:rPr>
              <a:t>New </a:t>
            </a:r>
            <a:r>
              <a:rPr lang="en-US" sz="3750" b="1" i="1" dirty="0">
                <a:solidFill>
                  <a:srgbClr val="04CCBA"/>
                </a:solidFill>
                <a:latin typeface="Playfair Display" pitchFamily="34" charset="0"/>
                <a:ea typeface="Playfair Display" pitchFamily="34" charset="-122"/>
                <a:cs typeface="Playfair Display" pitchFamily="34" charset="-120"/>
              </a:rPr>
              <a:t>Project</a:t>
            </a:r>
            <a:endParaRPr lang="en-US" sz="3750" dirty="0"/>
          </a:p>
        </p:txBody>
      </p:sp>
      <p:sp>
        <p:nvSpPr>
          <p:cNvPr id="9" name="Text 7"/>
          <p:cNvSpPr/>
          <p:nvPr/>
        </p:nvSpPr>
        <p:spPr>
          <a:xfrm>
            <a:off x="1600200" y="3564210"/>
            <a:ext cx="4542377" cy="1158106"/>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i="1" dirty="0">
                <a:solidFill>
                  <a:srgbClr val="000000"/>
                </a:solidFill>
                <a:latin typeface="Libre Baskerville" pitchFamily="34" charset="0"/>
                <a:ea typeface="Libre Baskerville" pitchFamily="34" charset="-122"/>
                <a:cs typeface="Libre Baskerville" pitchFamily="34" charset="-120"/>
              </a:rPr>
              <a:t>If Claude needs to </a:t>
            </a:r>
            <a:r>
              <a:rPr lang="en-US" sz="2100" b="1" i="1" dirty="0">
                <a:solidFill>
                  <a:srgbClr val="000000"/>
                </a:solidFill>
                <a:latin typeface="Libre Baskerville" pitchFamily="34" charset="0"/>
                <a:ea typeface="Libre Baskerville" pitchFamily="34" charset="-122"/>
                <a:cs typeface="Libre Baskerville" pitchFamily="34" charset="-120"/>
              </a:rPr>
              <a:t>remember </a:t>
            </a:r>
            <a:r>
              <a:rPr lang="en-US" sz="2100" i="1" dirty="0">
                <a:solidFill>
                  <a:srgbClr val="000000"/>
                </a:solidFill>
                <a:latin typeface="Libre Baskerville" pitchFamily="34" charset="0"/>
                <a:ea typeface="Libre Baskerville" pitchFamily="34" charset="-122"/>
                <a:cs typeface="Libre Baskerville" pitchFamily="34" charset="-120"/>
              </a:rPr>
              <a:t>something — files, rules, ongoing context — it's a project.</a:t>
            </a:r>
            <a:endParaRPr lang="en-US" sz="2100" dirty="0"/>
          </a:p>
        </p:txBody>
      </p:sp>
      <p:sp>
        <p:nvSpPr>
          <p:cNvPr id="10" name="Shape 8"/>
          <p:cNvSpPr/>
          <p:nvPr/>
        </p:nvSpPr>
        <p:spPr>
          <a:xfrm>
            <a:off x="1600200" y="4950916"/>
            <a:ext cx="4410075" cy="9525"/>
          </a:xfrm>
          <a:prstGeom prst="rect">
            <a:avLst/>
          </a:prstGeom>
          <a:solidFill>
            <a:srgbClr val="111111"/>
          </a:solidFill>
          <a:ln/>
        </p:spPr>
        <p:txBody>
          <a:bodyPr/>
          <a:lstStyle/>
          <a:p>
            <a:endParaRPr lang="en-US"/>
          </a:p>
        </p:txBody>
      </p:sp>
      <p:sp>
        <p:nvSpPr>
          <p:cNvPr id="11" name="Text 9"/>
          <p:cNvSpPr/>
          <p:nvPr/>
        </p:nvSpPr>
        <p:spPr>
          <a:xfrm>
            <a:off x="1600200" y="5189041"/>
            <a:ext cx="4542377" cy="67806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"Claude needs to know our Jordan vendors."</a:t>
            </a:r>
            <a:endParaRPr lang="en-US" sz="1800" dirty="0"/>
          </a:p>
        </p:txBody>
      </p:sp>
      <p:sp>
        <p:nvSpPr>
          <p:cNvPr id="12" name="Text 10"/>
          <p:cNvSpPr/>
          <p:nvPr/>
        </p:nvSpPr>
        <p:spPr>
          <a:xfrm>
            <a:off x="1600200" y="5905202"/>
            <a:ext cx="454237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PROJECT</a:t>
            </a:r>
            <a:endParaRPr lang="en-US" sz="1350" dirty="0"/>
          </a:p>
        </p:txBody>
      </p:sp>
      <p:sp>
        <p:nvSpPr>
          <p:cNvPr id="13" name="Shape 11"/>
          <p:cNvSpPr/>
          <p:nvPr/>
        </p:nvSpPr>
        <p:spPr>
          <a:xfrm>
            <a:off x="1600200" y="6411888"/>
            <a:ext cx="4410075" cy="9525"/>
          </a:xfrm>
          <a:prstGeom prst="rect">
            <a:avLst/>
          </a:prstGeom>
          <a:solidFill>
            <a:srgbClr val="111111"/>
          </a:solidFill>
          <a:ln/>
        </p:spPr>
        <p:txBody>
          <a:bodyPr/>
          <a:lstStyle/>
          <a:p>
            <a:endParaRPr lang="en-US"/>
          </a:p>
        </p:txBody>
      </p:sp>
      <p:sp>
        <p:nvSpPr>
          <p:cNvPr id="14" name="Text 12"/>
          <p:cNvSpPr/>
          <p:nvPr/>
        </p:nvSpPr>
        <p:spPr>
          <a:xfrm>
            <a:off x="1600200" y="6650013"/>
            <a:ext cx="454237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"Corporate clients need different rules from groups."</a:t>
            </a:r>
            <a:endParaRPr lang="en-US" sz="1800" dirty="0"/>
          </a:p>
        </p:txBody>
      </p:sp>
      <p:sp>
        <p:nvSpPr>
          <p:cNvPr id="15" name="Text 13"/>
          <p:cNvSpPr/>
          <p:nvPr/>
        </p:nvSpPr>
        <p:spPr>
          <a:xfrm>
            <a:off x="1600200" y="7366174"/>
            <a:ext cx="454237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PROJECT</a:t>
            </a:r>
            <a:endParaRPr lang="en-US" sz="1350" dirty="0"/>
          </a:p>
        </p:txBody>
      </p:sp>
      <p:sp>
        <p:nvSpPr>
          <p:cNvPr id="16" name="Shape 14"/>
          <p:cNvSpPr/>
          <p:nvPr/>
        </p:nvSpPr>
        <p:spPr>
          <a:xfrm>
            <a:off x="6477000" y="2402160"/>
            <a:ext cx="5334000" cy="6073229"/>
          </a:xfrm>
          <a:prstGeom prst="rect">
            <a:avLst/>
          </a:prstGeom>
          <a:solidFill>
            <a:srgbClr val="EDFAF9"/>
          </a:solidFill>
          <a:ln/>
        </p:spPr>
        <p:txBody>
          <a:bodyPr/>
          <a:lstStyle/>
          <a:p>
            <a:endParaRPr lang="en-US"/>
          </a:p>
        </p:txBody>
      </p:sp>
      <p:sp>
        <p:nvSpPr>
          <p:cNvPr id="17" name="Shape 15"/>
          <p:cNvSpPr/>
          <p:nvPr/>
        </p:nvSpPr>
        <p:spPr>
          <a:xfrm>
            <a:off x="11801475" y="2402160"/>
            <a:ext cx="9525" cy="6073229"/>
          </a:xfrm>
          <a:prstGeom prst="rect">
            <a:avLst/>
          </a:prstGeom>
          <a:solidFill>
            <a:srgbClr val="111111"/>
          </a:solidFill>
          <a:ln/>
        </p:spPr>
        <p:txBody>
          <a:bodyPr/>
          <a:lstStyle/>
          <a:p>
            <a:endParaRPr lang="en-US"/>
          </a:p>
        </p:txBody>
      </p:sp>
      <p:sp>
        <p:nvSpPr>
          <p:cNvPr id="18" name="Text 16"/>
          <p:cNvSpPr/>
          <p:nvPr/>
        </p:nvSpPr>
        <p:spPr>
          <a:xfrm>
            <a:off x="6934200" y="2821260"/>
            <a:ext cx="4542377"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b="1" dirty="0">
                <a:solidFill>
                  <a:srgbClr val="000000"/>
                </a:solidFill>
                <a:latin typeface="Playfair Display" pitchFamily="34" charset="0"/>
                <a:ea typeface="Playfair Display" pitchFamily="34" charset="-122"/>
                <a:cs typeface="Playfair Display" pitchFamily="34" charset="-120"/>
              </a:rPr>
              <a:t>New </a:t>
            </a:r>
            <a:r>
              <a:rPr lang="en-US" sz="3750" b="1" i="1" dirty="0">
                <a:solidFill>
                  <a:srgbClr val="04CCBA"/>
                </a:solidFill>
                <a:latin typeface="Playfair Display" pitchFamily="34" charset="0"/>
                <a:ea typeface="Playfair Display" pitchFamily="34" charset="-122"/>
                <a:cs typeface="Playfair Display" pitchFamily="34" charset="-120"/>
              </a:rPr>
              <a:t>Skill</a:t>
            </a:r>
            <a:endParaRPr lang="en-US" sz="3750" dirty="0"/>
          </a:p>
        </p:txBody>
      </p:sp>
      <p:sp>
        <p:nvSpPr>
          <p:cNvPr id="19" name="Text 17"/>
          <p:cNvSpPr/>
          <p:nvPr/>
        </p:nvSpPr>
        <p:spPr>
          <a:xfrm>
            <a:off x="6934200" y="3564210"/>
            <a:ext cx="4542377" cy="78477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i="1" dirty="0">
                <a:solidFill>
                  <a:srgbClr val="000000"/>
                </a:solidFill>
                <a:latin typeface="Libre Baskerville" pitchFamily="34" charset="0"/>
                <a:ea typeface="Libre Baskerville" pitchFamily="34" charset="-122"/>
                <a:cs typeface="Libre Baskerville" pitchFamily="34" charset="-120"/>
              </a:rPr>
              <a:t>If Claude needs to </a:t>
            </a:r>
            <a:r>
              <a:rPr lang="en-US" sz="2100" b="1" i="1" dirty="0">
                <a:solidFill>
                  <a:srgbClr val="000000"/>
                </a:solidFill>
                <a:latin typeface="Libre Baskerville" pitchFamily="34" charset="0"/>
                <a:ea typeface="Libre Baskerville" pitchFamily="34" charset="-122"/>
                <a:cs typeface="Libre Baskerville" pitchFamily="34" charset="-120"/>
              </a:rPr>
              <a:t>do </a:t>
            </a:r>
            <a:r>
              <a:rPr lang="en-US" sz="2100" i="1" dirty="0">
                <a:solidFill>
                  <a:srgbClr val="000000"/>
                </a:solidFill>
                <a:latin typeface="Libre Baskerville" pitchFamily="34" charset="0"/>
                <a:ea typeface="Libre Baskerville" pitchFamily="34" charset="-122"/>
                <a:cs typeface="Libre Baskerville" pitchFamily="34" charset="-120"/>
              </a:rPr>
              <a:t>a task the same way every time, it's a skill.</a:t>
            </a:r>
            <a:endParaRPr lang="en-US" sz="2100" dirty="0"/>
          </a:p>
        </p:txBody>
      </p:sp>
      <p:sp>
        <p:nvSpPr>
          <p:cNvPr id="20" name="Shape 18"/>
          <p:cNvSpPr/>
          <p:nvPr/>
        </p:nvSpPr>
        <p:spPr>
          <a:xfrm>
            <a:off x="6934200" y="4577581"/>
            <a:ext cx="4410075" cy="9525"/>
          </a:xfrm>
          <a:prstGeom prst="rect">
            <a:avLst/>
          </a:prstGeom>
          <a:solidFill>
            <a:srgbClr val="111111"/>
          </a:solidFill>
          <a:ln/>
        </p:spPr>
        <p:txBody>
          <a:bodyPr/>
          <a:lstStyle/>
          <a:p>
            <a:endParaRPr lang="en-US"/>
          </a:p>
        </p:txBody>
      </p:sp>
      <p:sp>
        <p:nvSpPr>
          <p:cNvPr id="21" name="Text 19"/>
          <p:cNvSpPr/>
          <p:nvPr/>
        </p:nvSpPr>
        <p:spPr>
          <a:xfrm>
            <a:off x="6934200" y="4815706"/>
            <a:ext cx="454237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"I need to generate an invoice."</a:t>
            </a:r>
            <a:endParaRPr lang="en-US" sz="1800" dirty="0"/>
          </a:p>
        </p:txBody>
      </p:sp>
      <p:sp>
        <p:nvSpPr>
          <p:cNvPr id="22" name="Text 20"/>
          <p:cNvSpPr/>
          <p:nvPr/>
        </p:nvSpPr>
        <p:spPr>
          <a:xfrm>
            <a:off x="6934200" y="5211887"/>
            <a:ext cx="454237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SKILL</a:t>
            </a:r>
            <a:endParaRPr lang="en-US" sz="1350" dirty="0"/>
          </a:p>
        </p:txBody>
      </p:sp>
      <p:sp>
        <p:nvSpPr>
          <p:cNvPr id="23" name="Shape 21"/>
          <p:cNvSpPr/>
          <p:nvPr/>
        </p:nvSpPr>
        <p:spPr>
          <a:xfrm>
            <a:off x="6934200" y="5718572"/>
            <a:ext cx="4410075" cy="9525"/>
          </a:xfrm>
          <a:prstGeom prst="rect">
            <a:avLst/>
          </a:prstGeom>
          <a:solidFill>
            <a:srgbClr val="111111"/>
          </a:solidFill>
          <a:ln/>
        </p:spPr>
        <p:txBody>
          <a:bodyPr/>
          <a:lstStyle/>
          <a:p>
            <a:endParaRPr lang="en-US"/>
          </a:p>
        </p:txBody>
      </p:sp>
      <p:sp>
        <p:nvSpPr>
          <p:cNvPr id="24" name="Text 22"/>
          <p:cNvSpPr/>
          <p:nvPr/>
        </p:nvSpPr>
        <p:spPr>
          <a:xfrm>
            <a:off x="6934200" y="5956697"/>
            <a:ext cx="454237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"Follow-up email after every client call."</a:t>
            </a:r>
            <a:endParaRPr lang="en-US" sz="1800" dirty="0"/>
          </a:p>
        </p:txBody>
      </p:sp>
      <p:sp>
        <p:nvSpPr>
          <p:cNvPr id="25" name="Text 23"/>
          <p:cNvSpPr/>
          <p:nvPr/>
        </p:nvSpPr>
        <p:spPr>
          <a:xfrm>
            <a:off x="6934200" y="6352877"/>
            <a:ext cx="454237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SKILL</a:t>
            </a:r>
            <a:endParaRPr lang="en-US" sz="1350" dirty="0"/>
          </a:p>
        </p:txBody>
      </p:sp>
      <p:sp>
        <p:nvSpPr>
          <p:cNvPr id="26" name="Text 24"/>
          <p:cNvSpPr/>
          <p:nvPr/>
        </p:nvSpPr>
        <p:spPr>
          <a:xfrm>
            <a:off x="12268200" y="2821260"/>
            <a:ext cx="4552188"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b="1" dirty="0">
                <a:solidFill>
                  <a:srgbClr val="000000"/>
                </a:solidFill>
                <a:latin typeface="Playfair Display" pitchFamily="34" charset="0"/>
                <a:ea typeface="Playfair Display" pitchFamily="34" charset="-122"/>
                <a:cs typeface="Playfair Display" pitchFamily="34" charset="-120"/>
              </a:rPr>
              <a:t>Just a </a:t>
            </a:r>
            <a:r>
              <a:rPr lang="en-US" sz="3750" b="1" i="1" dirty="0">
                <a:solidFill>
                  <a:srgbClr val="04CCBA"/>
                </a:solidFill>
                <a:latin typeface="Playfair Display" pitchFamily="34" charset="0"/>
                <a:ea typeface="Playfair Display" pitchFamily="34" charset="-122"/>
                <a:cs typeface="Playfair Display" pitchFamily="34" charset="-120"/>
              </a:rPr>
              <a:t>chat</a:t>
            </a:r>
            <a:endParaRPr lang="en-US" sz="3750" dirty="0"/>
          </a:p>
        </p:txBody>
      </p:sp>
      <p:sp>
        <p:nvSpPr>
          <p:cNvPr id="27" name="Text 25"/>
          <p:cNvSpPr/>
          <p:nvPr/>
        </p:nvSpPr>
        <p:spPr>
          <a:xfrm>
            <a:off x="12268200" y="3564210"/>
            <a:ext cx="4552188" cy="153144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i="1" dirty="0">
                <a:solidFill>
                  <a:srgbClr val="000000"/>
                </a:solidFill>
                <a:latin typeface="Libre Baskerville" pitchFamily="34" charset="0"/>
                <a:ea typeface="Libre Baskerville" pitchFamily="34" charset="-122"/>
                <a:cs typeface="Libre Baskerville" pitchFamily="34" charset="-120"/>
              </a:rPr>
              <a:t>If it's a one-off — a new trip, a single client, a quick question — start a chat inside an existing project.</a:t>
            </a:r>
            <a:endParaRPr lang="en-US" sz="2100" dirty="0"/>
          </a:p>
        </p:txBody>
      </p:sp>
      <p:sp>
        <p:nvSpPr>
          <p:cNvPr id="28" name="Shape 26"/>
          <p:cNvSpPr/>
          <p:nvPr/>
        </p:nvSpPr>
        <p:spPr>
          <a:xfrm>
            <a:off x="12268200" y="5324252"/>
            <a:ext cx="4419600" cy="9525"/>
          </a:xfrm>
          <a:prstGeom prst="rect">
            <a:avLst/>
          </a:prstGeom>
          <a:solidFill>
            <a:srgbClr val="111111"/>
          </a:solidFill>
          <a:ln/>
        </p:spPr>
        <p:txBody>
          <a:bodyPr/>
          <a:lstStyle/>
          <a:p>
            <a:endParaRPr lang="en-US"/>
          </a:p>
        </p:txBody>
      </p:sp>
      <p:sp>
        <p:nvSpPr>
          <p:cNvPr id="29" name="Text 27"/>
          <p:cNvSpPr/>
          <p:nvPr/>
        </p:nvSpPr>
        <p:spPr>
          <a:xfrm>
            <a:off x="12268200" y="5562377"/>
            <a:ext cx="455218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"Baylor Malaysia trip needs planning."</a:t>
            </a:r>
            <a:endParaRPr lang="en-US" sz="1800" dirty="0"/>
          </a:p>
        </p:txBody>
      </p:sp>
      <p:sp>
        <p:nvSpPr>
          <p:cNvPr id="30" name="Text 28"/>
          <p:cNvSpPr/>
          <p:nvPr/>
        </p:nvSpPr>
        <p:spPr>
          <a:xfrm>
            <a:off x="12268200" y="5958557"/>
            <a:ext cx="4552188"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CHAT IN UNIVERSITY PROGRAMS</a:t>
            </a:r>
            <a:endParaRPr lang="en-US" sz="1350" dirty="0"/>
          </a:p>
        </p:txBody>
      </p:sp>
      <p:sp>
        <p:nvSpPr>
          <p:cNvPr id="31" name="Shape 29"/>
          <p:cNvSpPr/>
          <p:nvPr/>
        </p:nvSpPr>
        <p:spPr>
          <a:xfrm>
            <a:off x="12268200" y="6465243"/>
            <a:ext cx="4419600" cy="9525"/>
          </a:xfrm>
          <a:prstGeom prst="rect">
            <a:avLst/>
          </a:prstGeom>
          <a:solidFill>
            <a:srgbClr val="111111"/>
          </a:solidFill>
          <a:ln/>
        </p:spPr>
        <p:txBody>
          <a:bodyPr/>
          <a:lstStyle/>
          <a:p>
            <a:endParaRPr lang="en-US"/>
          </a:p>
        </p:txBody>
      </p:sp>
      <p:sp>
        <p:nvSpPr>
          <p:cNvPr id="32" name="Text 30"/>
          <p:cNvSpPr/>
          <p:nvPr/>
        </p:nvSpPr>
        <p:spPr>
          <a:xfrm>
            <a:off x="12268200" y="6703368"/>
            <a:ext cx="4552188"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000000">
                    <a:alpha val="80000"/>
                  </a:srgbClr>
                </a:solidFill>
                <a:latin typeface="Libre Baskerville" pitchFamily="34" charset="0"/>
                <a:ea typeface="Libre Baskerville" pitchFamily="34" charset="-122"/>
                <a:cs typeface="Libre Baskerville" pitchFamily="34" charset="-120"/>
              </a:rPr>
              <a:t>"What's the cheapest way to move 42 students?"</a:t>
            </a:r>
            <a:endParaRPr lang="en-US" sz="1800" dirty="0"/>
          </a:p>
        </p:txBody>
      </p:sp>
      <p:sp>
        <p:nvSpPr>
          <p:cNvPr id="33" name="Text 31"/>
          <p:cNvSpPr/>
          <p:nvPr/>
        </p:nvSpPr>
        <p:spPr>
          <a:xfrm>
            <a:off x="12268200" y="7419529"/>
            <a:ext cx="4552188"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b="1" kern="0" spc="113" dirty="0">
                <a:solidFill>
                  <a:srgbClr val="029E90"/>
                </a:solidFill>
                <a:latin typeface="IBM Plex Mono" pitchFamily="34" charset="0"/>
                <a:ea typeface="IBM Plex Mono" pitchFamily="34" charset="-122"/>
                <a:cs typeface="IBM Plex Mono" pitchFamily="34" charset="-120"/>
              </a:rPr>
              <a:t>→ CHAT IN AIRLINE OPS</a:t>
            </a:r>
            <a:endParaRPr lang="en-US" sz="1350" dirty="0"/>
          </a:p>
        </p:txBody>
      </p:sp>
      <p:sp>
        <p:nvSpPr>
          <p:cNvPr id="34" name="Text 32"/>
          <p:cNvSpPr/>
          <p:nvPr/>
        </p:nvSpPr>
        <p:spPr>
          <a:xfrm>
            <a:off x="1143000" y="8751615"/>
            <a:ext cx="16482060" cy="39238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b="1" dirty="0">
                <a:solidFill>
                  <a:srgbClr val="000000">
                    <a:alpha val="70000"/>
                  </a:srgbClr>
                </a:solidFill>
                <a:latin typeface="Libre Baskerville" pitchFamily="34" charset="0"/>
                <a:ea typeface="Libre Baskerville" pitchFamily="34" charset="-122"/>
                <a:cs typeface="Libre Baskerville" pitchFamily="34" charset="-120"/>
              </a:rPr>
              <a:t>Rule of thumb: </a:t>
            </a:r>
            <a:r>
              <a:rPr lang="en-US" sz="1800" dirty="0">
                <a:solidFill>
                  <a:srgbClr val="000000">
                    <a:alpha val="70000"/>
                  </a:srgbClr>
                </a:solidFill>
                <a:latin typeface="Libre Baskerville" pitchFamily="34" charset="0"/>
                <a:ea typeface="Libre Baskerville" pitchFamily="34" charset="-122"/>
                <a:cs typeface="Libre Baskerville" pitchFamily="34" charset="-120"/>
              </a:rPr>
              <a:t>if Claude needs to </a:t>
            </a:r>
            <a:r>
              <a:rPr lang="en-US" sz="1800" i="1" dirty="0">
                <a:solidFill>
                  <a:srgbClr val="000000">
                    <a:alpha val="70000"/>
                  </a:srgbClr>
                </a:solidFill>
                <a:latin typeface="Libre Baskerville" pitchFamily="34" charset="0"/>
                <a:ea typeface="Libre Baskerville" pitchFamily="34" charset="-122"/>
                <a:cs typeface="Libre Baskerville" pitchFamily="34" charset="-120"/>
              </a:rPr>
              <a:t>remember</a:t>
            </a:r>
            <a:r>
              <a:rPr lang="en-US" sz="1800" dirty="0">
                <a:solidFill>
                  <a:srgbClr val="000000">
                    <a:alpha val="70000"/>
                  </a:srgbClr>
                </a:solidFill>
                <a:latin typeface="Libre Baskerville" pitchFamily="34" charset="0"/>
                <a:ea typeface="Libre Baskerville" pitchFamily="34" charset="-122"/>
                <a:cs typeface="Libre Baskerville" pitchFamily="34" charset="-120"/>
              </a:rPr>
              <a:t>, that's a project. If Claude needs to </a:t>
            </a:r>
            <a:r>
              <a:rPr lang="en-US" sz="1800" i="1" dirty="0">
                <a:solidFill>
                  <a:srgbClr val="000000">
                    <a:alpha val="70000"/>
                  </a:srgbClr>
                </a:solidFill>
                <a:latin typeface="Libre Baskerville" pitchFamily="34" charset="0"/>
                <a:ea typeface="Libre Baskerville" pitchFamily="34" charset="-122"/>
                <a:cs typeface="Libre Baskerville" pitchFamily="34" charset="-120"/>
              </a:rPr>
              <a:t>do</a:t>
            </a:r>
            <a:r>
              <a:rPr lang="en-US" sz="1800" dirty="0">
                <a:solidFill>
                  <a:srgbClr val="000000">
                    <a:alpha val="70000"/>
                  </a:srgbClr>
                </a:solidFill>
                <a:latin typeface="Libre Baskerville" pitchFamily="34" charset="0"/>
                <a:ea typeface="Libre Baskerville" pitchFamily="34" charset="-122"/>
                <a:cs typeface="Libre Baskerville" pitchFamily="34" charset="-120"/>
              </a:rPr>
              <a:t>, that's a skill. Everything else is just a chat.</a:t>
            </a:r>
            <a:endParaRPr lang="en-US" sz="1800" dirty="0"/>
          </a:p>
        </p:txBody>
      </p:sp>
      <p:sp>
        <p:nvSpPr>
          <p:cNvPr id="35" name="Text 33"/>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 name="TextBox 1">
            <a:extLst>
              <a:ext uri="{FF2B5EF4-FFF2-40B4-BE49-F238E27FC236}">
                <a16:creationId xmlns:a16="http://schemas.microsoft.com/office/drawing/2014/main" id="{A4361059-EBFA-A74D-BF85-4A3CBDA9FE63}"/>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22 / 23</a:t>
            </a:r>
          </a:p>
        </p:txBody>
      </p:sp>
    </p:spTree>
    <p:extLst>
      <p:ext uri="{BB962C8B-B14F-4D97-AF65-F5344CB8AC3E}">
        <p14:creationId xmlns:p14="http://schemas.microsoft.com/office/powerpoint/2010/main" val="3488812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name="Slide 19">
    <p:spTree>
      <p:nvGrpSpPr>
        <p:cNvPr id="1" name=""/>
        <p:cNvGrpSpPr/>
        <p:nvPr/>
      </p:nvGrpSpPr>
      <p:grpSpPr>
        <a:xfrm>
          <a:off x="0" y="0"/>
          <a:ext cx="0" cy="0"/>
          <a:chOff x="0" y="0"/>
          <a:chExt cx="0" cy="0"/>
        </a:xfrm>
      </p:grpSpPr>
      <p:sp>
        <p:nvSpPr>
          <p:cNvPr id="3" name="Text 1"/>
          <p:cNvSpPr/>
          <p:nvPr/>
        </p:nvSpPr>
        <p:spPr>
          <a:xfrm>
            <a:off x="1143000" y="952500"/>
            <a:ext cx="1648206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112" dirty="0">
                <a:solidFill>
                  <a:srgbClr val="000000"/>
                </a:solidFill>
                <a:latin typeface="Playfair Display" pitchFamily="34" charset="0"/>
                <a:ea typeface="Playfair Display" pitchFamily="34" charset="-122"/>
                <a:cs typeface="Playfair Display" pitchFamily="34" charset="-120"/>
              </a:rPr>
              <a:t>Sonnet is your default. Always.</a:t>
            </a:r>
            <a:endParaRPr lang="en-US" sz="4800" dirty="0"/>
          </a:p>
        </p:txBody>
      </p:sp>
      <p:sp>
        <p:nvSpPr>
          <p:cNvPr id="4" name="Shape 2"/>
          <p:cNvSpPr/>
          <p:nvPr/>
        </p:nvSpPr>
        <p:spPr>
          <a:xfrm>
            <a:off x="1143000" y="2316435"/>
            <a:ext cx="16002000" cy="7018065"/>
          </a:xfrm>
          <a:prstGeom prst="rect">
            <a:avLst/>
          </a:prstGeom>
          <a:solidFill>
            <a:srgbClr val="111111"/>
          </a:solidFill>
          <a:ln w="9525">
            <a:solidFill>
              <a:srgbClr val="111111"/>
            </a:solidFill>
            <a:prstDash val="solid"/>
          </a:ln>
        </p:spPr>
        <p:txBody>
          <a:bodyPr/>
          <a:lstStyle/>
          <a:p>
            <a:endParaRPr lang="en-US"/>
          </a:p>
        </p:txBody>
      </p:sp>
      <p:sp>
        <p:nvSpPr>
          <p:cNvPr id="5" name="Shape 3"/>
          <p:cNvSpPr/>
          <p:nvPr/>
        </p:nvSpPr>
        <p:spPr>
          <a:xfrm>
            <a:off x="1152525" y="2325960"/>
            <a:ext cx="5321275" cy="6999015"/>
          </a:xfrm>
          <a:prstGeom prst="rect">
            <a:avLst/>
          </a:prstGeom>
          <a:solidFill>
            <a:srgbClr val="FAFAF9"/>
          </a:solidFill>
          <a:ln/>
        </p:spPr>
        <p:txBody>
          <a:bodyPr/>
          <a:lstStyle/>
          <a:p>
            <a:endParaRPr lang="en-US"/>
          </a:p>
        </p:txBody>
      </p:sp>
      <p:sp>
        <p:nvSpPr>
          <p:cNvPr id="6" name="Text 4"/>
          <p:cNvSpPr/>
          <p:nvPr/>
        </p:nvSpPr>
        <p:spPr>
          <a:xfrm>
            <a:off x="1533525" y="2706960"/>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alpha val="60000"/>
                  </a:srgbClr>
                </a:solidFill>
                <a:latin typeface="IBM Plex Mono" pitchFamily="34" charset="0"/>
                <a:ea typeface="IBM Plex Mono" pitchFamily="34" charset="-122"/>
                <a:cs typeface="IBM Plex Mono" pitchFamily="34" charset="-120"/>
              </a:rPr>
              <a:t>FASTEST, LIGHTEST</a:t>
            </a:r>
            <a:endParaRPr lang="en-US" sz="1875" dirty="0"/>
          </a:p>
        </p:txBody>
      </p:sp>
      <p:sp>
        <p:nvSpPr>
          <p:cNvPr id="7" name="Text 5"/>
          <p:cNvSpPr/>
          <p:nvPr/>
        </p:nvSpPr>
        <p:spPr>
          <a:xfrm>
            <a:off x="1533525" y="3245123"/>
            <a:ext cx="4696053"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alpha val="55000"/>
                  </a:srgbClr>
                </a:solidFill>
                <a:latin typeface="Playfair Display" pitchFamily="34" charset="0"/>
                <a:ea typeface="Playfair Display" pitchFamily="34" charset="-122"/>
                <a:cs typeface="Playfair Display" pitchFamily="34" charset="-120"/>
              </a:rPr>
              <a:t>Haiku</a:t>
            </a:r>
            <a:endParaRPr lang="en-US" sz="3300" dirty="0"/>
          </a:p>
        </p:txBody>
      </p:sp>
      <p:sp>
        <p:nvSpPr>
          <p:cNvPr id="8" name="Text 6"/>
          <p:cNvSpPr/>
          <p:nvPr/>
        </p:nvSpPr>
        <p:spPr>
          <a:xfrm>
            <a:off x="1533525" y="4104233"/>
            <a:ext cx="4696053" cy="1100956"/>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00000">
                    <a:alpha val="60000"/>
                  </a:srgbClr>
                </a:solidFill>
                <a:latin typeface="Libre Baskerville" pitchFamily="34" charset="0"/>
                <a:ea typeface="Libre Baskerville" pitchFamily="34" charset="-122"/>
                <a:cs typeface="Libre Baskerville" pitchFamily="34" charset="-120"/>
              </a:rPr>
              <a:t>Quick lookups. Classification. Very high volume. Not enabled on your plan right now.</a:t>
            </a:r>
            <a:endParaRPr lang="en-US" sz="1800" dirty="0"/>
          </a:p>
        </p:txBody>
      </p:sp>
      <p:sp>
        <p:nvSpPr>
          <p:cNvPr id="9" name="Text 7"/>
          <p:cNvSpPr/>
          <p:nvPr/>
        </p:nvSpPr>
        <p:spPr>
          <a:xfrm>
            <a:off x="1533525" y="8396288"/>
            <a:ext cx="4696053"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alpha val="50000"/>
                  </a:srgbClr>
                </a:solidFill>
                <a:latin typeface="IBM Plex Mono" pitchFamily="34" charset="0"/>
                <a:ea typeface="IBM Plex Mono" pitchFamily="34" charset="-122"/>
                <a:cs typeface="IBM Plex Mono" pitchFamily="34" charset="-120"/>
              </a:rPr>
              <a:t>SKIP FOR NOW</a:t>
            </a:r>
            <a:endParaRPr lang="en-US" sz="1875" dirty="0"/>
          </a:p>
        </p:txBody>
      </p:sp>
      <p:sp>
        <p:nvSpPr>
          <p:cNvPr id="10" name="Shape 8"/>
          <p:cNvSpPr/>
          <p:nvPr/>
        </p:nvSpPr>
        <p:spPr>
          <a:xfrm>
            <a:off x="6483325" y="2325960"/>
            <a:ext cx="5321275" cy="6999015"/>
          </a:xfrm>
          <a:prstGeom prst="rect">
            <a:avLst/>
          </a:prstGeom>
          <a:solidFill>
            <a:srgbClr val="EDFAF9"/>
          </a:solidFill>
          <a:ln w="19050">
            <a:solidFill>
              <a:srgbClr val="04CCBA"/>
            </a:solidFill>
            <a:prstDash val="solid"/>
          </a:ln>
        </p:spPr>
        <p:txBody>
          <a:bodyPr/>
          <a:lstStyle/>
          <a:p>
            <a:endParaRPr lang="en-US"/>
          </a:p>
        </p:txBody>
      </p:sp>
      <p:sp>
        <p:nvSpPr>
          <p:cNvPr id="11" name="Text 9"/>
          <p:cNvSpPr/>
          <p:nvPr/>
        </p:nvSpPr>
        <p:spPr>
          <a:xfrm>
            <a:off x="6883375" y="2726010"/>
            <a:ext cx="465681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YOUR DEFAULT. ALWAYS.</a:t>
            </a:r>
            <a:endParaRPr lang="en-US" sz="1875" dirty="0"/>
          </a:p>
        </p:txBody>
      </p:sp>
      <p:sp>
        <p:nvSpPr>
          <p:cNvPr id="12" name="Text 10"/>
          <p:cNvSpPr/>
          <p:nvPr/>
        </p:nvSpPr>
        <p:spPr>
          <a:xfrm>
            <a:off x="6883375" y="3264173"/>
            <a:ext cx="4656810" cy="67813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37" dirty="0">
                <a:solidFill>
                  <a:srgbClr val="029E90"/>
                </a:solidFill>
                <a:latin typeface="Playfair Display" pitchFamily="34" charset="0"/>
                <a:ea typeface="Playfair Display" pitchFamily="34" charset="-122"/>
                <a:cs typeface="Playfair Display" pitchFamily="34" charset="-120"/>
              </a:rPr>
              <a:t>Sonnet 4.6</a:t>
            </a:r>
            <a:endParaRPr lang="en-US" sz="4800" dirty="0"/>
          </a:p>
        </p:txBody>
      </p:sp>
      <p:sp>
        <p:nvSpPr>
          <p:cNvPr id="13" name="Text 11"/>
          <p:cNvSpPr/>
          <p:nvPr/>
        </p:nvSpPr>
        <p:spPr>
          <a:xfrm>
            <a:off x="6883375" y="4323308"/>
            <a:ext cx="4656810" cy="1809527"/>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000000"/>
                </a:solidFill>
                <a:latin typeface="Libre Baskerville" pitchFamily="34" charset="0"/>
                <a:ea typeface="Libre Baskerville" pitchFamily="34" charset="-122"/>
                <a:cs typeface="Libre Baskerville" pitchFamily="34" charset="-120"/>
              </a:rPr>
              <a:t>Handles all Millennium daily work. Client emails. Itineraries. Vendor comms. Contract summaries. Proposal drafts. If you are unsure, use Sonnet.</a:t>
            </a:r>
            <a:endParaRPr lang="en-US" sz="1800" dirty="0"/>
          </a:p>
        </p:txBody>
      </p:sp>
      <p:sp>
        <p:nvSpPr>
          <p:cNvPr id="14" name="Text 12"/>
          <p:cNvSpPr/>
          <p:nvPr/>
        </p:nvSpPr>
        <p:spPr>
          <a:xfrm>
            <a:off x="6883375" y="8377238"/>
            <a:ext cx="465681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USE 95% OF THE TIME</a:t>
            </a:r>
            <a:endParaRPr lang="en-US" sz="1875" dirty="0"/>
          </a:p>
        </p:txBody>
      </p:sp>
      <p:sp>
        <p:nvSpPr>
          <p:cNvPr id="15" name="Shape 13"/>
          <p:cNvSpPr/>
          <p:nvPr/>
        </p:nvSpPr>
        <p:spPr>
          <a:xfrm>
            <a:off x="11814125" y="2325960"/>
            <a:ext cx="5321350" cy="6999015"/>
          </a:xfrm>
          <a:prstGeom prst="rect">
            <a:avLst/>
          </a:prstGeom>
          <a:solidFill>
            <a:srgbClr val="FFFFFF"/>
          </a:solidFill>
          <a:ln/>
        </p:spPr>
        <p:txBody>
          <a:bodyPr/>
          <a:lstStyle/>
          <a:p>
            <a:endParaRPr lang="en-US"/>
          </a:p>
        </p:txBody>
      </p:sp>
      <p:sp>
        <p:nvSpPr>
          <p:cNvPr id="16" name="Text 14"/>
          <p:cNvSpPr/>
          <p:nvPr/>
        </p:nvSpPr>
        <p:spPr>
          <a:xfrm>
            <a:off x="12195125" y="2706960"/>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MOST POWERFUL, USE SPARINGLY</a:t>
            </a:r>
            <a:endParaRPr lang="en-US" sz="1875" dirty="0"/>
          </a:p>
        </p:txBody>
      </p:sp>
      <p:sp>
        <p:nvSpPr>
          <p:cNvPr id="17" name="Text 15"/>
          <p:cNvSpPr/>
          <p:nvPr/>
        </p:nvSpPr>
        <p:spPr>
          <a:xfrm>
            <a:off x="12195125" y="3245123"/>
            <a:ext cx="4696130" cy="47811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b="1" kern="0" spc="-37" dirty="0">
                <a:solidFill>
                  <a:srgbClr val="000000"/>
                </a:solidFill>
                <a:latin typeface="Playfair Display" pitchFamily="34" charset="0"/>
                <a:ea typeface="Playfair Display" pitchFamily="34" charset="-122"/>
                <a:cs typeface="Playfair Display" pitchFamily="34" charset="-120"/>
              </a:rPr>
              <a:t>Opus 4.7</a:t>
            </a:r>
            <a:endParaRPr lang="en-US" sz="3300" dirty="0"/>
          </a:p>
        </p:txBody>
      </p:sp>
      <p:sp>
        <p:nvSpPr>
          <p:cNvPr id="18" name="Text 16"/>
          <p:cNvSpPr/>
          <p:nvPr/>
        </p:nvSpPr>
        <p:spPr>
          <a:xfrm>
            <a:off x="12195125" y="4104233"/>
            <a:ext cx="4696130" cy="1455241"/>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00000"/>
                </a:solidFill>
                <a:latin typeface="Libre Baskerville" pitchFamily="34" charset="0"/>
                <a:ea typeface="Libre Baskerville" pitchFamily="34" charset="-122"/>
                <a:cs typeface="Libre Baskerville" pitchFamily="34" charset="-120"/>
              </a:rPr>
              <a:t>Save for genuinely complex work. Multi-document contract analysis. Long-form strategy. Financial modelling across many files.</a:t>
            </a:r>
            <a:endParaRPr lang="en-US" sz="1800" dirty="0"/>
          </a:p>
        </p:txBody>
      </p:sp>
      <p:sp>
        <p:nvSpPr>
          <p:cNvPr id="19" name="Text 17"/>
          <p:cNvSpPr/>
          <p:nvPr/>
        </p:nvSpPr>
        <p:spPr>
          <a:xfrm>
            <a:off x="12195125" y="8396288"/>
            <a:ext cx="4696130" cy="347663"/>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029E90"/>
                </a:solidFill>
                <a:latin typeface="IBM Plex Mono" pitchFamily="34" charset="0"/>
                <a:ea typeface="IBM Plex Mono" pitchFamily="34" charset="-122"/>
                <a:cs typeface="IBM Plex Mono" pitchFamily="34" charset="-120"/>
              </a:rPr>
              <a:t>COMPLEX CONTRACTS ONLY</a:t>
            </a:r>
            <a:endParaRPr lang="en-US" sz="1875" dirty="0"/>
          </a:p>
        </p:txBody>
      </p:sp>
      <p:sp>
        <p:nvSpPr>
          <p:cNvPr id="20" name="Text 18"/>
          <p:cNvSpPr/>
          <p:nvPr/>
        </p:nvSpPr>
        <p:spPr>
          <a:xfrm>
            <a:off x="1143000" y="9705975"/>
            <a:ext cx="2958938" cy="238125"/>
          </a:xfrm>
          <a:prstGeom prst="rect">
            <a:avLst/>
          </a:prstGeom>
          <a:noFill/>
          <a:ln/>
        </p:spPr>
        <p:txBody>
          <a:bodyPr wrap="square" lIns="25400" tIns="25400" rIns="25400" bIns="25400" rtlCol="0" anchor="t">
            <a:norm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ALLENIX · MILLENNIUM TOURS</a:t>
            </a:r>
            <a:endParaRPr lang="en-US" sz="1200" dirty="0"/>
          </a:p>
        </p:txBody>
      </p:sp>
      <p:sp>
        <p:nvSpPr>
          <p:cNvPr id="21" name="TextBox 20">
            <a:extLst>
              <a:ext uri="{FF2B5EF4-FFF2-40B4-BE49-F238E27FC236}">
                <a16:creationId xmlns:a16="http://schemas.microsoft.com/office/drawing/2014/main" id="{46F5FAD7-12E2-CF42-810D-7ECC0E29C78E}"/>
              </a:ext>
            </a:extLst>
          </p:cNvPr>
          <p:cNvSpPr txBox="1"/>
          <p:nvPr/>
        </p:nvSpPr>
        <p:spPr>
          <a:xfrm>
            <a:off x="16370300" y="9702800"/>
            <a:ext cx="850900" cy="241300"/>
          </a:xfrm>
          <a:prstGeom prst="rect">
            <a:avLst/>
          </a:prstGeom>
          <a:noFill/>
        </p:spPr>
        <p:txBody>
          <a:bodyPr vertOverflow="overflow" vert="horz" wrap="none" rtlCol="0" anchor="t">
            <a:noAutofit/>
          </a:bodyPr>
          <a:lstStyle/>
          <a:p>
            <a:pPr marL="0" indent="0" algn="l">
              <a:buNone/>
            </a:pPr>
            <a:r>
              <a:rPr lang="en-US" sz="1200" kern="0" spc="150" dirty="0">
                <a:solidFill>
                  <a:srgbClr val="000000"/>
                </a:solidFill>
                <a:latin typeface="IBM Plex Mono" pitchFamily="34" charset="0"/>
                <a:ea typeface="IBM Plex Mono" pitchFamily="34" charset="-122"/>
                <a:cs typeface="IBM Plex Mono" pitchFamily="34" charset="-120"/>
              </a:rPr>
              <a:t>23 / 23</a:t>
            </a:r>
          </a:p>
        </p:txBody>
      </p:sp>
    </p:spTree>
    <p:extLst>
      <p:ext uri="{BB962C8B-B14F-4D97-AF65-F5344CB8AC3E}">
        <p14:creationId xmlns:p14="http://schemas.microsoft.com/office/powerpoint/2010/main" val="115062082"/>
      </p:ext>
    </p:extLst>
  </p:cSld>
  <p:clrMapOvr>
    <a:masterClrMapping/>
  </p:clrMapOvr>
</p:sld>
</file>

<file path=ppt/theme/theme1.xml><?xml version="1.0" encoding="utf-8"?>
<a:theme xmlns:a="http://schemas.openxmlformats.org/drawingml/2006/main" name="Office Theme [177726089195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94ACF4-1175-334E-BFC8-2D6F63DC89A7}">
  <we:reference id="wa200010001" version="1.0.0.1" store="en-US" storeType="OMEX"/>
  <we:alternateReferences>
    <we:reference id="WA200010001" version="1.0.0.1" store="" storeType="OMEX"/>
  </we:alternateReferences>
  <we:properties>
    <we:property name="claude.fileId" value="&quot;265fa856-e3a4-481f-b6c7-d0026f4a58b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290</TotalTime>
  <Words>3048</Words>
  <Application>Microsoft Macintosh PowerPoint</Application>
  <PresentationFormat>Custom</PresentationFormat>
  <Paragraphs>441</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IBM Plex Mono</vt:lpstr>
      <vt:lpstr>Libre Baskerville</vt:lpstr>
      <vt:lpstr>Playfair Display</vt:lpstr>
      <vt:lpstr>Office Theme [1777260891959]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Mamujee</cp:lastModifiedBy>
  <cp:revision>6</cp:revision>
  <dcterms:created xsi:type="dcterms:W3CDTF">2026-04-27T01:57:24Z</dcterms:created>
  <dcterms:modified xsi:type="dcterms:W3CDTF">2026-04-27T17:10:35Z</dcterms:modified>
</cp:coreProperties>
</file>