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6"/>
    <a:srgbClr val="04C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78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DBEA7-154B-EA46-0704-C13D7BAF8F59}"/>
              </a:ext>
            </a:extLst>
          </p:cNvPr>
          <p:cNvSpPr txBox="1"/>
          <p:nvPr userDrawn="1"/>
        </p:nvSpPr>
        <p:spPr>
          <a:xfrm>
            <a:off x="8570135" y="4785539"/>
            <a:ext cx="4792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F34A379-6B91-394C-8F17-EF0F5E0718D1}" type="slidenum">
              <a:rPr lang="en-US" sz="10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ali@alimamuje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m-doc-templat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731520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Wiring AI Into How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04CC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4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Companies Grow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with JR Reale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Ali Mamujee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6561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Houstonian with 20 years of investment and operator experience.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9422" y="2452903"/>
            <a:ext cx="4572000" cy="38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MY UNIQUE VALUE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9422" y="2895701"/>
            <a:ext cx="54864" cy="553212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2302" y="287110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markets foundation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2302" y="314542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IB, PE, and venture-backed fundamentals. Strong valuations background.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9422" y="3490061"/>
            <a:ext cx="54864" cy="553212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2302" y="346546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Builder: 11 years, one company, 9-figure exit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2302" y="373978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#5 at Mercatus. 9 figure exit. Built GTM from zero. Owned Strategy, Product, and Marketing. Acquired by State Street in 2021.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9422" y="4084421"/>
            <a:ext cx="54864" cy="553212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2302" y="405982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operator since 2021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2302" y="4334144"/>
            <a:ext cx="8229600" cy="30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AI private markets initiatives in State Street and obsessed about AI ever since.</a:t>
            </a:r>
            <a:endParaRPr lang="en-US" sz="105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77729F-29A8-8841-46BD-19BB9FF760B7}"/>
              </a:ext>
            </a:extLst>
          </p:cNvPr>
          <p:cNvGrpSpPr/>
          <p:nvPr/>
        </p:nvGrpSpPr>
        <p:grpSpPr>
          <a:xfrm>
            <a:off x="399394" y="1241758"/>
            <a:ext cx="8464663" cy="1230414"/>
            <a:chOff x="72104" y="1371600"/>
            <a:chExt cx="9433084" cy="1344583"/>
          </a:xfrm>
        </p:grpSpPr>
        <p:sp>
          <p:nvSpPr>
            <p:cNvPr id="5" name="Shape 3"/>
            <p:cNvSpPr/>
            <p:nvPr/>
          </p:nvSpPr>
          <p:spPr>
            <a:xfrm>
              <a:off x="3392424" y="1700784"/>
              <a:ext cx="4553712" cy="146304"/>
            </a:xfrm>
            <a:prstGeom prst="rect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6818513" y="1874520"/>
              <a:ext cx="0" cy="502920"/>
            </a:xfrm>
            <a:prstGeom prst="line">
              <a:avLst/>
            </a:prstGeom>
            <a:noFill/>
            <a:ln w="12700">
              <a:solidFill>
                <a:srgbClr val="0D0D0D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918419DC-F5AF-11BB-526A-E36A14C25FA2}"/>
                </a:ext>
              </a:extLst>
            </p:cNvPr>
            <p:cNvSpPr/>
            <p:nvPr/>
          </p:nvSpPr>
          <p:spPr>
            <a:xfrm>
              <a:off x="6752844" y="1394460"/>
              <a:ext cx="275234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dirty="0">
                  <a:solidFill>
                    <a:srgbClr val="0D0D0D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Pricing I/O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640080" y="1783080"/>
              <a:ext cx="7863840" cy="0"/>
            </a:xfrm>
            <a:prstGeom prst="line">
              <a:avLst/>
            </a:prstGeom>
            <a:noFill/>
            <a:ln w="12700">
              <a:solidFill>
                <a:srgbClr val="BBBBB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3631417" y="1371600"/>
              <a:ext cx="43251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dirty="0">
                  <a:solidFill>
                    <a:srgbClr val="0D0D0D"/>
                  </a:solidFill>
                  <a:latin typeface="Georgia" panose="02040502050405020303" pitchFamily="18" charset="0"/>
                  <a:ea typeface="Georgia" pitchFamily="34" charset="-122"/>
                  <a:cs typeface="Georgia" pitchFamily="34" charset="-120"/>
                </a:rPr>
                <a:t>Mercatus – SaaS Fintech for PE Investors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168046" y="2363308"/>
              <a:ext cx="1280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kern="0" spc="100" dirty="0">
                  <a:solidFill>
                    <a:srgbClr val="0D0D0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STATE STREET</a:t>
              </a:r>
              <a:endParaRPr lang="en-US" sz="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6178433" y="2515015"/>
              <a:ext cx="12801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Acquired 2021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0080" y="1746504"/>
              <a:ext cx="2752344" cy="73152"/>
            </a:xfrm>
            <a:prstGeom prst="rect">
              <a:avLst/>
            </a:prstGeom>
            <a:solidFill>
              <a:srgbClr val="555555"/>
            </a:solidFill>
            <a:ln w="12700">
              <a:solidFill>
                <a:srgbClr val="55555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640080" y="1399032"/>
              <a:ext cx="275234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kern="0" dirty="0">
                  <a:solidFill>
                    <a:srgbClr val="0D0D0D"/>
                  </a:solidFill>
                  <a:latin typeface="Georgia" panose="02040502050405020303" pitchFamily="18" charset="0"/>
                  <a:ea typeface="Calibri" pitchFamily="34" charset="-122"/>
                  <a:cs typeface="Calibri" pitchFamily="34" charset="-120"/>
                </a:rPr>
                <a:t>Cleantech - IB / PE / VC</a:t>
              </a:r>
              <a:endParaRPr lang="en-US" sz="1000" dirty="0">
                <a:latin typeface="Georgia" panose="02040502050405020303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457200" y="1954696"/>
              <a:ext cx="311810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Frog Capital, Element Markets, UBS, VERT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430768" y="1709928"/>
              <a:ext cx="146304" cy="146304"/>
            </a:xfrm>
            <a:prstGeom prst="ellipse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079284" y="1673352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0D0D0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2026</a:t>
              </a:r>
              <a:endParaRPr lang="en-US" sz="1000" dirty="0"/>
            </a:p>
          </p:txBody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A7DBD6A3-A490-9EF4-5B23-A9FFE13EE66E}"/>
                </a:ext>
              </a:extLst>
            </p:cNvPr>
            <p:cNvSpPr/>
            <p:nvPr/>
          </p:nvSpPr>
          <p:spPr>
            <a:xfrm>
              <a:off x="7946136" y="1753153"/>
              <a:ext cx="484632" cy="45719"/>
            </a:xfrm>
            <a:prstGeom prst="rect">
              <a:avLst/>
            </a:prstGeom>
            <a:solidFill>
              <a:srgbClr val="555555"/>
            </a:solidFill>
            <a:ln w="12700">
              <a:solidFill>
                <a:srgbClr val="55555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C004E9B0-E58D-9681-F988-820D93D14541}"/>
                </a:ext>
              </a:extLst>
            </p:cNvPr>
            <p:cNvSpPr/>
            <p:nvPr/>
          </p:nvSpPr>
          <p:spPr>
            <a:xfrm>
              <a:off x="72104" y="1680278"/>
              <a:ext cx="469232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b="1" dirty="0">
                  <a:solidFill>
                    <a:srgbClr val="0D0D0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2006</a:t>
              </a:r>
              <a:endParaRPr lang="en-US" sz="8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11805" y="1955788"/>
              <a:ext cx="4873752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 years building strategy, GTM, and product</a:t>
              </a:r>
              <a:endParaRPr lang="en-US" sz="1100" dirty="0"/>
            </a:p>
          </p:txBody>
        </p:sp>
      </p:grpSp>
      <p:sp>
        <p:nvSpPr>
          <p:cNvPr id="35" name="Text 6">
            <a:extLst>
              <a:ext uri="{FF2B5EF4-FFF2-40B4-BE49-F238E27FC236}">
                <a16:creationId xmlns:a16="http://schemas.microsoft.com/office/drawing/2014/main" id="{A9B22ABF-D222-E238-FE1F-0526E5551E3E}"/>
              </a:ext>
            </a:extLst>
          </p:cNvPr>
          <p:cNvSpPr/>
          <p:nvPr/>
        </p:nvSpPr>
        <p:spPr>
          <a:xfrm>
            <a:off x="6983169" y="1798144"/>
            <a:ext cx="1357599" cy="18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Advisor, VP Growth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0667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great company does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1272941"/>
            <a:ext cx="2743200" cy="6858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1272941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CREATES </a:t>
            </a:r>
          </a:p>
          <a:p>
            <a:pPr marL="0" indent="0" algn="ctr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VALUE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0" y="1958741"/>
            <a:ext cx="0" cy="18288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57400" y="2141621"/>
            <a:ext cx="5029200" cy="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57400" y="2141621"/>
            <a:ext cx="0" cy="27432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86600" y="2141621"/>
            <a:ext cx="0" cy="274320"/>
          </a:xfrm>
          <a:prstGeom prst="line">
            <a:avLst/>
          </a:prstGeom>
          <a:noFill/>
          <a:ln w="19050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370221"/>
            <a:ext cx="2651760" cy="2067780"/>
          </a:xfrm>
          <a:prstGeom prst="rect">
            <a:avLst/>
          </a:prstGeom>
          <a:solidFill>
            <a:srgbClr val="FBF9F6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370221"/>
            <a:ext cx="2651760" cy="54864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59881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Communicates Unique Value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056019"/>
            <a:ext cx="2286000" cy="0"/>
          </a:xfrm>
          <a:prstGeom prst="line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19317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5893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92469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2370221"/>
            <a:ext cx="2651760" cy="2067780"/>
          </a:xfrm>
          <a:prstGeom prst="rect">
            <a:avLst/>
          </a:prstGeom>
          <a:solidFill>
            <a:srgbClr val="FAF9F6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2370221"/>
            <a:ext cx="2651760" cy="54864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0" y="25884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Unique Value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0" y="3045628"/>
            <a:ext cx="2286000" cy="0"/>
          </a:xfrm>
          <a:prstGeom prst="line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31827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35485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0" y="39143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35A398D8-114E-60E6-46A6-032551A4445C}"/>
              </a:ext>
            </a:extLst>
          </p:cNvPr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START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7722591C-0DDD-D3AB-A617-9B05269F9184}"/>
              </a:ext>
            </a:extLst>
          </p:cNvPr>
          <p:cNvGrpSpPr/>
          <p:nvPr/>
        </p:nvGrpSpPr>
        <p:grpSpPr>
          <a:xfrm flipH="1">
            <a:off x="4580023" y="885011"/>
            <a:ext cx="4102774" cy="2369127"/>
            <a:chOff x="365751" y="876992"/>
            <a:chExt cx="4102774" cy="2369127"/>
          </a:xfrm>
        </p:grpSpPr>
        <p:sp>
          <p:nvSpPr>
            <p:cNvPr id="58" name="Shape 3">
              <a:extLst>
                <a:ext uri="{FF2B5EF4-FFF2-40B4-BE49-F238E27FC236}">
                  <a16:creationId xmlns:a16="http://schemas.microsoft.com/office/drawing/2014/main" id="{6F576AD6-44AB-9D3B-B62B-811308D68C77}"/>
                </a:ext>
              </a:extLst>
            </p:cNvPr>
            <p:cNvSpPr/>
            <p:nvPr/>
          </p:nvSpPr>
          <p:spPr>
            <a:xfrm rot="5400000" flipH="1">
              <a:off x="-178730" y="1421473"/>
              <a:ext cx="2369127" cy="1280165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7">
              <a:extLst>
                <a:ext uri="{FF2B5EF4-FFF2-40B4-BE49-F238E27FC236}">
                  <a16:creationId xmlns:a16="http://schemas.microsoft.com/office/drawing/2014/main" id="{7AA35391-B8F6-C0D3-D978-43E7A0B510A4}"/>
                </a:ext>
              </a:extLst>
            </p:cNvPr>
            <p:cNvSpPr/>
            <p:nvPr/>
          </p:nvSpPr>
          <p:spPr>
            <a:xfrm rot="5400000" flipH="1">
              <a:off x="1573685" y="1386563"/>
              <a:ext cx="1648415" cy="1344169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11">
              <a:extLst>
                <a:ext uri="{FF2B5EF4-FFF2-40B4-BE49-F238E27FC236}">
                  <a16:creationId xmlns:a16="http://schemas.microsoft.com/office/drawing/2014/main" id="{23B768DE-B058-1C24-331A-972B8606F5CF}"/>
                </a:ext>
              </a:extLst>
            </p:cNvPr>
            <p:cNvSpPr/>
            <p:nvPr/>
          </p:nvSpPr>
          <p:spPr>
            <a:xfrm rot="5400000" flipH="1">
              <a:off x="3323933" y="1417532"/>
              <a:ext cx="972452" cy="1316733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 1"/>
          <p:cNvSpPr/>
          <p:nvPr/>
        </p:nvSpPr>
        <p:spPr>
          <a:xfrm>
            <a:off x="587142" y="92806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dirty="0">
                <a:latin typeface="Georgia" panose="02040502050405020303" pitchFamily="18" charset="0"/>
                <a:cs typeface="Calibri" pitchFamily="34" charset="-120"/>
              </a:rPr>
              <a:t>Communicate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26227" y="94813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>
              <a:latin typeface="Georgia" panose="02040502050405020303" pitchFamily="18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5E8AB4D-4DA3-E1CA-61FC-E5C6A2D8D551}"/>
              </a:ext>
            </a:extLst>
          </p:cNvPr>
          <p:cNvGrpSpPr/>
          <p:nvPr/>
        </p:nvGrpSpPr>
        <p:grpSpPr>
          <a:xfrm>
            <a:off x="365751" y="876992"/>
            <a:ext cx="4122024" cy="2369127"/>
            <a:chOff x="365751" y="876992"/>
            <a:chExt cx="4122024" cy="2369127"/>
          </a:xfrm>
        </p:grpSpPr>
        <p:sp>
          <p:nvSpPr>
            <p:cNvPr id="5" name="Shape 3"/>
            <p:cNvSpPr/>
            <p:nvPr/>
          </p:nvSpPr>
          <p:spPr>
            <a:xfrm rot="5400000" flipH="1">
              <a:off x="-178730" y="1421473"/>
              <a:ext cx="2369127" cy="1280165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 rot="5400000" flipH="1">
              <a:off x="1592935" y="1386563"/>
              <a:ext cx="1648415" cy="1344169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1"/>
            <p:cNvSpPr/>
            <p:nvPr/>
          </p:nvSpPr>
          <p:spPr>
            <a:xfrm rot="5400000" flipH="1">
              <a:off x="3343183" y="1417532"/>
              <a:ext cx="972452" cy="1316733"/>
            </a:xfrm>
            <a:prstGeom prst="trapezoid">
              <a:avLst/>
            </a:prstGeom>
            <a:solidFill>
              <a:srgbClr val="04CCBA"/>
            </a:solidFill>
            <a:ln w="12700">
              <a:solidFill>
                <a:srgbClr val="04CCB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hape 4"/>
          <p:cNvSpPr/>
          <p:nvPr/>
        </p:nvSpPr>
        <p:spPr>
          <a:xfrm>
            <a:off x="457200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56232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10512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5264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55264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9544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54296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54296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8576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53328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07608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1824228"/>
            <a:ext cx="1143000" cy="27432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18242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2009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36790" y="1143000"/>
            <a:ext cx="0" cy="196596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1480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Identified to MQL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Content/Blog</a:t>
            </a:r>
            <a:endParaRPr lang="en-US" sz="1000" dirty="0">
              <a:latin typeface="Georgia" panose="02040502050405020303" pitchFamily="18" charset="0"/>
            </a:endParaRPr>
          </a:p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Newsletter</a:t>
            </a:r>
            <a:endParaRPr lang="en-US" sz="1000" dirty="0">
              <a:latin typeface="Georgia" panose="02040502050405020303" pitchFamily="18" charset="0"/>
            </a:endParaRPr>
          </a:p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Podcast</a:t>
            </a:r>
            <a:endParaRPr lang="en-US" sz="1000" dirty="0">
              <a:latin typeface="Georgia" panose="02040502050405020303" pitchFamily="18" charset="0"/>
            </a:endParaRPr>
          </a:p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>
              <a:latin typeface="Georgia" panose="02040502050405020303" pitchFamily="18" charset="0"/>
            </a:endParaRPr>
          </a:p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>
              <a:latin typeface="Georgia" panose="02040502050405020303" pitchFamily="18" charset="0"/>
            </a:endParaRPr>
          </a:p>
          <a:p>
            <a:pPr marL="179388" indent="-169863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Webinars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764792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764792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810512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MQL to SQL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856232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04775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Website Visitors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04775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Lead Magnets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04775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Form Subs.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04775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Services Page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04775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Referral Intros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163824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63824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09544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SQL to Close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55264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Discovery Call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62856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62856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08576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Close to Onboard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654296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961888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1888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007608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Onboard to Impact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053328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NPS/Testimonial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ROI Documentation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cs typeface="Calibri" pitchFamily="34" charset="-120"/>
              </a:rPr>
              <a:t>Client Innovation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360920" y="3691292"/>
            <a:ext cx="1325880" cy="1337908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360920" y="3371252"/>
            <a:ext cx="1325880" cy="320040"/>
          </a:xfrm>
          <a:prstGeom prst="rect">
            <a:avLst/>
          </a:prstGeom>
          <a:solidFill>
            <a:srgbClr val="0D0D0D"/>
          </a:solidFill>
          <a:ln w="9525">
            <a:solidFill>
              <a:srgbClr val="0D0D0D"/>
            </a:solidFill>
            <a:prstDash val="solid"/>
          </a:ln>
        </p:spPr>
        <p:txBody>
          <a:bodyPr/>
          <a:lstStyle/>
          <a:p>
            <a:endParaRPr 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406640" y="33712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Impact to Grow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52360" y="3808406"/>
            <a:ext cx="1188720" cy="122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Referral Ask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New Engagement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Check-in Cadence</a:t>
            </a:r>
            <a:endParaRPr lang="en-US" sz="1000" dirty="0">
              <a:latin typeface="Georgia" panose="02040502050405020303" pitchFamily="18" charset="0"/>
            </a:endParaRP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Client Workship</a:t>
            </a:r>
          </a:p>
          <a:p>
            <a:pPr marL="114300" indent="-1143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Cross-Sell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54" name="Text 0">
            <a:extLst>
              <a:ext uri="{FF2B5EF4-FFF2-40B4-BE49-F238E27FC236}">
                <a16:creationId xmlns:a16="http://schemas.microsoft.com/office/drawing/2014/main" id="{8D87544A-C56F-3290-DD9E-9A4E39D66921}"/>
              </a:ext>
            </a:extLst>
          </p:cNvPr>
          <p:cNvSpPr/>
          <p:nvPr/>
        </p:nvSpPr>
        <p:spPr>
          <a:xfrm>
            <a:off x="365750" y="299466"/>
            <a:ext cx="7674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dirty="0">
                <a:latin typeface="Georgia" panose="02040502050405020303" pitchFamily="18" charset="0"/>
                <a:cs typeface="Calibri" pitchFamily="34" charset="-120"/>
              </a:rPr>
              <a:t>How I Architect &amp; Diagnose Companies Top Issues</a:t>
            </a:r>
            <a:endParaRPr lang="en-US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Most Common AI Automation driving real value right now</a:t>
            </a:r>
            <a:endParaRPr lang="en-US" sz="2000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191B4AD-1454-4B2B-3C37-DF11000CCF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348953"/>
              </p:ext>
            </p:extLst>
          </p:nvPr>
        </p:nvGraphicFramePr>
        <p:xfrm>
          <a:off x="365760" y="856648"/>
          <a:ext cx="8325855" cy="3759769"/>
        </p:xfrm>
        <a:graphic>
          <a:graphicData uri="http://schemas.openxmlformats.org/drawingml/2006/table">
            <a:tbl>
              <a:tblPr/>
              <a:tblGrid>
                <a:gridCol w="1357162">
                  <a:extLst>
                    <a:ext uri="{9D8B030D-6E8A-4147-A177-3AD203B41FA5}">
                      <a16:colId xmlns:a16="http://schemas.microsoft.com/office/drawing/2014/main" val="1662500837"/>
                    </a:ext>
                  </a:extLst>
                </a:gridCol>
                <a:gridCol w="1703672">
                  <a:extLst>
                    <a:ext uri="{9D8B030D-6E8A-4147-A177-3AD203B41FA5}">
                      <a16:colId xmlns:a16="http://schemas.microsoft.com/office/drawing/2014/main" val="943956306"/>
                    </a:ext>
                  </a:extLst>
                </a:gridCol>
                <a:gridCol w="1934679">
                  <a:extLst>
                    <a:ext uri="{9D8B030D-6E8A-4147-A177-3AD203B41FA5}">
                      <a16:colId xmlns:a16="http://schemas.microsoft.com/office/drawing/2014/main" val="3167465812"/>
                    </a:ext>
                  </a:extLst>
                </a:gridCol>
                <a:gridCol w="1934676">
                  <a:extLst>
                    <a:ext uri="{9D8B030D-6E8A-4147-A177-3AD203B41FA5}">
                      <a16:colId xmlns:a16="http://schemas.microsoft.com/office/drawing/2014/main" val="3169710241"/>
                    </a:ext>
                  </a:extLst>
                </a:gridCol>
                <a:gridCol w="1395666">
                  <a:extLst>
                    <a:ext uri="{9D8B030D-6E8A-4147-A177-3AD203B41FA5}">
                      <a16:colId xmlns:a16="http://schemas.microsoft.com/office/drawing/2014/main" val="3002521148"/>
                    </a:ext>
                  </a:extLst>
                </a:gridCol>
              </a:tblGrid>
              <a:tr h="308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Stage</a:t>
                      </a:r>
                      <a:endParaRPr lang="en-US" sz="1100" dirty="0">
                        <a:solidFill>
                          <a:srgbClr val="FFFFF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Category</a:t>
                      </a:r>
                      <a:endParaRPr lang="en-US" sz="1100" dirty="0">
                        <a:solidFill>
                          <a:srgbClr val="FFFFF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Business Outcome</a:t>
                      </a:r>
                      <a:endParaRPr lang="en-US" sz="1100" dirty="0">
                        <a:solidFill>
                          <a:srgbClr val="FFFFF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High Impact Use Case</a:t>
                      </a:r>
                      <a:endParaRPr lang="en-US" sz="1100" dirty="0">
                        <a:solidFill>
                          <a:srgbClr val="FFFFF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Georgia" panose="02040502050405020303" pitchFamily="18" charset="0"/>
                        </a:rPr>
                        <a:t>AI Tools</a:t>
                      </a:r>
                      <a:endParaRPr lang="en-US" sz="1100" dirty="0">
                        <a:solidFill>
                          <a:srgbClr val="FFFFF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797109"/>
                  </a:ext>
                </a:extLst>
              </a:tr>
              <a:tr h="6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</a:rPr>
                        <a:t>1. More Leads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SEO, Website, Lead Magnet, GTM Engineering, Content Strategy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Drive organic traffic and identify high-intent visitors before they fill a form.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B2B SaaS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: Auto-creating 50+ SEO landing pages from real-time competitor keyword gaps and search trends.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719846"/>
                  </a:ext>
                </a:extLst>
              </a:tr>
              <a:tr h="6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</a:rPr>
                        <a:t>2. Speed to Lead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Automated and scalable omnichannel Qualification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Instant 24/7 response via voice, SMS, or email to qualify and book demos.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Home Services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: AI voice agent calling leads at website submission, qualifying budget, and booking directly into the CRM.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00563"/>
                  </a:ext>
                </a:extLst>
              </a:tr>
              <a:tr h="6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</a:rPr>
                        <a:t>3. Document Processing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Fulfillment, Onboarding, Contracts, Invoices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Remove the manual paperwork wall between signed contract and service delivery. Efficiency and risk mitigation.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Legal Firm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: Auto-extracting line items from 200+ weekly PDFs and syncing to accounting to trigger kickoffs.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851161"/>
                  </a:ext>
                </a:extLst>
              </a:tr>
              <a:tr h="6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</a:rPr>
                        <a:t>4. Database Reactivation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LTV, Retention, Win-Backs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Identify and re-engage dormant leads with zero additional ad spend.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Gym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: AI scans the CRM for 6-month dormant customers and sends personalized win-back offers.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553685"/>
                  </a:ext>
                </a:extLst>
              </a:tr>
              <a:tr h="690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effectLst/>
                          <a:latin typeface="Calibri" panose="020F0502020204030204" pitchFamily="34" charset="0"/>
                        </a:rPr>
                        <a:t>5. Internal Reporting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Operations, KPIs, Anomaly Detection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Real-time visibility into funnel clogs via proactive Slack or email alerts.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Sales Leadership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: Daily Slack report flagging stalled deals, client needs, and alerting the VP of Sales to conversion bottlenecks.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500" dirty="0">
                        <a:solidFill>
                          <a:srgbClr val="333333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63515"/>
                  </a:ext>
                </a:extLst>
              </a:tr>
            </a:tbl>
          </a:graphicData>
        </a:graphic>
      </p:graphicFrame>
      <p:pic>
        <p:nvPicPr>
          <p:cNvPr id="1026" name="Picture 2" descr="Just realized the Claude logo is Kurt Vonnegut's drawing of ...">
            <a:extLst>
              <a:ext uri="{FF2B5EF4-FFF2-40B4-BE49-F238E27FC236}">
                <a16:creationId xmlns:a16="http://schemas.microsoft.com/office/drawing/2014/main" id="{B13C5D5D-3EEC-D71D-ADA0-1B475E4F3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307" y="1250514"/>
            <a:ext cx="521570" cy="52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 Gemini Logo, symbol, meaning, history, PNG, brand">
            <a:extLst>
              <a:ext uri="{FF2B5EF4-FFF2-40B4-BE49-F238E27FC236}">
                <a16:creationId xmlns:a16="http://schemas.microsoft.com/office/drawing/2014/main" id="{FDFC1E05-54F5-86B2-6B9F-FECDCC4E8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344" y="1591683"/>
            <a:ext cx="608530" cy="34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8n logo transparent PNG - StickPNG">
            <a:extLst>
              <a:ext uri="{FF2B5EF4-FFF2-40B4-BE49-F238E27FC236}">
                <a16:creationId xmlns:a16="http://schemas.microsoft.com/office/drawing/2014/main" id="{7AA03FF3-EB1A-96E0-ED4A-D9F5472532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2" b="33558"/>
          <a:stretch>
            <a:fillRect/>
          </a:stretch>
        </p:blipFill>
        <p:spPr bwMode="auto">
          <a:xfrm>
            <a:off x="7534438" y="1987958"/>
            <a:ext cx="818085" cy="27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lay Logo &amp; Brand Assets (SVG, PNG and vector) - Brandfetch">
            <a:extLst>
              <a:ext uri="{FF2B5EF4-FFF2-40B4-BE49-F238E27FC236}">
                <a16:creationId xmlns:a16="http://schemas.microsoft.com/office/drawing/2014/main" id="{F30F2A11-D534-A8AD-4066-6D7424E9B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846" y="2384389"/>
            <a:ext cx="816129" cy="26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api - Bessemer Venture Partners">
            <a:extLst>
              <a:ext uri="{FF2B5EF4-FFF2-40B4-BE49-F238E27FC236}">
                <a16:creationId xmlns:a16="http://schemas.microsoft.com/office/drawing/2014/main" id="{40DEFD56-B7DE-D581-0D0B-3CBA61FE0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344" y="2736532"/>
            <a:ext cx="616961" cy="35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7F54FCDC-CDC9-EF03-20AE-4A0C65601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774" y="3186587"/>
            <a:ext cx="895655" cy="2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ychat | Growth Equity Investment | Summit Partners">
            <a:extLst>
              <a:ext uri="{FF2B5EF4-FFF2-40B4-BE49-F238E27FC236}">
                <a16:creationId xmlns:a16="http://schemas.microsoft.com/office/drawing/2014/main" id="{6D2D0116-0455-6758-8C2B-2C08527BB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092" y="3409345"/>
            <a:ext cx="986120" cy="59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Is Firecrawl Worth $16/Month in 2026? My Take">
            <a:extLst>
              <a:ext uri="{FF2B5EF4-FFF2-40B4-BE49-F238E27FC236}">
                <a16:creationId xmlns:a16="http://schemas.microsoft.com/office/drawing/2014/main" id="{86BD6E13-A216-A693-14D7-FFFE2DED4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93" b="36393"/>
          <a:stretch>
            <a:fillRect/>
          </a:stretch>
        </p:blipFill>
        <p:spPr bwMode="auto">
          <a:xfrm>
            <a:off x="7387665" y="3959894"/>
            <a:ext cx="1035871" cy="26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Granola Raises $43 Million for Searchable Transcript AI">
            <a:extLst>
              <a:ext uri="{FF2B5EF4-FFF2-40B4-BE49-F238E27FC236}">
                <a16:creationId xmlns:a16="http://schemas.microsoft.com/office/drawing/2014/main" id="{06670910-5E3F-6CE3-0449-D10E57A260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b="7684"/>
          <a:stretch>
            <a:fillRect/>
          </a:stretch>
        </p:blipFill>
        <p:spPr bwMode="auto">
          <a:xfrm>
            <a:off x="7943481" y="4293875"/>
            <a:ext cx="644393" cy="26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odex (OpenAI) Free SVG, PNG, and ve... · LobeHub">
            <a:extLst>
              <a:ext uri="{FF2B5EF4-FFF2-40B4-BE49-F238E27FC236}">
                <a16:creationId xmlns:a16="http://schemas.microsoft.com/office/drawing/2014/main" id="{DAA6CE5D-6667-E66C-1143-2B6E6703E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0" t="12445" r="12387" b="12795"/>
          <a:stretch>
            <a:fillRect/>
          </a:stretch>
        </p:blipFill>
        <p:spPr bwMode="auto">
          <a:xfrm>
            <a:off x="8133948" y="1271367"/>
            <a:ext cx="307539" cy="30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87D3D6-BADC-554B-CDF4-4E6361417739}"/>
              </a:ext>
            </a:extLst>
          </p:cNvPr>
          <p:cNvSpPr txBox="1"/>
          <p:nvPr/>
        </p:nvSpPr>
        <p:spPr>
          <a:xfrm>
            <a:off x="277906" y="4640363"/>
            <a:ext cx="4903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Reddit, YouTube, Gemeni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IN PROGRESS OFFER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Train. Diagnose. Build.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system for moving companies from AI curiosity to AI infrastructure.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53280"/>
            <a:ext cx="2606040" cy="292608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53280"/>
            <a:ext cx="260604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3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56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52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Spark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88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interactive training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299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1on1 or small team training on what AI can do for their business. Shared vocabulary. Clear next step.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69120" y="2842000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13" name="Shape 9"/>
          <p:cNvSpPr/>
          <p:nvPr/>
        </p:nvSpPr>
        <p:spPr>
          <a:xfrm>
            <a:off x="3383280" y="1653280"/>
            <a:ext cx="2606040" cy="292608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83280" y="1653280"/>
            <a:ext cx="260604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611880" y="183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1562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11880" y="252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Ignition Map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611880" y="288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diagnostic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611880" y="3299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map of current workflows, disconnected systems, and the 3 highest-value AI opportunities ranked by ROI.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03758" y="2842000"/>
            <a:ext cx="228600" cy="228600"/>
          </a:xfrm>
          <a:prstGeom prst="rect">
            <a:avLst/>
          </a:prstGeom>
          <a:ln>
            <a:noFill/>
          </a:ln>
        </p:spPr>
      </p:pic>
      <p:sp>
        <p:nvSpPr>
          <p:cNvPr id="21" name="Shape 15"/>
          <p:cNvSpPr/>
          <p:nvPr/>
        </p:nvSpPr>
        <p:spPr>
          <a:xfrm>
            <a:off x="6217920" y="1653280"/>
            <a:ext cx="2606040" cy="292608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217920" y="1653280"/>
            <a:ext cx="260604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446520" y="1836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>
              <a:latin typeface="Georgia" panose="02040502050405020303" pitchFamily="18" charset="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562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46520" y="252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Growth Engine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6446520" y="2887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ROI Automations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446520" y="32992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installed. Agentic workflows live inside existing stack. Connected, measurable, compounding.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AI barriers for companies</a:t>
            </a:r>
            <a:endParaRPr lang="en-US" sz="1900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2AF18C3-DCBE-EE21-68F4-4033A6450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0092"/>
              </p:ext>
            </p:extLst>
          </p:nvPr>
        </p:nvGraphicFramePr>
        <p:xfrm>
          <a:off x="365760" y="1011238"/>
          <a:ext cx="8305274" cy="35082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1675">
                  <a:extLst>
                    <a:ext uri="{9D8B030D-6E8A-4147-A177-3AD203B41FA5}">
                      <a16:colId xmlns:a16="http://schemas.microsoft.com/office/drawing/2014/main" val="1430309137"/>
                    </a:ext>
                  </a:extLst>
                </a:gridCol>
                <a:gridCol w="3194336">
                  <a:extLst>
                    <a:ext uri="{9D8B030D-6E8A-4147-A177-3AD203B41FA5}">
                      <a16:colId xmlns:a16="http://schemas.microsoft.com/office/drawing/2014/main" val="2625950805"/>
                    </a:ext>
                  </a:extLst>
                </a:gridCol>
                <a:gridCol w="3549263">
                  <a:extLst>
                    <a:ext uri="{9D8B030D-6E8A-4147-A177-3AD203B41FA5}">
                      <a16:colId xmlns:a16="http://schemas.microsoft.com/office/drawing/2014/main" val="3870266338"/>
                    </a:ext>
                  </a:extLst>
                </a:gridCol>
              </a:tblGrid>
              <a:tr h="3533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Barrier</a:t>
                      </a:r>
                      <a:endParaRPr lang="en-US" sz="1000" b="1" i="0" u="none" strike="noStrike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Risk</a:t>
                      </a:r>
                      <a:endParaRPr lang="en-US" sz="1000" b="1" i="0" u="none" strike="noStrike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u="none" strike="noStrike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orgia" panose="02040502050405020303" pitchFamily="18" charset="0"/>
                        </a:rPr>
                        <a:t>Enterprise-Grade Mitigation</a:t>
                      </a:r>
                      <a:endParaRPr lang="en-US" sz="1000" b="1" i="0" u="none" strike="noStrike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102149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Data Trust Gap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Siloed data causes AI hallucinations and unreliable insights.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RAG pipelines and enterprise search ground AI in verified internal data.</a:t>
                      </a:r>
                      <a:endParaRPr lang="en-US" sz="105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694214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Security &amp; IP Leakage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Proprietary data may be exposed or used to train public models. Where is data sourced, processed, stored?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Enterprise contracts with Zero Data Retention and no-training guarantees.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344424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Shadow AI</a:t>
                      </a:r>
                      <a:endParaRPr lang="en-US" sz="105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Unvetted accounts create tool sprawl and compliance risks.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SSO, role-based access, and audit logging give IT full control.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342742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Pilot Purgatory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Projects stall as prototypes due to lack of ROI or production paths.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Organization led agentic workflows with human-in-the-loop gates bridge pilot to production.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78448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Talent Shortage</a:t>
                      </a:r>
                      <a:endParaRPr lang="en-US" sz="105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Lack of technical expertise to build and secure complex AI systems.</a:t>
                      </a:r>
                      <a:endParaRPr lang="en-US" sz="1050" b="0" i="0" u="none" strike="noStrike" cap="none" spc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u="none" strike="noStrike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Low-code tools and long-context models let domain experts orchestrate AI.</a:t>
                      </a:r>
                      <a:endParaRPr lang="en-US" sz="1050" b="0" i="0" u="none" strike="noStrike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4230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5FCAB5-D475-B8EE-AF78-9400C9DD47C1}"/>
              </a:ext>
            </a:extLst>
          </p:cNvPr>
          <p:cNvSpPr txBox="1"/>
          <p:nvPr/>
        </p:nvSpPr>
        <p:spPr>
          <a:xfrm>
            <a:off x="277906" y="4578578"/>
            <a:ext cx="49036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Gartner, </a:t>
            </a:r>
            <a:r>
              <a:rPr lang="en-US" sz="800" dirty="0"/>
              <a:t>Top Strategic Technology Trends for 2026: AI Security Platforms and Multiagent Systems</a:t>
            </a:r>
            <a:endParaRPr lang="en-US" sz="8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65760" y="1383631"/>
            <a:ext cx="2697480" cy="210312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3260" y="1374006"/>
            <a:ext cx="2697480" cy="210312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80760" y="1383631"/>
            <a:ext cx="2697480" cy="2103120"/>
          </a:xfrm>
          <a:prstGeom prst="rect">
            <a:avLst/>
          </a:prstGeom>
          <a:solidFill>
            <a:srgbClr val="FAF9F6"/>
          </a:solidFill>
          <a:ln w="6350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COULD BUILD TOGETHER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Houston AI flywheel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programs now. A capital layer when the ecosystem earns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83631"/>
            <a:ext cx="269748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548223"/>
            <a:ext cx="365760" cy="365760"/>
          </a:xfrm>
          <a:prstGeom prst="ellipse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482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66511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AI Diagnostic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29589"/>
            <a:ext cx="2377440" cy="88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one-day working session and branded report. Every Alliance founder leaves with a ranked 90-day AI plan tied to their biggest business bottleneck.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50140"/>
            <a:ext cx="2331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1511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founder benefit. Portfolio-level data asset.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23260" y="1383631"/>
            <a:ext cx="269748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06140" y="1548223"/>
            <a:ext cx="365760" cy="365760"/>
          </a:xfrm>
          <a:prstGeom prst="ellipse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6140" y="15482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63340" y="1566511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Houston AI Builder Program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6140" y="2129589"/>
            <a:ext cx="2377440" cy="88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cohort program that trains AI-first operators, not engineers. Houston's answer to Gauntlet, built around business outcomes.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06140" y="2940515"/>
            <a:ext cx="2331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06140" y="301511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revenue. Talent pipeline for portfolio and partners.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383631"/>
            <a:ext cx="2697480" cy="5486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63640" y="1548223"/>
            <a:ext cx="365760" cy="365760"/>
          </a:xfrm>
          <a:prstGeom prst="ellipse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3640" y="15482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1566511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Ion Corporate AI Partnership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2129589"/>
            <a:ext cx="2377440" cy="88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1-day intensives where corporate innovation teams learn alongside founders. Designed in-house, delivered by rotating faculty.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2940515"/>
            <a:ext cx="233172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301511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corporate revenue. Warm LP pipeline.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76956" y="2362039"/>
            <a:ext cx="128016" cy="146304"/>
          </a:xfrm>
          <a:prstGeom prst="rightArrow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34456" y="2362039"/>
            <a:ext cx="128016" cy="146304"/>
          </a:xfrm>
          <a:prstGeom prst="rightArrow">
            <a:avLst/>
          </a:prstGeom>
          <a:solidFill>
            <a:srgbClr val="04CCBA"/>
          </a:solidFill>
          <a:ln w="12700">
            <a:solidFill>
              <a:srgbClr val="04CC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797166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4CCB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92325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4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06571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Houston AI Innovation Fund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" y="434917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early-stage AI fund. Alliance sponsored. Corporate partners and family offices as LPs. The </a:t>
            </a: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programs as the sourcing engine.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401469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4CCB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Closes the capital loop.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4CCBA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Puts Houston on the AI map.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 flipH="1">
            <a:off x="1714499" y="3477126"/>
            <a:ext cx="8411" cy="2815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513222"/>
            <a:ext cx="0" cy="245444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H="1">
            <a:off x="7429499" y="3522846"/>
            <a:ext cx="1203" cy="23582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m-doc-template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731520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371600"/>
            <a:ext cx="1097280" cy="45720"/>
          </a:xfrm>
          <a:prstGeom prst="rect">
            <a:avLst/>
          </a:prstGeom>
          <a:solidFill>
            <a:srgbClr val="04CCB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332312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Ali Mamujee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688881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alimamujee.com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Newsletter (weekly)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/in/</a:t>
            </a:r>
            <a:r>
              <a:rPr lang="en-US" sz="1100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alimamujee</a:t>
            </a:r>
            <a:endParaRPr lang="en-US" sz="11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cs typeface="Calibri" pitchFamily="34" charset="-120"/>
                <a:hlinkClick r:id="rId4"/>
              </a:rPr>
              <a:t>ali@alimamujee.com</a:t>
            </a:r>
            <a:endParaRPr lang="en-US" sz="1100" dirty="0">
              <a:solidFill>
                <a:srgbClr val="888888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996</Words>
  <Application>Microsoft Macintosh PowerPoint</Application>
  <PresentationFormat>On-screen Show (16:9)</PresentationFormat>
  <Paragraphs>183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the Innovation Ecosystem</dc:title>
  <dc:subject>PptxGenJS Presentation</dc:subject>
  <dc:creator>Ali Mamujee</dc:creator>
  <cp:lastModifiedBy>Ali Mamujee</cp:lastModifiedBy>
  <cp:revision>6</cp:revision>
  <cp:lastPrinted>2026-04-06T13:53:21Z</cp:lastPrinted>
  <dcterms:created xsi:type="dcterms:W3CDTF">2026-04-05T19:32:26Z</dcterms:created>
  <dcterms:modified xsi:type="dcterms:W3CDTF">2026-04-15T00:50:07Z</dcterms:modified>
</cp:coreProperties>
</file>